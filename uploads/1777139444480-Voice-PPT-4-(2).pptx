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19725D9-4132-49DB-A949-2229C9ABE7F4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9E5C8B9-E322-4AAF-97C8-A6D39FCB659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Voice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ACTIVE AND PASSIVE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DEFINITION:</a:t>
            </a:r>
            <a:br>
              <a:rPr lang="en-US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ACTIVE VOICE:</a:t>
            </a:r>
          </a:p>
          <a:p>
            <a:pPr>
              <a:buNone/>
            </a:pPr>
            <a:r>
              <a:rPr lang="en-US" dirty="0" smtClean="0"/>
              <a:t>                         The form of the verb which shows the importance of its subject as the active doer of the action is called the active voice.</a:t>
            </a:r>
          </a:p>
          <a:p>
            <a:r>
              <a:rPr lang="en-US" dirty="0" smtClean="0"/>
              <a:t>PASSIVE VOICE:</a:t>
            </a:r>
          </a:p>
          <a:p>
            <a:pPr>
              <a:buNone/>
            </a:pPr>
            <a:r>
              <a:rPr lang="en-US" dirty="0" smtClean="0"/>
              <a:t>                        The form of the verb which shows the importance of its action rather the  subject is called the Passive voice. </a:t>
            </a:r>
          </a:p>
          <a:p>
            <a:pPr>
              <a:buNone/>
            </a:pPr>
            <a:r>
              <a:rPr lang="en-US" dirty="0" smtClean="0"/>
              <a:t>                        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PRESENT: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922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ACTIVE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PASSIVE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r>
                        <a:rPr lang="en-US" baseline="0" dirty="0" smtClean="0"/>
                        <a:t> I read a poem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poem is read by me.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2. He scolds me.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 am scolded by him.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3. Does he carry a bag?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 a bag carried by him?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4.</a:t>
                      </a:r>
                      <a:r>
                        <a:rPr lang="en-US" baseline="0" dirty="0" smtClean="0"/>
                        <a:t> You do not like her.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She is not liked by you.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PRESENT CONTINUOUS: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9237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59864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ACTIVE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PASSIVE</a:t>
                      </a:r>
                      <a:endParaRPr lang="en-US" sz="2400" dirty="0"/>
                    </a:p>
                  </a:txBody>
                  <a:tcPr/>
                </a:tc>
              </a:tr>
              <a:tr h="781651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r>
                        <a:rPr lang="en-US" sz="2400" dirty="0" smtClean="0"/>
                        <a:t>1. She</a:t>
                      </a:r>
                      <a:r>
                        <a:rPr lang="en-US" sz="2400" baseline="0" dirty="0" smtClean="0"/>
                        <a:t> is stitching a shirt.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A shirt is being stitched</a:t>
                      </a:r>
                      <a:r>
                        <a:rPr lang="en-US" sz="2400" baseline="0" dirty="0" smtClean="0"/>
                        <a:t> by her.</a:t>
                      </a:r>
                      <a:endParaRPr lang="en-US" sz="2400" dirty="0"/>
                    </a:p>
                  </a:txBody>
                  <a:tcPr/>
                </a:tc>
              </a:tr>
              <a:tr h="78165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2. Are you drawing</a:t>
                      </a:r>
                      <a:r>
                        <a:rPr lang="en-US" sz="2400" baseline="0" dirty="0" smtClean="0"/>
                        <a:t> a picture?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Is a picture being drawn by you?</a:t>
                      </a:r>
                      <a:endParaRPr lang="en-US" sz="2400" dirty="0"/>
                    </a:p>
                  </a:txBody>
                  <a:tcPr/>
                </a:tc>
              </a:tr>
              <a:tr h="103328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3. What are you doing?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What is</a:t>
                      </a:r>
                      <a:r>
                        <a:rPr lang="en-US" sz="2400" baseline="0" dirty="0" smtClean="0"/>
                        <a:t> being done by you?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</a:tr>
              <a:tr h="78165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4. We are not listening to you.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You are not being listened to by us.</a:t>
                      </a:r>
                      <a:endParaRPr lang="en-US" sz="2400" dirty="0"/>
                    </a:p>
                  </a:txBody>
                  <a:tcPr/>
                </a:tc>
              </a:tr>
              <a:tr h="78165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5.</a:t>
                      </a:r>
                      <a:r>
                        <a:rPr lang="en-US" sz="2400" baseline="0" dirty="0" smtClean="0"/>
                        <a:t> He is beating his dog.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His dog is being beaten by him.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PRESENT PERFECT: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305800" cy="4627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14800"/>
                <a:gridCol w="4191000"/>
              </a:tblGrid>
              <a:tr h="85973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ACTIVE VOICE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PASSIVE VOICE</a:t>
                      </a:r>
                      <a:endParaRPr lang="en-US" sz="3600" dirty="0"/>
                    </a:p>
                  </a:txBody>
                  <a:tcPr/>
                </a:tc>
              </a:tr>
              <a:tr h="85973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1. The farmer has tilled</a:t>
                      </a:r>
                      <a:r>
                        <a:rPr lang="en-US" sz="2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the field.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The field has been tilled by the</a:t>
                      </a:r>
                      <a:r>
                        <a:rPr lang="en-US" sz="2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farmer..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85973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2. I have not</a:t>
                      </a:r>
                      <a:r>
                        <a:rPr lang="en-US" sz="2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bought a new bike.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A new bike</a:t>
                      </a:r>
                      <a:r>
                        <a:rPr lang="en-US" sz="2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has not been bought by you.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1124447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3. Have you read this story?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Has this story been read by you?</a:t>
                      </a:r>
                    </a:p>
                    <a:p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85973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4. What have you done?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What has been done by you?</a:t>
                      </a:r>
                      <a:endParaRPr 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PAST: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9228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14800"/>
                <a:gridCol w="4114800"/>
              </a:tblGrid>
              <a:tr h="98456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ACTIVE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PASSIVE</a:t>
                      </a:r>
                      <a:endParaRPr lang="en-US" sz="3200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1. She wrote a letter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letter was written by her.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2. Did you waste money?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Was money wasted by you?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3.</a:t>
                      </a:r>
                      <a:r>
                        <a:rPr lang="en-US" baseline="0" dirty="0" smtClean="0"/>
                        <a:t> Who taught you Hindi?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 whom were</a:t>
                      </a:r>
                      <a:r>
                        <a:rPr lang="en-US" baseline="0" dirty="0" smtClean="0"/>
                        <a:t> you  taught Hindi?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4. </a:t>
                      </a:r>
                      <a:r>
                        <a:rPr lang="en-US" smtClean="0"/>
                        <a:t>How </a:t>
                      </a:r>
                      <a:r>
                        <a:rPr lang="en-US" dirty="0" smtClean="0"/>
                        <a:t>did you pluck flowers?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How were flowers</a:t>
                      </a:r>
                      <a:r>
                        <a:rPr lang="en-US" baseline="0" dirty="0" smtClean="0"/>
                        <a:t> plucked by  you?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PAST CONTINOUS: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644117"/>
              </p:ext>
            </p:extLst>
          </p:nvPr>
        </p:nvGraphicFramePr>
        <p:xfrm>
          <a:off x="457200" y="1935164"/>
          <a:ext cx="8229600" cy="4922835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4114800"/>
                <a:gridCol w="4114800"/>
              </a:tblGrid>
              <a:tr h="10377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ACTIVE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PASSIVE</a:t>
                      </a:r>
                      <a:endParaRPr lang="en-US" sz="2000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1. He was winding </a:t>
                      </a:r>
                      <a:r>
                        <a:rPr lang="en-US" smtClean="0"/>
                        <a:t>his </a:t>
                      </a:r>
                      <a:r>
                        <a:rPr lang="en-US" smtClean="0"/>
                        <a:t>watch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His watch</a:t>
                      </a:r>
                      <a:r>
                        <a:rPr lang="en-US" baseline="0" dirty="0" smtClean="0"/>
                        <a:t> was being wound by him.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2. Were they playing chess?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Was chess being played by them?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3. Was</a:t>
                      </a:r>
                      <a:r>
                        <a:rPr lang="en-US" baseline="0" dirty="0" smtClean="0"/>
                        <a:t> he not reading the book?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Was a book not being read by him?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4. Whom were</a:t>
                      </a:r>
                      <a:r>
                        <a:rPr lang="en-US" baseline="0" dirty="0" smtClean="0"/>
                        <a:t> you calling out?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Who was being called out</a:t>
                      </a:r>
                      <a:r>
                        <a:rPr lang="en-US" baseline="0" dirty="0" smtClean="0"/>
                        <a:t> by  you?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PAST PERFECT: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9228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4800"/>
                <a:gridCol w="4114800"/>
              </a:tblGrid>
              <a:tr h="101851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ACTIVE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PASSIVE</a:t>
                      </a:r>
                      <a:endParaRPr lang="en-US" sz="2400" dirty="0"/>
                    </a:p>
                  </a:txBody>
                  <a:tcPr/>
                </a:tc>
              </a:tr>
              <a:tr h="826131">
                <a:tc>
                  <a:txBody>
                    <a:bodyPr/>
                    <a:lstStyle/>
                    <a:p>
                      <a:r>
                        <a:rPr lang="en-US" dirty="0" smtClean="0"/>
                        <a:t>1. 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had sold  my car.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My car had been sold by</a:t>
                      </a:r>
                      <a:r>
                        <a:rPr lang="en-US" baseline="0" dirty="0" smtClean="0"/>
                        <a:t> me.</a:t>
                      </a:r>
                      <a:endParaRPr lang="en-US" dirty="0"/>
                    </a:p>
                  </a:txBody>
                  <a:tcPr/>
                </a:tc>
              </a:tr>
              <a:tr h="826131">
                <a:tc>
                  <a:txBody>
                    <a:bodyPr/>
                    <a:lstStyle/>
                    <a:p>
                      <a:r>
                        <a:rPr lang="en-US" dirty="0" smtClean="0"/>
                        <a:t>2. He had not fed the poor.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poor</a:t>
                      </a:r>
                      <a:r>
                        <a:rPr lang="en-US" baseline="0" dirty="0" smtClean="0"/>
                        <a:t> had not been fed by you.</a:t>
                      </a:r>
                      <a:endParaRPr lang="en-US" dirty="0"/>
                    </a:p>
                  </a:txBody>
                  <a:tcPr/>
                </a:tc>
              </a:tr>
              <a:tr h="1425925">
                <a:tc>
                  <a:txBody>
                    <a:bodyPr/>
                    <a:lstStyle/>
                    <a:p>
                      <a:r>
                        <a:rPr lang="en-US" dirty="0" smtClean="0"/>
                        <a:t>3. What had they done to help you?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What had been done</a:t>
                      </a:r>
                      <a:r>
                        <a:rPr lang="en-US" baseline="0" dirty="0" smtClean="0"/>
                        <a:t> by them to help you?</a:t>
                      </a:r>
                      <a:endParaRPr lang="en-US" dirty="0"/>
                    </a:p>
                  </a:txBody>
                  <a:tcPr/>
                </a:tc>
              </a:tr>
              <a:tr h="826131">
                <a:tc>
                  <a:txBody>
                    <a:bodyPr/>
                    <a:lstStyle/>
                    <a:p>
                      <a:r>
                        <a:rPr lang="en-US" dirty="0" smtClean="0"/>
                        <a:t>4. Who had sung a sweet song?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 whom had a sweet song </a:t>
                      </a:r>
                      <a:r>
                        <a:rPr lang="en-US" baseline="0" dirty="0" smtClean="0"/>
                        <a:t> been sung?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FUTURE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4"/>
          <a:ext cx="8229600" cy="4922835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4114800"/>
                <a:gridCol w="4114800"/>
              </a:tblGrid>
              <a:tr h="10377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ACTIVE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PASSIVE</a:t>
                      </a:r>
                      <a:endParaRPr lang="en-US" sz="2000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1. He will do it.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will be done by him.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2. You will not recite this poem.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poem will</a:t>
                      </a:r>
                      <a:r>
                        <a:rPr lang="en-US" baseline="0" dirty="0" smtClean="0"/>
                        <a:t> not be recited  by you.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3. Will she draw a picture?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Will a picture be drawn by her?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4. Who</a:t>
                      </a:r>
                      <a:r>
                        <a:rPr lang="en-US" baseline="0" dirty="0" smtClean="0"/>
                        <a:t> will pay your fees?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 whom</a:t>
                      </a:r>
                      <a:r>
                        <a:rPr lang="en-US" baseline="0" dirty="0" smtClean="0"/>
                        <a:t> will your fees be paid?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PERFECT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4"/>
          <a:ext cx="8229600" cy="4922835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4114800"/>
                <a:gridCol w="4114800"/>
              </a:tblGrid>
              <a:tr h="762987">
                <a:tc>
                  <a:txBody>
                    <a:bodyPr/>
                    <a:lstStyle/>
                    <a:p>
                      <a:r>
                        <a:rPr lang="en-US" dirty="0" smtClean="0"/>
                        <a:t>ACTIVE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PASSIVE</a:t>
                      </a:r>
                      <a:endParaRPr lang="en-US" dirty="0"/>
                    </a:p>
                  </a:txBody>
                  <a:tcPr/>
                </a:tc>
              </a:tr>
              <a:tr h="762987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r>
                        <a:rPr lang="en-US" baseline="0" dirty="0" smtClean="0"/>
                        <a:t> She will have opened a school.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school will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have been opened by her.</a:t>
                      </a:r>
                      <a:endParaRPr lang="en-US" dirty="0"/>
                    </a:p>
                  </a:txBody>
                  <a:tcPr/>
                </a:tc>
              </a:tr>
              <a:tr h="762987">
                <a:tc>
                  <a:txBody>
                    <a:bodyPr/>
                    <a:lstStyle/>
                    <a:p>
                      <a:r>
                        <a:rPr lang="en-US" dirty="0" smtClean="0"/>
                        <a:t>2. Who will have done this job?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</a:t>
                      </a:r>
                      <a:r>
                        <a:rPr lang="en-US" baseline="0" dirty="0" smtClean="0"/>
                        <a:t> whom will this job have been done?</a:t>
                      </a:r>
                      <a:endParaRPr lang="en-US" dirty="0"/>
                    </a:p>
                  </a:txBody>
                  <a:tcPr/>
                </a:tc>
              </a:tr>
              <a:tr h="1316937">
                <a:tc>
                  <a:txBody>
                    <a:bodyPr/>
                    <a:lstStyle/>
                    <a:p>
                      <a:r>
                        <a:rPr lang="en-US" dirty="0" smtClean="0"/>
                        <a:t>3. They will have bought a good radio set.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good radio set will have been bought by them.</a:t>
                      </a:r>
                      <a:endParaRPr lang="en-US" dirty="0"/>
                    </a:p>
                  </a:txBody>
                  <a:tcPr/>
                </a:tc>
              </a:tr>
              <a:tr h="1316937">
                <a:tc>
                  <a:txBody>
                    <a:bodyPr/>
                    <a:lstStyle/>
                    <a:p>
                      <a:r>
                        <a:rPr lang="en-US" dirty="0" smtClean="0"/>
                        <a:t>4. I shall have painted a picture.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picture shall have been painted by me.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IMPERATIVE SENTENCES: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935162"/>
          <a:ext cx="8229600" cy="4770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4038600"/>
              </a:tblGrid>
              <a:tr h="10631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ACTIVE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PASSIVE</a:t>
                      </a:r>
                      <a:endParaRPr lang="en-US" sz="2000" dirty="0"/>
                    </a:p>
                  </a:txBody>
                  <a:tcPr/>
                </a:tc>
              </a:tr>
              <a:tr h="994977">
                <a:tc>
                  <a:txBody>
                    <a:bodyPr/>
                    <a:lstStyle/>
                    <a:p>
                      <a:r>
                        <a:rPr lang="en-US" dirty="0" smtClean="0"/>
                        <a:t>1. Do it at once.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Let it be done at once.</a:t>
                      </a:r>
                      <a:endParaRPr lang="en-US" dirty="0"/>
                    </a:p>
                  </a:txBody>
                  <a:tcPr/>
                </a:tc>
              </a:tr>
              <a:tr h="994977">
                <a:tc>
                  <a:txBody>
                    <a:bodyPr/>
                    <a:lstStyle/>
                    <a:p>
                      <a:r>
                        <a:rPr lang="en-US" dirty="0" smtClean="0"/>
                        <a:t>2. Never tell a lie.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Never let a lie be told.</a:t>
                      </a:r>
                      <a:endParaRPr lang="en-US" dirty="0"/>
                    </a:p>
                  </a:txBody>
                  <a:tcPr/>
                </a:tc>
              </a:tr>
              <a:tr h="1717357">
                <a:tc>
                  <a:txBody>
                    <a:bodyPr/>
                    <a:lstStyle/>
                    <a:p>
                      <a:r>
                        <a:rPr lang="en-US" dirty="0" smtClean="0"/>
                        <a:t>3. Please lend me book.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You are requested to lend</a:t>
                      </a:r>
                      <a:r>
                        <a:rPr lang="en-US" baseline="0" dirty="0" smtClean="0"/>
                        <a:t> me your book.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SENTENCES WITH CAN, MAY, MUST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828800"/>
          <a:ext cx="8229600" cy="5029201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4114800"/>
                <a:gridCol w="4114800"/>
              </a:tblGrid>
              <a:tr h="12739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ACTIVE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PASSIVE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8806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1. You may take this book.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This book may be taken by you.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8806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2. Can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you lift this load?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Can this load be lifted by you?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8806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3. You must help her.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She must be helped by you.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38806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4. They could have informed me.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 could have been informed by them.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USE OF PREPOSITIONS OTHER THAN “BY”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4"/>
          <a:ext cx="8229600" cy="4922835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4114800"/>
                <a:gridCol w="4114800"/>
              </a:tblGrid>
              <a:tr h="9845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ACTIVE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PASSIVE</a:t>
                      </a:r>
                      <a:endParaRPr lang="en-US" sz="2000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r>
                        <a:rPr lang="en-US" baseline="0" dirty="0" smtClean="0"/>
                        <a:t> This jug  contains milk.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Milk is contained in the jug.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2. His words displeased me.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 was displeased</a:t>
                      </a:r>
                      <a:r>
                        <a:rPr lang="en-US" baseline="0" dirty="0" smtClean="0"/>
                        <a:t> at his words.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3. Grass grows over the fields.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</a:t>
                      </a:r>
                      <a:r>
                        <a:rPr lang="en-US" baseline="0" dirty="0" smtClean="0"/>
                        <a:t> f</a:t>
                      </a:r>
                      <a:r>
                        <a:rPr lang="en-US" dirty="0" smtClean="0"/>
                        <a:t>ields</a:t>
                      </a:r>
                      <a:r>
                        <a:rPr lang="en-US" baseline="0" dirty="0" smtClean="0"/>
                        <a:t> are grown with grass.</a:t>
                      </a:r>
                      <a:endParaRPr lang="en-US" dirty="0"/>
                    </a:p>
                  </a:txBody>
                  <a:tcPr/>
                </a:tc>
              </a:tr>
              <a:tr h="984567">
                <a:tc>
                  <a:txBody>
                    <a:bodyPr/>
                    <a:lstStyle/>
                    <a:p>
                      <a:r>
                        <a:rPr lang="en-US" dirty="0" smtClean="0"/>
                        <a:t>4. This news alarmed us all.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 were alarmed at this news.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MISCELLANEOUS SENTENCES: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4"/>
          <a:ext cx="8229600" cy="4922835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4114800"/>
                <a:gridCol w="4114800"/>
              </a:tblGrid>
              <a:tr h="10377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ACTIVE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PASSIVE</a:t>
                      </a:r>
                      <a:endParaRPr lang="en-US" sz="2000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1. People</a:t>
                      </a:r>
                      <a:r>
                        <a:rPr lang="en-US" baseline="0" dirty="0" smtClean="0"/>
                        <a:t> tell lies everywhere.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Lies are</a:t>
                      </a:r>
                      <a:r>
                        <a:rPr lang="en-US" baseline="0" dirty="0" smtClean="0"/>
                        <a:t> told everywhere.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2. Someone has picked my pocket.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My pocket has been picked.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3. I made him to do it.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 was made to</a:t>
                      </a:r>
                      <a:r>
                        <a:rPr lang="en-US" baseline="0" dirty="0" smtClean="0"/>
                        <a:t> do it.</a:t>
                      </a:r>
                      <a:endParaRPr lang="en-US" dirty="0"/>
                    </a:p>
                  </a:txBody>
                  <a:tcPr/>
                </a:tc>
              </a:tr>
              <a:tr h="971262">
                <a:tc>
                  <a:txBody>
                    <a:bodyPr/>
                    <a:lstStyle/>
                    <a:p>
                      <a:r>
                        <a:rPr lang="en-US" dirty="0" smtClean="0"/>
                        <a:t>5. Sugar</a:t>
                      </a:r>
                      <a:r>
                        <a:rPr lang="en-US" baseline="0" dirty="0" smtClean="0"/>
                        <a:t>  tastes sweet.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Sugar is sweet when it is tasted.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83058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Brush Script MT" pitchFamily="66" charset="0"/>
              </a:rPr>
              <a:t>Thank You</a:t>
            </a:r>
            <a:endParaRPr lang="en-IN" sz="3200" dirty="0">
              <a:latin typeface="Brush Script MT" pitchFamily="66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174</TotalTime>
  <Words>886</Words>
  <Application>Microsoft Office PowerPoint</Application>
  <PresentationFormat>On-screen Show (4:3)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Brush Script MT</vt:lpstr>
      <vt:lpstr>Calibri</vt:lpstr>
      <vt:lpstr>Constantia</vt:lpstr>
      <vt:lpstr>Wingdings 2</vt:lpstr>
      <vt:lpstr>Flow</vt:lpstr>
      <vt:lpstr>Voice </vt:lpstr>
      <vt:lpstr>DEFINITION: </vt:lpstr>
      <vt:lpstr>SIMPLE PRESENT:</vt:lpstr>
      <vt:lpstr>PRESENT CONTINUOUS:</vt:lpstr>
      <vt:lpstr>PRESENT PERFECT:</vt:lpstr>
      <vt:lpstr>SIMPLE PAST:</vt:lpstr>
      <vt:lpstr>PAST CONTINOUS:</vt:lpstr>
      <vt:lpstr>PAST PERFECT:</vt:lpstr>
      <vt:lpstr>SIMPLE FUTURE</vt:lpstr>
      <vt:lpstr>FUTURE PERFECT</vt:lpstr>
      <vt:lpstr>IMPERATIVE SENTENCES:</vt:lpstr>
      <vt:lpstr>SENTENCES WITH CAN, MAY, MUST</vt:lpstr>
      <vt:lpstr>USE OF PREPOSITIONS OTHER THAN “BY”</vt:lpstr>
      <vt:lpstr>MISCELLANEOUS SENTENCES:</vt:lpstr>
      <vt:lpstr>Thank You</vt:lpstr>
    </vt:vector>
  </TitlesOfParts>
  <Company>mnmnmn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</dc:title>
  <dc:creator>hh</dc:creator>
  <cp:lastModifiedBy>Prajeesh</cp:lastModifiedBy>
  <cp:revision>52</cp:revision>
  <dcterms:created xsi:type="dcterms:W3CDTF">2012-07-25T20:09:06Z</dcterms:created>
  <dcterms:modified xsi:type="dcterms:W3CDTF">2026-02-16T10:55:01Z</dcterms:modified>
</cp:coreProperties>
</file>