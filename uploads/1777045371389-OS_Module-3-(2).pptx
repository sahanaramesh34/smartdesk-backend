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77"/>
  </p:notesMasterIdLst>
  <p:sldIdLst>
    <p:sldId id="256" r:id="rId2"/>
    <p:sldId id="364" r:id="rId3"/>
    <p:sldId id="365" r:id="rId4"/>
    <p:sldId id="366" r:id="rId5"/>
    <p:sldId id="367" r:id="rId6"/>
    <p:sldId id="368" r:id="rId7"/>
    <p:sldId id="369" r:id="rId8"/>
    <p:sldId id="370" r:id="rId9"/>
    <p:sldId id="371" r:id="rId10"/>
    <p:sldId id="372" r:id="rId11"/>
    <p:sldId id="373" r:id="rId12"/>
    <p:sldId id="374" r:id="rId13"/>
    <p:sldId id="375" r:id="rId14"/>
    <p:sldId id="376" r:id="rId15"/>
    <p:sldId id="377" r:id="rId16"/>
    <p:sldId id="378" r:id="rId17"/>
    <p:sldId id="379" r:id="rId18"/>
    <p:sldId id="380" r:id="rId19"/>
    <p:sldId id="381" r:id="rId20"/>
    <p:sldId id="382" r:id="rId21"/>
    <p:sldId id="383" r:id="rId22"/>
    <p:sldId id="384" r:id="rId23"/>
    <p:sldId id="385" r:id="rId24"/>
    <p:sldId id="386" r:id="rId25"/>
    <p:sldId id="387" r:id="rId26"/>
    <p:sldId id="388" r:id="rId27"/>
    <p:sldId id="389" r:id="rId28"/>
    <p:sldId id="390" r:id="rId29"/>
    <p:sldId id="391" r:id="rId30"/>
    <p:sldId id="392" r:id="rId31"/>
    <p:sldId id="393" r:id="rId32"/>
    <p:sldId id="394" r:id="rId33"/>
    <p:sldId id="395" r:id="rId34"/>
    <p:sldId id="396" r:id="rId35"/>
    <p:sldId id="397" r:id="rId36"/>
    <p:sldId id="398" r:id="rId37"/>
    <p:sldId id="399" r:id="rId38"/>
    <p:sldId id="400" r:id="rId39"/>
    <p:sldId id="401" r:id="rId40"/>
    <p:sldId id="402" r:id="rId41"/>
    <p:sldId id="403" r:id="rId42"/>
    <p:sldId id="404" r:id="rId43"/>
    <p:sldId id="405" r:id="rId44"/>
    <p:sldId id="406" r:id="rId45"/>
    <p:sldId id="407" r:id="rId46"/>
    <p:sldId id="408" r:id="rId47"/>
    <p:sldId id="409" r:id="rId48"/>
    <p:sldId id="410" r:id="rId49"/>
    <p:sldId id="411" r:id="rId50"/>
    <p:sldId id="412" r:id="rId51"/>
    <p:sldId id="413" r:id="rId52"/>
    <p:sldId id="414" r:id="rId53"/>
    <p:sldId id="415" r:id="rId54"/>
    <p:sldId id="416" r:id="rId55"/>
    <p:sldId id="417" r:id="rId56"/>
    <p:sldId id="418" r:id="rId57"/>
    <p:sldId id="419" r:id="rId58"/>
    <p:sldId id="420" r:id="rId59"/>
    <p:sldId id="421" r:id="rId60"/>
    <p:sldId id="422" r:id="rId61"/>
    <p:sldId id="423" r:id="rId62"/>
    <p:sldId id="424" r:id="rId63"/>
    <p:sldId id="425" r:id="rId64"/>
    <p:sldId id="426" r:id="rId65"/>
    <p:sldId id="427" r:id="rId66"/>
    <p:sldId id="428" r:id="rId67"/>
    <p:sldId id="429" r:id="rId68"/>
    <p:sldId id="430" r:id="rId69"/>
    <p:sldId id="431" r:id="rId70"/>
    <p:sldId id="432" r:id="rId71"/>
    <p:sldId id="433" r:id="rId72"/>
    <p:sldId id="434" r:id="rId73"/>
    <p:sldId id="435" r:id="rId74"/>
    <p:sldId id="436" r:id="rId75"/>
    <p:sldId id="437"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341F7C-768C-42B5-886A-1BE067E4F071}" type="datetimeFigureOut">
              <a:rPr lang="en-US" smtClean="0"/>
              <a:pPr/>
              <a:t>12/10/2025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50A2BC-E84B-436D-A904-AA5CBF86B24A}" type="slidenum">
              <a:rPr lang="en-US" smtClean="0"/>
              <a:pPr/>
              <a:t>‹#›</a:t>
            </a:fld>
            <a:endParaRPr lang="en-US"/>
          </a:p>
        </p:txBody>
      </p:sp>
    </p:spTree>
    <p:extLst>
      <p:ext uri="{BB962C8B-B14F-4D97-AF65-F5344CB8AC3E}">
        <p14:creationId xmlns:p14="http://schemas.microsoft.com/office/powerpoint/2010/main" val="140047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3957A5F7-09EE-4DC9-8117-D8350673A942}" type="slidenum">
              <a:rPr lang="en-US" smtClean="0"/>
              <a:pPr/>
              <a:t>2</a:t>
            </a:fld>
            <a:endParaRPr lang="en-US"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560879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368949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273456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593995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785335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84071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323338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68654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86170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151599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966934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777644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9B25FEA1-5259-454D-999F-A8B5D3E24066}" type="slidenum">
              <a:rPr lang="en-US" smtClean="0"/>
              <a:pPr/>
              <a:t>17</a:t>
            </a:fld>
            <a:endParaRPr lang="en-US"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27420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C56A3B91-2B9E-4C81-80CE-C10FFFEDF619}" type="slidenum">
              <a:rPr lang="en-US" smtClean="0"/>
              <a:pPr/>
              <a:t>18</a:t>
            </a:fld>
            <a:endParaRPr lang="en-US"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276421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29FED4B-DB5E-41EC-882E-FB16FCF32A04}" type="slidenum">
              <a:rPr lang="en-US" smtClean="0"/>
              <a:pPr/>
              <a:t>19</a:t>
            </a:fld>
            <a:endParaRPr lang="en-US"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225599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E8D2A072-5840-4016-ABED-1588CD6E5A18}" type="slidenum">
              <a:rPr lang="en-US" smtClean="0"/>
              <a:pPr/>
              <a:t>23</a:t>
            </a:fld>
            <a:endParaRPr lang="en-US"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866903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D55AEA09-7C82-4D3A-BE62-5B0755D902A7}" type="slidenum">
              <a:rPr lang="en-US" smtClean="0"/>
              <a:pPr/>
              <a:t>30</a:t>
            </a:fld>
            <a:endParaRPr lang="en-US"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553220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706276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B25BC3F1-6FD0-42A5-A0CB-4EF7AD750F4B}" type="slidenum">
              <a:rPr lang="en-US" smtClean="0"/>
              <a:pPr/>
              <a:t>33</a:t>
            </a:fld>
            <a:endParaRPr lang="en-US"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1475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C0FB876F-D32D-46B9-B9E6-891859242A49}" type="slidenum">
              <a:rPr lang="en-US" smtClean="0"/>
              <a:pPr/>
              <a:t>34</a:t>
            </a:fld>
            <a:endParaRPr lang="en-US"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37301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70143C97-D654-4C09-A315-0DD18BD969A5}" type="slidenum">
              <a:rPr lang="en-US" smtClean="0"/>
              <a:pPr/>
              <a:t>35</a:t>
            </a:fld>
            <a:endParaRPr lang="en-US" smtClean="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132953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053C155B-350C-436C-AE11-8C6B0B273FE6}" type="slidenum">
              <a:rPr lang="en-US" smtClean="0"/>
              <a:pPr/>
              <a:t>36</a:t>
            </a:fld>
            <a:endParaRPr lang="en-US" smtClean="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4916315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161654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CF68E14C-E42D-456E-9088-DC4965247753}" type="slidenum">
              <a:rPr lang="en-US" smtClean="0"/>
              <a:pPr/>
              <a:t>38</a:t>
            </a:fld>
            <a:endParaRPr lang="en-US"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7583915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737C2E57-A100-4C5B-A83C-4AD38A68EC77}" type="slidenum">
              <a:rPr lang="en-US" smtClean="0"/>
              <a:pPr/>
              <a:t>40</a:t>
            </a:fld>
            <a:endParaRPr lang="en-US" smtClean="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8165045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B55AE3E6-94AA-477A-AC9F-1D392FE9452A}" type="slidenum">
              <a:rPr lang="en-US" smtClean="0"/>
              <a:pPr/>
              <a:t>41</a:t>
            </a:fld>
            <a:endParaRPr lang="en-US"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1644042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51E92469-FDD3-4828-8001-40F733C0F9F3}" type="slidenum">
              <a:rPr lang="en-US" smtClean="0"/>
              <a:pPr/>
              <a:t>42</a:t>
            </a:fld>
            <a:endParaRPr lang="en-US" smtClean="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5163245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CC0FB30A-2981-4DAD-9787-44FEBFCC555A}" type="slidenum">
              <a:rPr lang="en-US" smtClean="0"/>
              <a:pPr/>
              <a:t>43</a:t>
            </a:fld>
            <a:endParaRPr lang="en-US" smtClean="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8537145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CA85A140-E87E-4241-B8EC-EBBEF9E67FFF}" type="slidenum">
              <a:rPr lang="en-US" smtClean="0"/>
              <a:pPr/>
              <a:t>44</a:t>
            </a:fld>
            <a:endParaRPr lang="en-US"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35279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F023F846-7F1D-43A7-93EF-C45DA3FD64A3}" type="slidenum">
              <a:rPr lang="en-US" smtClean="0"/>
              <a:pPr/>
              <a:t>45</a:t>
            </a:fld>
            <a:endParaRPr lang="en-US"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60628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6481A4EB-ED9E-4505-A861-C1518D8EECE2}" type="slidenum">
              <a:rPr lang="en-US" smtClean="0"/>
              <a:pPr/>
              <a:t>46</a:t>
            </a:fld>
            <a:endParaRPr lang="en-US"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572454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79AA05F7-112B-45B1-94FC-8C07D990191A}" type="slidenum">
              <a:rPr lang="en-US" smtClean="0"/>
              <a:pPr/>
              <a:t>47</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071915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6312C57-7DF1-4465-9AF4-B9D857588098}" type="slidenum">
              <a:rPr lang="en-US" smtClean="0"/>
              <a:pPr/>
              <a:t>48</a:t>
            </a:fld>
            <a:endParaRPr lang="en-US"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6411496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Text Box 1"/>
          <p:cNvSpPr txBox="1">
            <a:spLocks noChangeArrowheads="1"/>
          </p:cNvSpPr>
          <p:nvPr/>
        </p:nvSpPr>
        <p:spPr bwMode="auto">
          <a:xfrm>
            <a:off x="3278293" y="538402"/>
            <a:ext cx="4036907" cy="2703671"/>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6661" tIns="48331" rIns="96661" bIns="48331" anchor="ctr"/>
          <a:lstStyle/>
          <a:p>
            <a:pPr fontAlgn="auto">
              <a:spcBef>
                <a:spcPts val="0"/>
              </a:spcBef>
              <a:spcAft>
                <a:spcPts val="0"/>
              </a:spcAft>
              <a:defRPr/>
            </a:pPr>
            <a:endParaRPr lang="en-US">
              <a:latin typeface="+mn-lt"/>
              <a:ea typeface="+mn-ea"/>
            </a:endParaRPr>
          </a:p>
        </p:txBody>
      </p:sp>
      <p:sp>
        <p:nvSpPr>
          <p:cNvPr id="28674" name="Text Box 2"/>
          <p:cNvSpPr>
            <a:spLocks noGrp="1" noChangeArrowheads="1"/>
          </p:cNvSpPr>
          <p:nvPr>
            <p:ph type="body"/>
          </p:nvPr>
        </p:nvSpPr>
        <p:spPr bwMode="auto">
          <a:xfrm>
            <a:off x="1415627" y="3422096"/>
            <a:ext cx="7760547" cy="324207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numCol="1" anchor="ctr" anchorCtr="0" compatLnSpc="1">
            <a:prstTxWarp prst="textNoShape">
              <a:avLst/>
            </a:prstTxWarp>
          </a:bodyPr>
          <a:lstStyle/>
          <a:p>
            <a:pPr eaLnBrk="1" fontAlgn="auto" hangingPunct="1">
              <a:spcBef>
                <a:spcPts val="0"/>
              </a:spcBef>
              <a:spcAft>
                <a:spcPts val="0"/>
              </a:spcAft>
              <a:defRPr/>
            </a:pPr>
            <a:endParaRPr lang="en-US" smtClean="0">
              <a:ea typeface="+mn-ea"/>
              <a:cs typeface="+mn-cs"/>
            </a:endParaRPr>
          </a:p>
        </p:txBody>
      </p:sp>
    </p:spTree>
    <p:extLst>
      <p:ext uri="{BB962C8B-B14F-4D97-AF65-F5344CB8AC3E}">
        <p14:creationId xmlns:p14="http://schemas.microsoft.com/office/powerpoint/2010/main" val="26074706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7" name="Text Box 1"/>
          <p:cNvSpPr txBox="1">
            <a:spLocks noChangeArrowheads="1"/>
          </p:cNvSpPr>
          <p:nvPr/>
        </p:nvSpPr>
        <p:spPr bwMode="auto">
          <a:xfrm>
            <a:off x="1143001" y="838438"/>
            <a:ext cx="5015653" cy="335375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6661" tIns="48331" rIns="96661" bIns="48331" anchor="ctr"/>
          <a:lstStyle/>
          <a:p>
            <a:pPr fontAlgn="auto">
              <a:spcBef>
                <a:spcPts val="0"/>
              </a:spcBef>
              <a:spcAft>
                <a:spcPts val="0"/>
              </a:spcAft>
              <a:defRPr/>
            </a:pPr>
            <a:endParaRPr lang="en-US">
              <a:latin typeface="+mn-lt"/>
              <a:ea typeface="+mn-ea"/>
            </a:endParaRPr>
          </a:p>
        </p:txBody>
      </p:sp>
      <p:sp>
        <p:nvSpPr>
          <p:cNvPr id="29698" name="Text Box 2"/>
          <p:cNvSpPr>
            <a:spLocks noGrp="1" noChangeArrowheads="1"/>
          </p:cNvSpPr>
          <p:nvPr>
            <p:ph type="body"/>
          </p:nvPr>
        </p:nvSpPr>
        <p:spPr bwMode="auto">
          <a:xfrm>
            <a:off x="882228" y="4563904"/>
            <a:ext cx="5535506" cy="40505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numCol="1" anchor="ctr" anchorCtr="0" compatLnSpc="1">
            <a:prstTxWarp prst="textNoShape">
              <a:avLst/>
            </a:prstTxWarp>
          </a:bodyPr>
          <a:lstStyle/>
          <a:p>
            <a:pPr eaLnBrk="1" fontAlgn="auto" hangingPunct="1">
              <a:spcBef>
                <a:spcPts val="0"/>
              </a:spcBef>
              <a:spcAft>
                <a:spcPts val="0"/>
              </a:spcAft>
              <a:defRPr/>
            </a:pPr>
            <a:endParaRPr lang="en-US" smtClean="0">
              <a:ea typeface="+mn-ea"/>
              <a:cs typeface="+mn-cs"/>
            </a:endParaRPr>
          </a:p>
        </p:txBody>
      </p:sp>
    </p:spTree>
    <p:extLst>
      <p:ext uri="{BB962C8B-B14F-4D97-AF65-F5344CB8AC3E}">
        <p14:creationId xmlns:p14="http://schemas.microsoft.com/office/powerpoint/2010/main" val="1599343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1" name="Text Box 1"/>
          <p:cNvSpPr txBox="1">
            <a:spLocks noChangeArrowheads="1"/>
          </p:cNvSpPr>
          <p:nvPr/>
        </p:nvSpPr>
        <p:spPr bwMode="auto">
          <a:xfrm>
            <a:off x="1143001" y="838438"/>
            <a:ext cx="5015653" cy="335375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6661" tIns="48331" rIns="96661" bIns="48331" anchor="ctr"/>
          <a:lstStyle/>
          <a:p>
            <a:pPr fontAlgn="auto">
              <a:spcBef>
                <a:spcPts val="0"/>
              </a:spcBef>
              <a:spcAft>
                <a:spcPts val="0"/>
              </a:spcAft>
              <a:defRPr/>
            </a:pPr>
            <a:endParaRPr lang="en-US">
              <a:latin typeface="+mn-lt"/>
              <a:ea typeface="+mn-ea"/>
            </a:endParaRPr>
          </a:p>
        </p:txBody>
      </p:sp>
      <p:sp>
        <p:nvSpPr>
          <p:cNvPr id="30722" name="Text Box 2"/>
          <p:cNvSpPr>
            <a:spLocks noGrp="1" noChangeArrowheads="1"/>
          </p:cNvSpPr>
          <p:nvPr>
            <p:ph type="body"/>
          </p:nvPr>
        </p:nvSpPr>
        <p:spPr bwMode="auto">
          <a:xfrm>
            <a:off x="882228" y="4563904"/>
            <a:ext cx="5535506" cy="40505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numCol="1" anchor="ctr" anchorCtr="0" compatLnSpc="1">
            <a:prstTxWarp prst="textNoShape">
              <a:avLst/>
            </a:prstTxWarp>
          </a:bodyPr>
          <a:lstStyle/>
          <a:p>
            <a:pPr eaLnBrk="1" fontAlgn="auto" hangingPunct="1">
              <a:spcBef>
                <a:spcPts val="0"/>
              </a:spcBef>
              <a:spcAft>
                <a:spcPts val="0"/>
              </a:spcAft>
              <a:defRPr/>
            </a:pPr>
            <a:endParaRPr lang="en-US" smtClean="0">
              <a:ea typeface="+mn-ea"/>
              <a:cs typeface="+mn-cs"/>
            </a:endParaRPr>
          </a:p>
        </p:txBody>
      </p:sp>
    </p:spTree>
    <p:extLst>
      <p:ext uri="{BB962C8B-B14F-4D97-AF65-F5344CB8AC3E}">
        <p14:creationId xmlns:p14="http://schemas.microsoft.com/office/powerpoint/2010/main" val="32391673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7E56B836-7A45-4201-9A72-36DD56D331F7}" type="slidenum">
              <a:rPr lang="en-US" smtClean="0"/>
              <a:pPr/>
              <a:t>52</a:t>
            </a:fld>
            <a:endParaRPr 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727710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0594E3BC-7242-4E71-AB09-D93697F5CCB5}" type="slidenum">
              <a:rPr lang="en-US" smtClean="0"/>
              <a:pPr/>
              <a:t>53</a:t>
            </a:fld>
            <a:endParaRPr lang="en-US"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3391458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8A83C34E-97B9-428A-AC20-166148CA64EB}" type="slidenum">
              <a:rPr lang="en-US" smtClean="0"/>
              <a:pPr/>
              <a:t>54</a:t>
            </a:fld>
            <a:endParaRPr lang="en-US"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405626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45E10176-6388-4CBA-BE44-18CFDBC19761}" type="slidenum">
              <a:rPr lang="en-US" smtClean="0"/>
              <a:pPr/>
              <a:t>55</a:t>
            </a:fld>
            <a:endParaRPr lang="en-US"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06279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E454E291-CD47-45A2-AB8D-506206452420}" type="slidenum">
              <a:rPr lang="en-US" smtClean="0"/>
              <a:pPr/>
              <a:t>56</a:t>
            </a:fld>
            <a:endParaRPr lang="en-US" smtClean="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8389136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04369791-FD3B-4CF1-BDB1-E3641C2F638C}" type="slidenum">
              <a:rPr lang="en-US" smtClean="0"/>
              <a:pPr/>
              <a:t>57</a:t>
            </a:fld>
            <a:endParaRPr lang="en-US"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5340211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3D0F5225-C0BF-4E52-8613-5D69DCD30505}" type="slidenum">
              <a:rPr lang="en-US" smtClean="0"/>
              <a:pPr/>
              <a:t>59</a:t>
            </a:fld>
            <a:endParaRPr lang="en-US"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6124489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2C2F5DD0-5685-4FBB-BB39-52C7BE56C5DE}" type="slidenum">
              <a:rPr lang="en-US" smtClean="0"/>
              <a:pPr/>
              <a:t>60</a:t>
            </a:fld>
            <a:endParaRPr lang="en-US"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5899824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F8933C8F-ECB6-4443-8BA5-AFF40C94CDEF}" type="slidenum">
              <a:rPr lang="en-US" smtClean="0"/>
              <a:pPr/>
              <a:t>61</a:t>
            </a:fld>
            <a:endParaRPr lang="en-US" smtClean="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8347052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E3E804E0-794B-4E8C-9D40-25FAA2CD1F16}" type="slidenum">
              <a:rPr lang="en-US" smtClean="0"/>
              <a:pPr/>
              <a:t>62</a:t>
            </a:fld>
            <a:endParaRPr lang="en-US" smtClean="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33993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19C9F048-BC12-4FA3-A94C-4C84DAEC1C48}" type="slidenum">
              <a:rPr lang="en-US" smtClean="0"/>
              <a:pPr/>
              <a:t>63</a:t>
            </a:fld>
            <a:endParaRPr lang="en-US" smtClean="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5010011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E8F690AD-2B05-4365-9B84-F7D5DE7ECC1D}" type="slidenum">
              <a:rPr lang="en-US" smtClean="0"/>
              <a:pPr/>
              <a:t>64</a:t>
            </a:fld>
            <a:endParaRPr lang="en-US" smtClean="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5881836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680B69F8-33CB-437F-B7E4-DE6203E0E737}" type="slidenum">
              <a:rPr lang="en-US" smtClean="0"/>
              <a:pPr/>
              <a:t>65</a:t>
            </a:fld>
            <a:endParaRPr lang="en-US"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3820758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62FD698B-8BA0-4594-96F6-02EA58C6CBD1}" type="slidenum">
              <a:rPr lang="en-US" smtClean="0"/>
              <a:pPr/>
              <a:t>66</a:t>
            </a:fld>
            <a:endParaRPr lang="en-US" smtClean="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8603781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408EED2A-9177-48CB-B391-1EEDD390B56E}" type="slidenum">
              <a:rPr lang="en-US" smtClean="0"/>
              <a:pPr/>
              <a:t>67</a:t>
            </a:fld>
            <a:endParaRPr lang="en-US" smtClean="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962671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5FCC81AD-AA2D-429C-8C70-6E596F7BCD18}" type="slidenum">
              <a:rPr lang="en-US" smtClean="0"/>
              <a:pPr/>
              <a:t>68</a:t>
            </a:fld>
            <a:endParaRPr lang="en-US" smtClean="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2498451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6276602E-9E8C-428C-9C32-338EF10A190B}" type="slidenum">
              <a:rPr lang="en-US" smtClean="0"/>
              <a:pPr/>
              <a:t>70</a:t>
            </a:fld>
            <a:endParaRPr lang="en-US"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9631220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6568D3F5-89D4-4A38-B1AC-6F4E815BC381}" type="slidenum">
              <a:rPr lang="en-US" smtClean="0"/>
              <a:pPr/>
              <a:t>71</a:t>
            </a:fld>
            <a:endParaRPr lang="en-US" smtClean="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4156954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31E67C22-A27F-433C-8AE8-4269EF7E136E}" type="slidenum">
              <a:rPr lang="en-US" smtClean="0"/>
              <a:pPr/>
              <a:t>72</a:t>
            </a:fld>
            <a:endParaRPr lang="en-US" smtClean="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79962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3597E34F-9125-4D5B-B603-4020F0E264D2}" type="slidenum">
              <a:rPr lang="en-US" smtClean="0"/>
              <a:pPr/>
              <a:t>73</a:t>
            </a:fld>
            <a:endParaRPr lang="en-US" smtClean="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0364706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8150839F-BF87-4C18-B58D-7569C792B575}" type="slidenum">
              <a:rPr lang="en-US" smtClean="0"/>
              <a:pPr/>
              <a:t>74</a:t>
            </a:fld>
            <a:endParaRPr lang="en-US" smtClean="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8709872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AD183C61-BC3A-4B76-B8FD-84AD8990318F}" type="slidenum">
              <a:rPr lang="en-US" smtClean="0"/>
              <a:pPr/>
              <a:t>75</a:t>
            </a:fld>
            <a:endParaRPr lang="en-US" smtClean="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363417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350" b="1">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D5ECF5E5-298A-44F5-95BC-418D9A3B4F52}" type="datetime1">
              <a:rPr lang="en-US" smtClean="0"/>
              <a:pPr/>
              <a:t>12/10/2025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02446213-E129-46A7-B795-FE69DE9E5CDA}" type="datetime1">
              <a:rPr lang="en-US" smtClean="0"/>
              <a:pPr/>
              <a:t>12/10/2025</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225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350" b="1">
                <a:solidFill>
                  <a:schemeClr val="tx2"/>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3CF6288B-6B52-4B00-843A-D02C420DDD74}" type="datetime1">
              <a:rPr lang="en-US" smtClean="0"/>
              <a:pPr/>
              <a:t>12/10/2025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3271C9A-4D0B-44C1-9D72-BD900518D8C5}" type="datetime1">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C74790E1-0334-450A-9615-981D83A8CD25}" type="datetime1">
              <a:rPr lang="en-US" smtClean="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15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15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38BCD9C4-AF43-418A-BB66-52B4632C1036}" type="datetime1">
              <a:rPr lang="en-US" smtClean="0"/>
              <a:pPr/>
              <a:t>12/10/2025</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DFC62E-EB89-4AD4-96D8-848DBBB7B3B3}" type="datetime1">
              <a:rPr lang="en-US" smtClean="0"/>
              <a:pPr/>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2" name="Title 1"/>
          <p:cNvSpPr>
            <a:spLocks noGrp="1"/>
          </p:cNvSpPr>
          <p:nvPr>
            <p:ph type="title"/>
          </p:nvPr>
        </p:nvSpPr>
        <p:spPr>
          <a:xfrm rot="5400000">
            <a:off x="3371850" y="3200400"/>
            <a:ext cx="6309360" cy="457200"/>
          </a:xfrm>
        </p:spPr>
        <p:txBody>
          <a:bodyPr anchor="b"/>
          <a:lstStyle>
            <a:lvl1pPr algn="l">
              <a:buNone/>
              <a:defRPr sz="15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300"/>
              </a:spcBef>
              <a:spcAft>
                <a:spcPts val="750"/>
              </a:spcAft>
              <a:buNone/>
              <a:defRPr sz="90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FCCE1BD9-B5DA-4580-AFC9-62D6F44D231B}" type="datetime1">
              <a:rPr lang="en-US" smtClean="0"/>
              <a:pPr/>
              <a:t>12/10/2025</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 name="Title 1"/>
          <p:cNvSpPr>
            <a:spLocks noGrp="1"/>
          </p:cNvSpPr>
          <p:nvPr>
            <p:ph type="title"/>
          </p:nvPr>
        </p:nvSpPr>
        <p:spPr>
          <a:xfrm rot="5400000">
            <a:off x="3350133" y="3200400"/>
            <a:ext cx="6309360" cy="457200"/>
          </a:xfrm>
        </p:spPr>
        <p:txBody>
          <a:bodyPr anchor="b"/>
          <a:lstStyle>
            <a:lvl1pPr algn="l">
              <a:buNone/>
              <a:defRPr sz="15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24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75"/>
              </a:spcBef>
              <a:spcAft>
                <a:spcPts val="300"/>
              </a:spcAft>
              <a:buFontTx/>
              <a:buNone/>
              <a:defRPr sz="9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17" name="Date Placeholder 16"/>
          <p:cNvSpPr>
            <a:spLocks noGrp="1"/>
          </p:cNvSpPr>
          <p:nvPr>
            <p:ph type="dt" sz="half" idx="10"/>
          </p:nvPr>
        </p:nvSpPr>
        <p:spPr/>
        <p:txBody>
          <a:bodyPr rtlCol="0"/>
          <a:lstStyle/>
          <a:p>
            <a:fld id="{9B49F915-DA70-437F-8C46-018667A464A7}" type="datetime1">
              <a:rPr lang="en-US" smtClean="0"/>
              <a:pPr/>
              <a:t>12/10/2025</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E12A4AD-D179-4DAD-BE00-C1647D64278D}" type="datetime1">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AC24B52-F409-447B-9587-A1726897F5FB}" type="datetime1">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5"/>
            <a:ext cx="8229600" cy="5762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06450" y="123349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7450" y="123349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6013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900">
                <a:solidFill>
                  <a:schemeClr val="tx2"/>
                </a:solidFill>
              </a:defRPr>
            </a:lvl1pPr>
          </a:lstStyle>
          <a:p>
            <a:fld id="{2FD0C7F0-6829-4275-BA4B-0935F2022826}" type="datetime1">
              <a:rPr lang="en-US" smtClean="0"/>
              <a:pPr/>
              <a:t>12/10/2025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9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68580" tIns="34290" rIns="68580" bIns="34290" anchor="t" compatLnSpc="1"/>
          <a:lstStyle/>
          <a:p>
            <a:endParaRPr kumimoji="0" lang="en-US" sz="1350"/>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05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7" r:id="rId12"/>
  </p:sldLayoutIdLst>
  <p:hf hdr="0" ftr="0" dt="0"/>
  <p:txStyles>
    <p:titleStyle>
      <a:lvl1pPr algn="l" rtl="0" eaLnBrk="1" latinLnBrk="0" hangingPunct="1">
        <a:spcBef>
          <a:spcPct val="0"/>
        </a:spcBef>
        <a:buNone/>
        <a:defRPr kumimoji="0" sz="2250" b="0" kern="1200" cap="small" baseline="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0000"/>
        <a:buFont typeface="Wingdings"/>
        <a:buChar char=""/>
        <a:defRPr kumimoji="0" sz="1800" kern="1200">
          <a:solidFill>
            <a:schemeClr val="tx1"/>
          </a:solidFill>
          <a:latin typeface="+mn-lt"/>
          <a:ea typeface="+mn-ea"/>
          <a:cs typeface="+mn-cs"/>
        </a:defRPr>
      </a:lvl1pPr>
      <a:lvl2pPr marL="480060" indent="-205740" algn="l" rtl="0" eaLnBrk="1" latinLnBrk="0" hangingPunct="1">
        <a:spcBef>
          <a:spcPct val="20000"/>
        </a:spcBef>
        <a:buClr>
          <a:schemeClr val="accent1"/>
        </a:buClr>
        <a:buSzPct val="80000"/>
        <a:buFont typeface="Wingdings 2"/>
        <a:buChar char=""/>
        <a:defRPr kumimoji="0" sz="1575" kern="1200">
          <a:solidFill>
            <a:schemeClr val="tx1"/>
          </a:solidFill>
          <a:latin typeface="+mn-lt"/>
          <a:ea typeface="+mn-ea"/>
          <a:cs typeface="+mn-cs"/>
        </a:defRPr>
      </a:lvl2pPr>
      <a:lvl3pPr marL="685800" indent="-137160" algn="l" rtl="0" eaLnBrk="1" latinLnBrk="0" hangingPunct="1">
        <a:spcBef>
          <a:spcPct val="20000"/>
        </a:spcBef>
        <a:buClr>
          <a:schemeClr val="accent1">
            <a:shade val="75000"/>
          </a:schemeClr>
        </a:buClr>
        <a:buSzPct val="60000"/>
        <a:buFont typeface="Wingdings"/>
        <a:buChar char=""/>
        <a:defRPr kumimoji="0" sz="1350" kern="1200">
          <a:solidFill>
            <a:schemeClr val="tx1"/>
          </a:solidFill>
          <a:latin typeface="+mn-lt"/>
          <a:ea typeface="+mn-ea"/>
          <a:cs typeface="+mn-cs"/>
        </a:defRPr>
      </a:lvl3pPr>
      <a:lvl4pPr marL="891540" indent="-137160" algn="l" rtl="0" eaLnBrk="1" latinLnBrk="0" hangingPunct="1">
        <a:spcBef>
          <a:spcPct val="20000"/>
        </a:spcBef>
        <a:buClr>
          <a:schemeClr val="accent1">
            <a:tint val="60000"/>
          </a:schemeClr>
        </a:buClr>
        <a:buSzPct val="60000"/>
        <a:buFont typeface="Wingdings"/>
        <a:buChar char=""/>
        <a:defRPr kumimoji="0" sz="1350" kern="1200">
          <a:solidFill>
            <a:schemeClr val="tx1"/>
          </a:solidFill>
          <a:latin typeface="+mn-lt"/>
          <a:ea typeface="+mn-ea"/>
          <a:cs typeface="+mn-cs"/>
        </a:defRPr>
      </a:lvl4pPr>
      <a:lvl5pPr marL="1097280" indent="-137160" algn="l" rtl="0" eaLnBrk="1" latinLnBrk="0" hangingPunct="1">
        <a:spcBef>
          <a:spcPct val="20000"/>
        </a:spcBef>
        <a:buClr>
          <a:schemeClr val="accent2">
            <a:tint val="60000"/>
          </a:schemeClr>
        </a:buClr>
        <a:buSzPct val="68000"/>
        <a:buFont typeface="Wingdings 2"/>
        <a:buChar char=""/>
        <a:defRPr kumimoji="0" sz="1200" kern="1200">
          <a:solidFill>
            <a:schemeClr val="tx1"/>
          </a:solidFill>
          <a:latin typeface="+mn-lt"/>
          <a:ea typeface="+mn-ea"/>
          <a:cs typeface="+mn-cs"/>
        </a:defRPr>
      </a:lvl5pPr>
      <a:lvl6pPr marL="1303020" indent="-137160" algn="l" rtl="0" eaLnBrk="1" latinLnBrk="0" hangingPunct="1">
        <a:spcBef>
          <a:spcPct val="20000"/>
        </a:spcBef>
        <a:buClr>
          <a:schemeClr val="accent1"/>
        </a:buClr>
        <a:buChar char="•"/>
        <a:defRPr kumimoji="0" sz="1200" kern="1200">
          <a:solidFill>
            <a:schemeClr val="tx2"/>
          </a:solidFill>
          <a:latin typeface="+mn-lt"/>
          <a:ea typeface="+mn-ea"/>
          <a:cs typeface="+mn-cs"/>
        </a:defRPr>
      </a:lvl6pPr>
      <a:lvl7pPr marL="1508760" indent="-137160" algn="l" rtl="0" eaLnBrk="1" latinLnBrk="0" hangingPunct="1">
        <a:spcBef>
          <a:spcPct val="20000"/>
        </a:spcBef>
        <a:buClr>
          <a:schemeClr val="accent1">
            <a:tint val="60000"/>
          </a:schemeClr>
        </a:buClr>
        <a:buSzPct val="60000"/>
        <a:buFont typeface="Wingdings"/>
        <a:buChar char=""/>
        <a:defRPr kumimoji="0" sz="1050" kern="1200" baseline="0">
          <a:solidFill>
            <a:schemeClr val="tx2"/>
          </a:solidFill>
          <a:latin typeface="+mn-lt"/>
          <a:ea typeface="+mn-ea"/>
          <a:cs typeface="+mn-cs"/>
        </a:defRPr>
      </a:lvl7pPr>
      <a:lvl8pPr marL="1714500" indent="-137160" algn="l" rtl="0" eaLnBrk="1" latinLnBrk="0" hangingPunct="1">
        <a:spcBef>
          <a:spcPct val="20000"/>
        </a:spcBef>
        <a:buClr>
          <a:schemeClr val="accent2"/>
        </a:buClr>
        <a:buChar char="•"/>
        <a:defRPr kumimoji="0" sz="1050" kern="1200" cap="small" baseline="0">
          <a:solidFill>
            <a:schemeClr val="tx2"/>
          </a:solidFill>
          <a:latin typeface="+mn-lt"/>
          <a:ea typeface="+mn-ea"/>
          <a:cs typeface="+mn-cs"/>
        </a:defRPr>
      </a:lvl8pPr>
      <a:lvl9pPr marL="1920240" indent="-137160" algn="l" rtl="0" eaLnBrk="1" latinLnBrk="0" hangingPunct="1">
        <a:spcBef>
          <a:spcPct val="20000"/>
        </a:spcBef>
        <a:buClr>
          <a:schemeClr val="accent1">
            <a:shade val="75000"/>
          </a:schemeClr>
        </a:buClr>
        <a:buChar char="•"/>
        <a:defRPr kumimoji="0" sz="105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5144" y="990600"/>
            <a:ext cx="6900112" cy="1028700"/>
          </a:xfrm>
        </p:spPr>
        <p:txBody>
          <a:bodyPr>
            <a:noAutofit/>
          </a:bodyPr>
          <a:lstStyle/>
          <a:p>
            <a:r>
              <a:rPr lang="en-US" sz="2800" cap="small" dirty="0">
                <a:solidFill>
                  <a:srgbClr val="0070C0"/>
                </a:solidFill>
                <a:latin typeface="+mj-lt"/>
                <a:ea typeface="+mj-ea"/>
                <a:cs typeface="+mj-cs"/>
              </a:rPr>
              <a:t>BACSE106: Operating Systems</a:t>
            </a:r>
            <a:endParaRPr lang="en-IN" sz="2800" cap="small" dirty="0">
              <a:solidFill>
                <a:srgbClr val="0070C0"/>
              </a:solidFill>
              <a:latin typeface="+mj-lt"/>
              <a:ea typeface="+mj-ea"/>
              <a:cs typeface="+mj-cs"/>
            </a:endParaRPr>
          </a:p>
        </p:txBody>
      </p:sp>
      <p:sp>
        <p:nvSpPr>
          <p:cNvPr id="14337" name="Rectangle 1"/>
          <p:cNvSpPr>
            <a:spLocks noChangeArrowheads="1"/>
          </p:cNvSpPr>
          <p:nvPr/>
        </p:nvSpPr>
        <p:spPr bwMode="auto">
          <a:xfrm>
            <a:off x="1143001" y="614877"/>
            <a:ext cx="138564" cy="484748"/>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spAutoFit/>
          </a:bodyPr>
          <a:lstStyle/>
          <a:p>
            <a:pPr fontAlgn="base">
              <a:spcBef>
                <a:spcPct val="0"/>
              </a:spcBef>
              <a:spcAft>
                <a:spcPct val="0"/>
              </a:spcAft>
            </a:pPr>
            <a:r>
              <a:rPr lang="en-US" sz="1350">
                <a:latin typeface="Arial" pitchFamily="34" charset="0"/>
                <a:cs typeface="Arial" pitchFamily="34" charset="0"/>
              </a:rPr>
              <a:t/>
            </a:r>
            <a:br>
              <a:rPr lang="en-US" sz="1350">
                <a:latin typeface="Arial" pitchFamily="34" charset="0"/>
                <a:cs typeface="Arial" pitchFamily="34" charset="0"/>
              </a:rPr>
            </a:br>
            <a:endParaRPr lang="en-US" sz="1350">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sp>
        <p:nvSpPr>
          <p:cNvPr id="4" name="Rectangle 3"/>
          <p:cNvSpPr/>
          <p:nvPr/>
        </p:nvSpPr>
        <p:spPr>
          <a:xfrm>
            <a:off x="228600" y="2254701"/>
            <a:ext cx="8809056" cy="2000548"/>
          </a:xfrm>
          <a:prstGeom prst="rect">
            <a:avLst/>
          </a:prstGeom>
        </p:spPr>
        <p:txBody>
          <a:bodyPr wrap="square">
            <a:spAutoFit/>
          </a:bodyPr>
          <a:lstStyle/>
          <a:p>
            <a:r>
              <a:rPr lang="en-US" sz="2800" b="1" dirty="0" smtClean="0">
                <a:solidFill>
                  <a:srgbClr val="002060"/>
                </a:solidFill>
              </a:rPr>
              <a:t>                                  </a:t>
            </a:r>
            <a:r>
              <a:rPr lang="en-US" sz="3200" b="1" dirty="0" smtClean="0">
                <a:solidFill>
                  <a:srgbClr val="FF0000"/>
                </a:solidFill>
              </a:rPr>
              <a:t>Module</a:t>
            </a:r>
            <a:r>
              <a:rPr lang="en-US" sz="3200" b="1" spc="-170" dirty="0" smtClean="0">
                <a:solidFill>
                  <a:srgbClr val="FF0000"/>
                </a:solidFill>
              </a:rPr>
              <a:t> </a:t>
            </a:r>
            <a:r>
              <a:rPr lang="en-US" sz="3200" b="1" spc="-25" dirty="0" smtClean="0">
                <a:solidFill>
                  <a:srgbClr val="FF0000"/>
                </a:solidFill>
              </a:rPr>
              <a:t>3:</a:t>
            </a:r>
            <a:endParaRPr lang="en-US" sz="3200" b="1" spc="-25" dirty="0" smtClean="0">
              <a:solidFill>
                <a:srgbClr val="FF0000"/>
              </a:solidFill>
            </a:endParaRPr>
          </a:p>
          <a:p>
            <a:r>
              <a:rPr lang="en-US" sz="3200" b="1" dirty="0">
                <a:solidFill>
                  <a:srgbClr val="002060"/>
                </a:solidFill>
              </a:rPr>
              <a:t>	</a:t>
            </a:r>
            <a:endParaRPr lang="en-US" sz="3200" b="1" dirty="0" smtClean="0">
              <a:solidFill>
                <a:srgbClr val="002060"/>
              </a:solidFill>
            </a:endParaRPr>
          </a:p>
          <a:p>
            <a:r>
              <a:rPr lang="en-US" sz="3200" b="1" dirty="0" smtClean="0">
                <a:solidFill>
                  <a:srgbClr val="002060"/>
                </a:solidFill>
              </a:rPr>
              <a:t>            </a:t>
            </a:r>
            <a:r>
              <a:rPr lang="en-US" sz="3200" b="1" dirty="0">
                <a:solidFill>
                  <a:srgbClr val="002060"/>
                </a:solidFill>
              </a:rPr>
              <a:t>Process Synchronization</a:t>
            </a:r>
            <a:r>
              <a:rPr lang="en-US" sz="3200" b="1" dirty="0">
                <a:solidFill>
                  <a:srgbClr val="002060"/>
                </a:solidFill>
              </a:rPr>
              <a:t/>
            </a:r>
            <a:br>
              <a:rPr lang="en-US" sz="3200" b="1" dirty="0">
                <a:solidFill>
                  <a:srgbClr val="002060"/>
                </a:solidFill>
              </a:rPr>
            </a:br>
            <a:endParaRPr lang="en-IN" sz="2800" b="1"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80017" y="627592"/>
            <a:ext cx="7706783" cy="512233"/>
          </a:xfrm>
        </p:spPr>
        <p:txBody>
          <a:bodyPr>
            <a:normAutofit/>
          </a:bodyPr>
          <a:lstStyle/>
          <a:p>
            <a:pPr eaLnBrk="1" hangingPunct="1"/>
            <a:r>
              <a:rPr lang="en-US" dirty="0" smtClean="0"/>
              <a:t>Module 3: Process Synchronization</a:t>
            </a:r>
          </a:p>
        </p:txBody>
      </p:sp>
      <p:sp>
        <p:nvSpPr>
          <p:cNvPr id="4099" name="Rectangle 3"/>
          <p:cNvSpPr>
            <a:spLocks noGrp="1" noChangeArrowheads="1"/>
          </p:cNvSpPr>
          <p:nvPr>
            <p:ph idx="1"/>
          </p:nvPr>
        </p:nvSpPr>
        <p:spPr>
          <a:xfrm>
            <a:off x="806450" y="1654176"/>
            <a:ext cx="6040967" cy="2906183"/>
          </a:xfrm>
        </p:spPr>
        <p:txBody>
          <a:bodyPr>
            <a:normAutofit/>
          </a:bodyPr>
          <a:lstStyle/>
          <a:p>
            <a:pPr>
              <a:lnSpc>
                <a:spcPct val="80000"/>
              </a:lnSpc>
            </a:pPr>
            <a:r>
              <a:rPr lang="en-US" dirty="0" smtClean="0"/>
              <a:t>Background</a:t>
            </a:r>
          </a:p>
          <a:p>
            <a:pPr>
              <a:lnSpc>
                <a:spcPct val="80000"/>
              </a:lnSpc>
            </a:pPr>
            <a:r>
              <a:rPr lang="en-US" dirty="0" smtClean="0"/>
              <a:t>The Critical-Section Problem</a:t>
            </a:r>
          </a:p>
          <a:p>
            <a:pPr>
              <a:lnSpc>
                <a:spcPct val="80000"/>
              </a:lnSpc>
            </a:pPr>
            <a:r>
              <a:rPr lang="en-US" dirty="0" smtClean="0"/>
              <a:t>Peterson’s Solution</a:t>
            </a:r>
          </a:p>
          <a:p>
            <a:pPr>
              <a:lnSpc>
                <a:spcPct val="80000"/>
              </a:lnSpc>
            </a:pPr>
            <a:r>
              <a:rPr lang="en-US" dirty="0" smtClean="0"/>
              <a:t>Synchronization Hardware</a:t>
            </a:r>
          </a:p>
          <a:p>
            <a:pPr>
              <a:lnSpc>
                <a:spcPct val="80000"/>
              </a:lnSpc>
            </a:pPr>
            <a:r>
              <a:rPr lang="en-US" dirty="0" smtClean="0"/>
              <a:t>Semaphores</a:t>
            </a:r>
          </a:p>
          <a:p>
            <a:pPr>
              <a:lnSpc>
                <a:spcPct val="80000"/>
              </a:lnSpc>
            </a:pPr>
            <a:r>
              <a:rPr lang="en-US" dirty="0" smtClean="0"/>
              <a:t>Classic Problems of Synchronization</a:t>
            </a:r>
          </a:p>
          <a:p>
            <a:pPr>
              <a:lnSpc>
                <a:spcPct val="80000"/>
              </a:lnSpc>
            </a:pPr>
            <a:r>
              <a:rPr lang="en-US" dirty="0" smtClean="0"/>
              <a:t>Monitors</a:t>
            </a:r>
          </a:p>
          <a:p>
            <a:pPr>
              <a:lnSpc>
                <a:spcPct val="80000"/>
              </a:lnSpc>
            </a:pPr>
            <a:r>
              <a:rPr lang="en-US" dirty="0" smtClean="0"/>
              <a:t>Synchronization Examples </a:t>
            </a:r>
          </a:p>
          <a:p>
            <a:pPr>
              <a:lnSpc>
                <a:spcPct val="80000"/>
              </a:lnSpc>
            </a:pPr>
            <a:r>
              <a:rPr lang="en-US" dirty="0" smtClean="0"/>
              <a:t>Atomic Transactions</a:t>
            </a:r>
          </a:p>
        </p:txBody>
      </p:sp>
      <p:sp>
        <p:nvSpPr>
          <p:cNvPr id="4100" name="Rectangle 5"/>
          <p:cNvSpPr>
            <a:spLocks noChangeArrowheads="1"/>
          </p:cNvSpPr>
          <p:nvPr/>
        </p:nvSpPr>
        <p:spPr bwMode="auto">
          <a:xfrm>
            <a:off x="2286000" y="4928659"/>
            <a:ext cx="4078817" cy="641926"/>
          </a:xfrm>
          <a:prstGeom prst="rect">
            <a:avLst/>
          </a:prstGeom>
          <a:noFill/>
          <a:ln w="9525">
            <a:noFill/>
            <a:miter lim="800000"/>
            <a:headEnd/>
            <a:tailEnd/>
          </a:ln>
        </p:spPr>
        <p:txBody>
          <a:bodyPr lIns="87077" tIns="43539" rIns="87077" bIns="43539">
            <a:spAutoFit/>
          </a:bodyPr>
          <a:lstStyle/>
          <a:p>
            <a:endParaRPr kumimoji="1" lang="en-US" sz="1200">
              <a:latin typeface="Helvetica" charset="0"/>
            </a:endParaRPr>
          </a:p>
          <a:p>
            <a:endParaRPr kumimoji="1" lang="en-US" sz="1200">
              <a:latin typeface="Helvetica" charset="0"/>
            </a:endParaRPr>
          </a:p>
          <a:p>
            <a:endParaRPr kumimoji="1" lang="en-US" sz="1200">
              <a:latin typeface="Helvetica" charset="0"/>
            </a:endParaRPr>
          </a:p>
        </p:txBody>
      </p:sp>
    </p:spTree>
    <p:extLst>
      <p:ext uri="{BB962C8B-B14F-4D97-AF65-F5344CB8AC3E}">
        <p14:creationId xmlns:p14="http://schemas.microsoft.com/office/powerpoint/2010/main" val="14041048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smtClean="0"/>
              <a:t>Objectives</a:t>
            </a:r>
          </a:p>
        </p:txBody>
      </p:sp>
      <p:sp>
        <p:nvSpPr>
          <p:cNvPr id="5123" name="Content Placeholder 2"/>
          <p:cNvSpPr>
            <a:spLocks noGrp="1"/>
          </p:cNvSpPr>
          <p:nvPr>
            <p:ph idx="1"/>
          </p:nvPr>
        </p:nvSpPr>
        <p:spPr>
          <a:xfrm>
            <a:off x="806450" y="1477433"/>
            <a:ext cx="7679267" cy="4026959"/>
          </a:xfrm>
        </p:spPr>
        <p:txBody>
          <a:bodyPr/>
          <a:lstStyle/>
          <a:p>
            <a:r>
              <a:rPr lang="en-US" dirty="0" smtClean="0"/>
              <a:t>To introduce the critical-section problem, whose solutions can be used to ensure the consistency of shared data</a:t>
            </a:r>
          </a:p>
          <a:p>
            <a:endParaRPr lang="en-US" dirty="0" smtClean="0"/>
          </a:p>
          <a:p>
            <a:r>
              <a:rPr lang="en-US" dirty="0" smtClean="0"/>
              <a:t>To present both software and hardware solutions of the critical-section problem</a:t>
            </a:r>
          </a:p>
          <a:p>
            <a:endParaRPr lang="en-US" dirty="0" smtClean="0"/>
          </a:p>
          <a:p>
            <a:r>
              <a:rPr lang="en-US" dirty="0" smtClean="0"/>
              <a:t>To introduce the concept of an atomic transaction and describe mechanisms to ensure atomicity</a:t>
            </a:r>
          </a:p>
        </p:txBody>
      </p:sp>
    </p:spTree>
    <p:extLst>
      <p:ext uri="{BB962C8B-B14F-4D97-AF65-F5344CB8AC3E}">
        <p14:creationId xmlns:p14="http://schemas.microsoft.com/office/powerpoint/2010/main" val="37981166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983192" y="627592"/>
            <a:ext cx="7703608" cy="512233"/>
          </a:xfrm>
        </p:spPr>
        <p:txBody>
          <a:bodyPr>
            <a:normAutofit/>
          </a:bodyPr>
          <a:lstStyle/>
          <a:p>
            <a:r>
              <a:rPr lang="en-US" smtClean="0"/>
              <a:t>Interprocess Communication</a:t>
            </a:r>
          </a:p>
        </p:txBody>
      </p:sp>
      <p:sp>
        <p:nvSpPr>
          <p:cNvPr id="28675" name="Content Placeholder 2"/>
          <p:cNvSpPr>
            <a:spLocks noGrp="1"/>
          </p:cNvSpPr>
          <p:nvPr>
            <p:ph idx="1"/>
          </p:nvPr>
        </p:nvSpPr>
        <p:spPr>
          <a:xfrm>
            <a:off x="806450" y="1477433"/>
            <a:ext cx="7512050" cy="4026959"/>
          </a:xfrm>
        </p:spPr>
        <p:txBody>
          <a:bodyPr>
            <a:normAutofit fontScale="92500"/>
          </a:bodyPr>
          <a:lstStyle/>
          <a:p>
            <a:r>
              <a:rPr lang="en-US" sz="1867" dirty="0"/>
              <a:t>Processes within a system may be </a:t>
            </a:r>
            <a:r>
              <a:rPr lang="en-US" sz="1867" b="1" dirty="0"/>
              <a:t>independent </a:t>
            </a:r>
            <a:r>
              <a:rPr lang="en-US" sz="1867" dirty="0"/>
              <a:t>or </a:t>
            </a:r>
            <a:r>
              <a:rPr lang="en-US" sz="1867" b="1" dirty="0"/>
              <a:t>cooperating</a:t>
            </a:r>
          </a:p>
          <a:p>
            <a:r>
              <a:rPr lang="en-US" sz="1867" dirty="0"/>
              <a:t>Cooperating process can affect or be affected by other processes, including sharing data</a:t>
            </a:r>
          </a:p>
          <a:p>
            <a:r>
              <a:rPr lang="en-US" sz="1867" dirty="0"/>
              <a:t>Reasons for cooperating processes:</a:t>
            </a:r>
          </a:p>
          <a:p>
            <a:pPr lvl="1"/>
            <a:r>
              <a:rPr lang="en-US" sz="1867" dirty="0"/>
              <a:t>Information sharing</a:t>
            </a:r>
          </a:p>
          <a:p>
            <a:pPr lvl="1"/>
            <a:r>
              <a:rPr lang="en-US" sz="1867" dirty="0"/>
              <a:t>Computation speedup</a:t>
            </a:r>
          </a:p>
          <a:p>
            <a:pPr lvl="1"/>
            <a:r>
              <a:rPr lang="en-US" sz="1867" dirty="0"/>
              <a:t>Modularity</a:t>
            </a:r>
          </a:p>
          <a:p>
            <a:pPr lvl="1"/>
            <a:r>
              <a:rPr lang="en-US" sz="1867" dirty="0"/>
              <a:t>Convenience	</a:t>
            </a:r>
          </a:p>
          <a:p>
            <a:r>
              <a:rPr lang="en-US" sz="1867" dirty="0"/>
              <a:t>Cooperating processes need </a:t>
            </a:r>
            <a:r>
              <a:rPr lang="en-US" sz="1867" b="1" dirty="0" err="1"/>
              <a:t>interprocess</a:t>
            </a:r>
            <a:r>
              <a:rPr lang="en-US" sz="1867" b="1" dirty="0"/>
              <a:t> communication </a:t>
            </a:r>
            <a:r>
              <a:rPr lang="en-US" sz="1867" dirty="0"/>
              <a:t>(</a:t>
            </a:r>
            <a:r>
              <a:rPr lang="en-US" sz="1867" b="1" dirty="0"/>
              <a:t>IPC</a:t>
            </a:r>
            <a:r>
              <a:rPr lang="en-US" sz="1867" dirty="0"/>
              <a:t>)</a:t>
            </a:r>
          </a:p>
          <a:p>
            <a:r>
              <a:rPr lang="en-US" sz="1867" dirty="0"/>
              <a:t>Two models of IPC</a:t>
            </a:r>
          </a:p>
          <a:p>
            <a:pPr lvl="1"/>
            <a:r>
              <a:rPr lang="en-US" sz="1867" dirty="0"/>
              <a:t>Shared memory</a:t>
            </a:r>
          </a:p>
          <a:p>
            <a:pPr lvl="1"/>
            <a:r>
              <a:rPr lang="en-US" sz="1867" dirty="0"/>
              <a:t>Message passing</a:t>
            </a:r>
          </a:p>
          <a:p>
            <a:pPr lvl="1"/>
            <a:endParaRPr lang="en-US" sz="1867" dirty="0"/>
          </a:p>
        </p:txBody>
      </p:sp>
    </p:spTree>
    <p:extLst>
      <p:ext uri="{BB962C8B-B14F-4D97-AF65-F5344CB8AC3E}">
        <p14:creationId xmlns:p14="http://schemas.microsoft.com/office/powerpoint/2010/main" val="2210333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mtClean="0"/>
              <a:t>Communications Models </a:t>
            </a:r>
          </a:p>
        </p:txBody>
      </p:sp>
      <p:pic>
        <p:nvPicPr>
          <p:cNvPr id="29699" name="Picture 4"/>
          <p:cNvPicPr>
            <a:picLocks noChangeAspect="1" noChangeArrowheads="1"/>
          </p:cNvPicPr>
          <p:nvPr/>
        </p:nvPicPr>
        <p:blipFill>
          <a:blip r:embed="rId3"/>
          <a:srcRect/>
          <a:stretch>
            <a:fillRect/>
          </a:stretch>
        </p:blipFill>
        <p:spPr bwMode="auto">
          <a:xfrm>
            <a:off x="1365250" y="1677459"/>
            <a:ext cx="6453717" cy="3813175"/>
          </a:xfrm>
          <a:prstGeom prst="rect">
            <a:avLst/>
          </a:prstGeom>
          <a:noFill/>
          <a:ln w="9525">
            <a:noFill/>
            <a:miter lim="800000"/>
            <a:headEnd/>
            <a:tailEnd/>
          </a:ln>
        </p:spPr>
      </p:pic>
    </p:spTree>
    <p:extLst>
      <p:ext uri="{BB962C8B-B14F-4D97-AF65-F5344CB8AC3E}">
        <p14:creationId xmlns:p14="http://schemas.microsoft.com/office/powerpoint/2010/main" val="25688251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060450" y="627592"/>
            <a:ext cx="7626350" cy="512233"/>
          </a:xfrm>
        </p:spPr>
        <p:txBody>
          <a:bodyPr>
            <a:normAutofit/>
          </a:bodyPr>
          <a:lstStyle/>
          <a:p>
            <a:pPr eaLnBrk="1" hangingPunct="1"/>
            <a:r>
              <a:rPr lang="en-US" smtClean="0"/>
              <a:t>Cooperating Processes</a:t>
            </a:r>
          </a:p>
        </p:txBody>
      </p:sp>
      <p:sp>
        <p:nvSpPr>
          <p:cNvPr id="30723" name="Rectangle 3"/>
          <p:cNvSpPr>
            <a:spLocks noGrp="1" noChangeArrowheads="1"/>
          </p:cNvSpPr>
          <p:nvPr>
            <p:ph idx="1"/>
          </p:nvPr>
        </p:nvSpPr>
        <p:spPr>
          <a:xfrm>
            <a:off x="806450" y="1477433"/>
            <a:ext cx="7530042" cy="4026959"/>
          </a:xfrm>
        </p:spPr>
        <p:txBody>
          <a:bodyPr>
            <a:normAutofit/>
          </a:bodyPr>
          <a:lstStyle/>
          <a:p>
            <a:r>
              <a:rPr lang="en-US" b="1" smtClean="0"/>
              <a:t>Independent</a:t>
            </a:r>
            <a:r>
              <a:rPr lang="en-US" smtClean="0"/>
              <a:t> process cannot affect or be affected by the execution of another process</a:t>
            </a:r>
          </a:p>
          <a:p>
            <a:endParaRPr lang="en-US" smtClean="0"/>
          </a:p>
          <a:p>
            <a:r>
              <a:rPr lang="en-US" b="1" smtClean="0">
                <a:solidFill>
                  <a:srgbClr val="000000"/>
                </a:solidFill>
              </a:rPr>
              <a:t>Cooperating</a:t>
            </a:r>
            <a:r>
              <a:rPr lang="en-US" smtClean="0"/>
              <a:t> process can affect or be affected by the execution of another process</a:t>
            </a:r>
          </a:p>
          <a:p>
            <a:endParaRPr lang="en-US" smtClean="0"/>
          </a:p>
          <a:p>
            <a:r>
              <a:rPr lang="en-US" smtClean="0"/>
              <a:t>Advantages of process cooperation</a:t>
            </a:r>
          </a:p>
          <a:p>
            <a:pPr lvl="1"/>
            <a:r>
              <a:rPr lang="en-US" smtClean="0"/>
              <a:t>Information sharing </a:t>
            </a:r>
          </a:p>
          <a:p>
            <a:pPr lvl="1"/>
            <a:r>
              <a:rPr lang="en-US" smtClean="0"/>
              <a:t>Computation speed-up</a:t>
            </a:r>
          </a:p>
          <a:p>
            <a:pPr lvl="1"/>
            <a:r>
              <a:rPr lang="en-US" smtClean="0"/>
              <a:t>Modularity</a:t>
            </a:r>
          </a:p>
          <a:p>
            <a:pPr lvl="1"/>
            <a:r>
              <a:rPr lang="en-US" smtClean="0"/>
              <a:t>Convenience</a:t>
            </a:r>
          </a:p>
        </p:txBody>
      </p:sp>
    </p:spTree>
    <p:extLst>
      <p:ext uri="{BB962C8B-B14F-4D97-AF65-F5344CB8AC3E}">
        <p14:creationId xmlns:p14="http://schemas.microsoft.com/office/powerpoint/2010/main" val="278360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49300" y="627592"/>
            <a:ext cx="7937500" cy="512233"/>
          </a:xfrm>
        </p:spPr>
        <p:txBody>
          <a:bodyPr>
            <a:normAutofit/>
          </a:bodyPr>
          <a:lstStyle/>
          <a:p>
            <a:pPr eaLnBrk="1" hangingPunct="1"/>
            <a:r>
              <a:rPr lang="en-US" smtClean="0"/>
              <a:t>Producer-Consumer Problem</a:t>
            </a:r>
          </a:p>
        </p:txBody>
      </p:sp>
      <p:sp>
        <p:nvSpPr>
          <p:cNvPr id="31747" name="Rectangle 3"/>
          <p:cNvSpPr>
            <a:spLocks noGrp="1" noChangeArrowheads="1"/>
          </p:cNvSpPr>
          <p:nvPr>
            <p:ph idx="1"/>
          </p:nvPr>
        </p:nvSpPr>
        <p:spPr>
          <a:xfrm>
            <a:off x="827617" y="1635126"/>
            <a:ext cx="6668559" cy="3998383"/>
          </a:xfrm>
        </p:spPr>
        <p:txBody>
          <a:bodyPr/>
          <a:lstStyle/>
          <a:p>
            <a:r>
              <a:rPr lang="en-US" smtClean="0"/>
              <a:t>Paradigm for cooperating processes, </a:t>
            </a:r>
            <a:r>
              <a:rPr lang="en-US" i="1" smtClean="0"/>
              <a:t>producer</a:t>
            </a:r>
            <a:r>
              <a:rPr lang="en-US" smtClean="0"/>
              <a:t> process produces information that is consumed by a </a:t>
            </a:r>
            <a:r>
              <a:rPr lang="en-US" i="1" smtClean="0"/>
              <a:t>consumer</a:t>
            </a:r>
            <a:r>
              <a:rPr lang="en-US" smtClean="0"/>
              <a:t> process</a:t>
            </a:r>
          </a:p>
          <a:p>
            <a:pPr lvl="1"/>
            <a:r>
              <a:rPr lang="en-US" i="1" smtClean="0"/>
              <a:t>unbounded-buffer</a:t>
            </a:r>
            <a:r>
              <a:rPr lang="en-US" smtClean="0"/>
              <a:t> places no practical limit on the size of the buffer</a:t>
            </a:r>
          </a:p>
          <a:p>
            <a:pPr lvl="1"/>
            <a:r>
              <a:rPr lang="en-US" i="1" smtClean="0"/>
              <a:t>bounded-buffer</a:t>
            </a:r>
            <a:r>
              <a:rPr lang="en-US" smtClean="0"/>
              <a:t> assumes that there is a fixed buffer size</a:t>
            </a:r>
          </a:p>
        </p:txBody>
      </p:sp>
    </p:spTree>
    <p:extLst>
      <p:ext uri="{BB962C8B-B14F-4D97-AF65-F5344CB8AC3E}">
        <p14:creationId xmlns:p14="http://schemas.microsoft.com/office/powerpoint/2010/main" val="13546309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850900" y="754592"/>
            <a:ext cx="8074025" cy="406400"/>
          </a:xfrm>
        </p:spPr>
        <p:txBody>
          <a:bodyPr>
            <a:normAutofit fontScale="90000"/>
          </a:bodyPr>
          <a:lstStyle/>
          <a:p>
            <a:pPr eaLnBrk="1" hangingPunct="1"/>
            <a:r>
              <a:rPr lang="en-US" sz="2667"/>
              <a:t>Bounded-Buffer – </a:t>
            </a:r>
            <a:br>
              <a:rPr lang="en-US" sz="2667"/>
            </a:br>
            <a:r>
              <a:rPr lang="en-US" sz="2667"/>
              <a:t>Shared-Memory Solution</a:t>
            </a:r>
          </a:p>
        </p:txBody>
      </p:sp>
      <p:sp>
        <p:nvSpPr>
          <p:cNvPr id="32771" name="Rectangle 3"/>
          <p:cNvSpPr>
            <a:spLocks noGrp="1" noChangeArrowheads="1"/>
          </p:cNvSpPr>
          <p:nvPr>
            <p:ph idx="1"/>
          </p:nvPr>
        </p:nvSpPr>
        <p:spPr>
          <a:xfrm>
            <a:off x="1195917" y="1730375"/>
            <a:ext cx="7131050" cy="4178300"/>
          </a:xfrm>
        </p:spPr>
        <p:txBody>
          <a:bodyPr/>
          <a:lstStyle/>
          <a:p>
            <a:r>
              <a:rPr lang="en-US" smtClean="0"/>
              <a:t>Shared data</a:t>
            </a:r>
          </a:p>
          <a:p>
            <a:pPr marL="1523018" lvl="3">
              <a:buNone/>
            </a:pPr>
            <a:r>
              <a:rPr lang="en-US" sz="1933"/>
              <a:t>#define BUFFER_SIZE 10</a:t>
            </a:r>
          </a:p>
          <a:p>
            <a:pPr marL="1523018" lvl="3">
              <a:buNone/>
            </a:pPr>
            <a:r>
              <a:rPr lang="en-US" sz="1933"/>
              <a:t>typedef struct {</a:t>
            </a:r>
          </a:p>
          <a:p>
            <a:pPr marL="1523018" lvl="3">
              <a:buNone/>
            </a:pPr>
            <a:r>
              <a:rPr lang="en-US" sz="1933"/>
              <a:t>	. . .</a:t>
            </a:r>
          </a:p>
          <a:p>
            <a:pPr marL="1523018" lvl="3">
              <a:buNone/>
            </a:pPr>
            <a:r>
              <a:rPr lang="en-US" sz="1933"/>
              <a:t>} item;</a:t>
            </a:r>
          </a:p>
          <a:p>
            <a:pPr marL="1523018" lvl="3">
              <a:buNone/>
            </a:pPr>
            <a:endParaRPr lang="en-US" sz="733"/>
          </a:p>
          <a:p>
            <a:pPr marL="1523018" lvl="3">
              <a:buNone/>
            </a:pPr>
            <a:r>
              <a:rPr lang="en-US" sz="1933"/>
              <a:t>item buffer[BUFFER_SIZE];</a:t>
            </a:r>
          </a:p>
          <a:p>
            <a:pPr marL="1523018" lvl="3">
              <a:buNone/>
            </a:pPr>
            <a:r>
              <a:rPr lang="en-US" sz="1933"/>
              <a:t>int in = 0;</a:t>
            </a:r>
          </a:p>
          <a:p>
            <a:pPr marL="1523018" lvl="3">
              <a:buNone/>
            </a:pPr>
            <a:r>
              <a:rPr lang="en-US" sz="1933"/>
              <a:t>int out = 0;</a:t>
            </a:r>
          </a:p>
          <a:p>
            <a:pPr marL="1523018" lvl="3">
              <a:buNone/>
            </a:pPr>
            <a:endParaRPr lang="en-US" sz="733"/>
          </a:p>
          <a:p>
            <a:r>
              <a:rPr lang="en-US" smtClean="0"/>
              <a:t>Solution is correct, but can only use BUFFER_SIZE-1 elements</a:t>
            </a:r>
          </a:p>
          <a:p>
            <a:pPr marL="1523018" lvl="3">
              <a:buNone/>
            </a:pPr>
            <a:endParaRPr lang="en-US" sz="1933" b="1"/>
          </a:p>
        </p:txBody>
      </p:sp>
    </p:spTree>
    <p:extLst>
      <p:ext uri="{BB962C8B-B14F-4D97-AF65-F5344CB8AC3E}">
        <p14:creationId xmlns:p14="http://schemas.microsoft.com/office/powerpoint/2010/main" val="22167579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117600" y="627592"/>
            <a:ext cx="7569200" cy="512233"/>
          </a:xfrm>
        </p:spPr>
        <p:txBody>
          <a:bodyPr>
            <a:normAutofit/>
          </a:bodyPr>
          <a:lstStyle/>
          <a:p>
            <a:pPr eaLnBrk="1" hangingPunct="1"/>
            <a:r>
              <a:rPr lang="en-US" smtClean="0"/>
              <a:t>Bounded-Buffer – Producer</a:t>
            </a:r>
          </a:p>
        </p:txBody>
      </p:sp>
      <p:sp>
        <p:nvSpPr>
          <p:cNvPr id="33795" name="Rectangle 3"/>
          <p:cNvSpPr>
            <a:spLocks noGrp="1" noChangeArrowheads="1"/>
          </p:cNvSpPr>
          <p:nvPr>
            <p:ph idx="1"/>
          </p:nvPr>
        </p:nvSpPr>
        <p:spPr>
          <a:xfrm>
            <a:off x="843493" y="1651000"/>
            <a:ext cx="7351183" cy="3984625"/>
          </a:xfrm>
        </p:spPr>
        <p:txBody>
          <a:bodyPr>
            <a:normAutofit/>
          </a:bodyPr>
          <a:lstStyle/>
          <a:p>
            <a:pPr>
              <a:buFont typeface="Monotype Sorts" charset="2"/>
              <a:buNone/>
            </a:pPr>
            <a:endParaRPr lang="en-US" sz="1933" dirty="0">
              <a:latin typeface="Monaco" charset="0"/>
            </a:endParaRPr>
          </a:p>
          <a:p>
            <a:pPr>
              <a:buFont typeface="Monotype Sorts" charset="2"/>
              <a:buNone/>
            </a:pPr>
            <a:r>
              <a:rPr lang="en-US" sz="1933" dirty="0">
                <a:latin typeface="Monaco" charset="0"/>
              </a:rPr>
              <a:t>	while (true) {</a:t>
            </a:r>
            <a:br>
              <a:rPr lang="en-US" sz="1933" dirty="0">
                <a:latin typeface="Monaco" charset="0"/>
              </a:rPr>
            </a:br>
            <a:r>
              <a:rPr lang="en-US" sz="1933" dirty="0">
                <a:latin typeface="Monaco" charset="0"/>
              </a:rPr>
              <a:t>   /* Produce an item */</a:t>
            </a:r>
          </a:p>
          <a:p>
            <a:pPr>
              <a:buFont typeface="Monotype Sorts" charset="2"/>
              <a:buNone/>
            </a:pPr>
            <a:r>
              <a:rPr lang="en-US" sz="1933" dirty="0">
                <a:latin typeface="Monaco" charset="0"/>
              </a:rPr>
              <a:t>        while (((in = (in + 1) % BUFFER SIZE)  == out)</a:t>
            </a:r>
          </a:p>
          <a:p>
            <a:pPr>
              <a:buFont typeface="Monotype Sorts" charset="2"/>
              <a:buNone/>
            </a:pPr>
            <a:r>
              <a:rPr lang="en-US" sz="1933" dirty="0">
                <a:latin typeface="Monaco" charset="0"/>
              </a:rPr>
              <a:t>	     ;   /* do nothing -- no free buffers */</a:t>
            </a:r>
          </a:p>
          <a:p>
            <a:pPr>
              <a:buFont typeface="Monotype Sorts" charset="2"/>
              <a:buNone/>
            </a:pPr>
            <a:r>
              <a:rPr lang="en-US" sz="1933" dirty="0">
                <a:latin typeface="Monaco" charset="0"/>
              </a:rPr>
              <a:t>	    buffer[in] = item;</a:t>
            </a:r>
          </a:p>
          <a:p>
            <a:pPr>
              <a:buFont typeface="Monotype Sorts" charset="2"/>
              <a:buNone/>
            </a:pPr>
            <a:r>
              <a:rPr lang="en-US" sz="1933" dirty="0">
                <a:latin typeface="Monaco" charset="0"/>
              </a:rPr>
              <a:t>	    in = (in + 1) % BUFFER SIZE;</a:t>
            </a:r>
          </a:p>
          <a:p>
            <a:pPr>
              <a:buFont typeface="Monotype Sorts" charset="2"/>
              <a:buNone/>
            </a:pPr>
            <a:r>
              <a:rPr lang="en-US" sz="1933" dirty="0">
                <a:latin typeface="Monaco" charset="0"/>
              </a:rPr>
              <a:t>     }</a:t>
            </a:r>
          </a:p>
          <a:p>
            <a:pPr>
              <a:buFont typeface="Monotype Sorts" charset="2"/>
              <a:buNone/>
            </a:pPr>
            <a:endParaRPr lang="en-US" sz="1933" dirty="0">
              <a:latin typeface="Monaco" charset="0"/>
            </a:endParaRPr>
          </a:p>
          <a:p>
            <a:pPr>
              <a:buFont typeface="Monotype Sorts" charset="2"/>
              <a:buNone/>
            </a:pPr>
            <a:endParaRPr lang="en-US" sz="1933" dirty="0"/>
          </a:p>
          <a:p>
            <a:pPr>
              <a:buFont typeface="Monotype Sorts" charset="2"/>
              <a:buNone/>
            </a:pPr>
            <a:r>
              <a:rPr lang="en-US" sz="1533" dirty="0"/>
              <a:t>	</a:t>
            </a:r>
          </a:p>
          <a:p>
            <a:pPr marL="6827650" lvl="4">
              <a:buNone/>
            </a:pPr>
            <a:endParaRPr lang="en-US" dirty="0" smtClean="0"/>
          </a:p>
        </p:txBody>
      </p:sp>
    </p:spTree>
    <p:extLst>
      <p:ext uri="{BB962C8B-B14F-4D97-AF65-F5344CB8AC3E}">
        <p14:creationId xmlns:p14="http://schemas.microsoft.com/office/powerpoint/2010/main" val="22705216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t>Bounded Buffer – Consumer</a:t>
            </a:r>
          </a:p>
        </p:txBody>
      </p:sp>
      <p:sp>
        <p:nvSpPr>
          <p:cNvPr id="34819" name="Rectangle 3"/>
          <p:cNvSpPr>
            <a:spLocks noGrp="1" noChangeArrowheads="1"/>
          </p:cNvSpPr>
          <p:nvPr>
            <p:ph idx="1"/>
          </p:nvPr>
        </p:nvSpPr>
        <p:spPr>
          <a:xfrm>
            <a:off x="1809750" y="1714500"/>
            <a:ext cx="6158442" cy="3921125"/>
          </a:xfrm>
        </p:spPr>
        <p:txBody>
          <a:bodyPr/>
          <a:lstStyle/>
          <a:p>
            <a:pPr>
              <a:buFont typeface="Monotype Sorts" charset="2"/>
              <a:buNone/>
            </a:pPr>
            <a:r>
              <a:rPr lang="en-US" smtClean="0">
                <a:latin typeface="Monaco" charset="0"/>
              </a:rPr>
              <a:t>	</a:t>
            </a:r>
            <a:r>
              <a:rPr lang="en-US" sz="1933">
                <a:latin typeface="Monaco" charset="0"/>
              </a:rPr>
              <a:t>while (true) {</a:t>
            </a:r>
          </a:p>
          <a:p>
            <a:pPr>
              <a:buFont typeface="Monotype Sorts" charset="2"/>
              <a:buNone/>
            </a:pPr>
            <a:r>
              <a:rPr lang="en-US" sz="1933">
                <a:latin typeface="Monaco" charset="0"/>
              </a:rPr>
              <a:t>          while (in == out)</a:t>
            </a:r>
          </a:p>
          <a:p>
            <a:pPr>
              <a:buFont typeface="Monotype Sorts" charset="2"/>
              <a:buNone/>
            </a:pPr>
            <a:r>
              <a:rPr lang="en-US" sz="1933">
                <a:latin typeface="Monaco" charset="0"/>
              </a:rPr>
              <a:t>                 ; // do nothing -- nothing to consume</a:t>
            </a:r>
          </a:p>
          <a:p>
            <a:pPr>
              <a:buFont typeface="Monotype Sorts" charset="2"/>
              <a:buNone/>
            </a:pPr>
            <a:endParaRPr lang="en-US" sz="1933">
              <a:latin typeface="Monaco" charset="0"/>
            </a:endParaRPr>
          </a:p>
          <a:p>
            <a:pPr>
              <a:buFont typeface="Monotype Sorts" charset="2"/>
              <a:buNone/>
            </a:pPr>
            <a:r>
              <a:rPr lang="en-US" sz="1933">
                <a:latin typeface="Monaco" charset="0"/>
              </a:rPr>
              <a:t>	     // remove an item from the buffer</a:t>
            </a:r>
          </a:p>
          <a:p>
            <a:pPr>
              <a:buFont typeface="Monotype Sorts" charset="2"/>
              <a:buNone/>
            </a:pPr>
            <a:r>
              <a:rPr lang="en-US" sz="1933">
                <a:latin typeface="Monaco" charset="0"/>
              </a:rPr>
              <a:t>	     item = buffer[out];</a:t>
            </a:r>
          </a:p>
          <a:p>
            <a:pPr>
              <a:buFont typeface="Monotype Sorts" charset="2"/>
              <a:buNone/>
            </a:pPr>
            <a:r>
              <a:rPr lang="en-US" sz="1933">
                <a:latin typeface="Monaco" charset="0"/>
              </a:rPr>
              <a:t>	     out = (out + 1) % BUFFER SIZE;</a:t>
            </a:r>
          </a:p>
          <a:p>
            <a:pPr>
              <a:buFont typeface="Monotype Sorts" charset="2"/>
              <a:buNone/>
            </a:pPr>
            <a:r>
              <a:rPr lang="en-US" sz="1933">
                <a:latin typeface="Monaco" charset="0"/>
              </a:rPr>
              <a:t>	return item;</a:t>
            </a:r>
          </a:p>
          <a:p>
            <a:pPr>
              <a:buFont typeface="Monotype Sorts" charset="2"/>
              <a:buNone/>
            </a:pPr>
            <a:r>
              <a:rPr lang="en-US" sz="1933" i="1">
                <a:latin typeface="Monaco" charset="0"/>
              </a:rPr>
              <a:t>     </a:t>
            </a:r>
            <a:r>
              <a:rPr lang="en-US" sz="1933">
                <a:latin typeface="Monaco" charset="0"/>
              </a:rPr>
              <a:t>}</a:t>
            </a:r>
          </a:p>
        </p:txBody>
      </p:sp>
    </p:spTree>
    <p:extLst>
      <p:ext uri="{BB962C8B-B14F-4D97-AF65-F5344CB8AC3E}">
        <p14:creationId xmlns:p14="http://schemas.microsoft.com/office/powerpoint/2010/main" val="22531915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14892" y="644526"/>
            <a:ext cx="8229600" cy="512233"/>
          </a:xfrm>
        </p:spPr>
        <p:txBody>
          <a:bodyPr>
            <a:normAutofit fontScale="90000"/>
          </a:bodyPr>
          <a:lstStyle/>
          <a:p>
            <a:pPr eaLnBrk="1" hangingPunct="1"/>
            <a:r>
              <a:rPr lang="en-US" sz="2400"/>
              <a:t>Interprocess Communication – </a:t>
            </a:r>
            <a:br>
              <a:rPr lang="en-US" sz="2400"/>
            </a:br>
            <a:r>
              <a:rPr lang="en-US" sz="2400"/>
              <a:t>Message Passing</a:t>
            </a:r>
          </a:p>
        </p:txBody>
      </p:sp>
      <p:sp>
        <p:nvSpPr>
          <p:cNvPr id="35843" name="Rectangle 3"/>
          <p:cNvSpPr>
            <a:spLocks noGrp="1" noChangeArrowheads="1"/>
          </p:cNvSpPr>
          <p:nvPr>
            <p:ph idx="1"/>
          </p:nvPr>
        </p:nvSpPr>
        <p:spPr>
          <a:xfrm>
            <a:off x="806450" y="1477433"/>
            <a:ext cx="7695142" cy="4026959"/>
          </a:xfrm>
        </p:spPr>
        <p:txBody>
          <a:bodyPr>
            <a:normAutofit/>
          </a:bodyPr>
          <a:lstStyle/>
          <a:p>
            <a:pPr>
              <a:lnSpc>
                <a:spcPct val="90000"/>
              </a:lnSpc>
            </a:pPr>
            <a:r>
              <a:rPr lang="en-US" sz="1867" dirty="0"/>
              <a:t>Mechanism for processes to communicate and to synchronize their actions</a:t>
            </a:r>
          </a:p>
          <a:p>
            <a:pPr>
              <a:lnSpc>
                <a:spcPct val="90000"/>
              </a:lnSpc>
            </a:pPr>
            <a:r>
              <a:rPr lang="en-US" sz="1867" dirty="0"/>
              <a:t>Message system – processes communicate with each other without resorting to shared variables</a:t>
            </a:r>
          </a:p>
          <a:p>
            <a:pPr>
              <a:lnSpc>
                <a:spcPct val="90000"/>
              </a:lnSpc>
            </a:pPr>
            <a:r>
              <a:rPr lang="en-US" sz="1867" dirty="0"/>
              <a:t>IPC facility provides two operations:</a:t>
            </a:r>
          </a:p>
          <a:p>
            <a:pPr lvl="1">
              <a:lnSpc>
                <a:spcPct val="90000"/>
              </a:lnSpc>
            </a:pPr>
            <a:r>
              <a:rPr lang="en-US" sz="1867" b="1" dirty="0"/>
              <a:t>send</a:t>
            </a:r>
            <a:r>
              <a:rPr lang="en-US" sz="1867" dirty="0"/>
              <a:t>(</a:t>
            </a:r>
            <a:r>
              <a:rPr lang="en-US" sz="1867" i="1" dirty="0"/>
              <a:t>message</a:t>
            </a:r>
            <a:r>
              <a:rPr lang="en-US" sz="1867" dirty="0"/>
              <a:t>) – message size fixed or variable </a:t>
            </a:r>
          </a:p>
          <a:p>
            <a:pPr lvl="1">
              <a:lnSpc>
                <a:spcPct val="90000"/>
              </a:lnSpc>
            </a:pPr>
            <a:r>
              <a:rPr lang="en-US" sz="1867" b="1" dirty="0"/>
              <a:t>receive</a:t>
            </a:r>
            <a:r>
              <a:rPr lang="en-US" sz="1867" dirty="0"/>
              <a:t>(</a:t>
            </a:r>
            <a:r>
              <a:rPr lang="en-US" sz="1867" i="1" dirty="0"/>
              <a:t>message</a:t>
            </a:r>
            <a:r>
              <a:rPr lang="en-US" sz="1867" dirty="0"/>
              <a:t>)</a:t>
            </a:r>
          </a:p>
          <a:p>
            <a:pPr>
              <a:lnSpc>
                <a:spcPct val="90000"/>
              </a:lnSpc>
            </a:pPr>
            <a:r>
              <a:rPr lang="en-US" sz="1867" dirty="0"/>
              <a:t>If </a:t>
            </a:r>
            <a:r>
              <a:rPr lang="en-US" sz="1867" i="1" dirty="0"/>
              <a:t>P</a:t>
            </a:r>
            <a:r>
              <a:rPr lang="en-US" sz="1867" dirty="0"/>
              <a:t> and </a:t>
            </a:r>
            <a:r>
              <a:rPr lang="en-US" sz="1867" i="1" dirty="0"/>
              <a:t>Q</a:t>
            </a:r>
            <a:r>
              <a:rPr lang="en-US" sz="1867" dirty="0"/>
              <a:t> wish to communicate, they need to:</a:t>
            </a:r>
          </a:p>
          <a:p>
            <a:pPr lvl="1">
              <a:lnSpc>
                <a:spcPct val="90000"/>
              </a:lnSpc>
            </a:pPr>
            <a:r>
              <a:rPr lang="en-US" sz="1867" dirty="0"/>
              <a:t>establish a </a:t>
            </a:r>
            <a:r>
              <a:rPr lang="en-US" sz="1867" i="1" dirty="0"/>
              <a:t>communication</a:t>
            </a:r>
            <a:r>
              <a:rPr lang="en-US" sz="1867" dirty="0"/>
              <a:t> </a:t>
            </a:r>
            <a:r>
              <a:rPr lang="en-US" sz="1867" i="1" dirty="0"/>
              <a:t>link</a:t>
            </a:r>
            <a:r>
              <a:rPr lang="en-US" sz="1867" dirty="0"/>
              <a:t> between them</a:t>
            </a:r>
          </a:p>
          <a:p>
            <a:pPr lvl="1">
              <a:lnSpc>
                <a:spcPct val="90000"/>
              </a:lnSpc>
            </a:pPr>
            <a:r>
              <a:rPr lang="en-US" sz="1867" dirty="0"/>
              <a:t>exchange messages via send/receive</a:t>
            </a:r>
          </a:p>
          <a:p>
            <a:pPr>
              <a:lnSpc>
                <a:spcPct val="90000"/>
              </a:lnSpc>
            </a:pPr>
            <a:r>
              <a:rPr lang="en-US" sz="1867" dirty="0"/>
              <a:t>Implementation of communication link</a:t>
            </a:r>
          </a:p>
          <a:p>
            <a:pPr lvl="1">
              <a:lnSpc>
                <a:spcPct val="90000"/>
              </a:lnSpc>
            </a:pPr>
            <a:r>
              <a:rPr lang="en-US" sz="1867" dirty="0"/>
              <a:t>physical (e.g., shared memory, hardware bus)</a:t>
            </a:r>
          </a:p>
          <a:p>
            <a:pPr lvl="1">
              <a:lnSpc>
                <a:spcPct val="90000"/>
              </a:lnSpc>
            </a:pPr>
            <a:r>
              <a:rPr lang="en-US" sz="1867" dirty="0"/>
              <a:t>logical (e.g., logical properties)</a:t>
            </a:r>
          </a:p>
        </p:txBody>
      </p:sp>
    </p:spTree>
    <p:extLst>
      <p:ext uri="{BB962C8B-B14F-4D97-AF65-F5344CB8AC3E}">
        <p14:creationId xmlns:p14="http://schemas.microsoft.com/office/powerpoint/2010/main" val="15862215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smtClean="0"/>
              <a:t>Synchronization</a:t>
            </a:r>
          </a:p>
        </p:txBody>
      </p:sp>
      <p:sp>
        <p:nvSpPr>
          <p:cNvPr id="41987" name="Rectangle 3"/>
          <p:cNvSpPr>
            <a:spLocks noGrp="1" noChangeArrowheads="1"/>
          </p:cNvSpPr>
          <p:nvPr>
            <p:ph idx="1"/>
          </p:nvPr>
        </p:nvSpPr>
        <p:spPr>
          <a:xfrm>
            <a:off x="806450" y="1477433"/>
            <a:ext cx="7469717" cy="4026959"/>
          </a:xfrm>
        </p:spPr>
        <p:txBody>
          <a:bodyPr>
            <a:normAutofit/>
          </a:bodyPr>
          <a:lstStyle/>
          <a:p>
            <a:pPr marL="361968" indent="-361968"/>
            <a:r>
              <a:rPr lang="en-US" smtClean="0"/>
              <a:t>Message passing may be either blocking or non-blocking</a:t>
            </a:r>
          </a:p>
          <a:p>
            <a:pPr marL="361968" indent="-361968"/>
            <a:endParaRPr lang="en-US" smtClean="0"/>
          </a:p>
          <a:p>
            <a:pPr marL="361968" indent="-361968"/>
            <a:r>
              <a:rPr lang="en-US" b="1" smtClean="0"/>
              <a:t>Blocking</a:t>
            </a:r>
            <a:r>
              <a:rPr lang="en-US" smtClean="0"/>
              <a:t> is considered </a:t>
            </a:r>
            <a:r>
              <a:rPr lang="en-US" b="1" smtClean="0"/>
              <a:t>synchronous</a:t>
            </a:r>
          </a:p>
          <a:p>
            <a:pPr marL="760980" lvl="1" indent="-325983"/>
            <a:r>
              <a:rPr lang="en-US" b="1" smtClean="0"/>
              <a:t>Blocking send </a:t>
            </a:r>
            <a:r>
              <a:rPr lang="en-US" smtClean="0"/>
              <a:t>has the sender block until the message is received</a:t>
            </a:r>
          </a:p>
          <a:p>
            <a:pPr marL="760980" lvl="1" indent="-325983"/>
            <a:r>
              <a:rPr lang="en-US" b="1" smtClean="0"/>
              <a:t>Blocking receive </a:t>
            </a:r>
            <a:r>
              <a:rPr lang="en-US" smtClean="0"/>
              <a:t>has the receiver block until a message is available</a:t>
            </a:r>
          </a:p>
          <a:p>
            <a:pPr marL="760980" lvl="1" indent="-325983"/>
            <a:endParaRPr lang="en-US" smtClean="0"/>
          </a:p>
          <a:p>
            <a:pPr marL="361968" indent="-361968"/>
            <a:r>
              <a:rPr lang="en-US" b="1" smtClean="0"/>
              <a:t>Non-blocking</a:t>
            </a:r>
            <a:r>
              <a:rPr lang="en-US" smtClean="0"/>
              <a:t> is considered </a:t>
            </a:r>
            <a:r>
              <a:rPr lang="en-US" b="1" smtClean="0"/>
              <a:t>asynchronous</a:t>
            </a:r>
          </a:p>
          <a:p>
            <a:pPr marL="760980" lvl="1" indent="-325983"/>
            <a:r>
              <a:rPr lang="en-US" b="1" smtClean="0"/>
              <a:t>Non-blocking </a:t>
            </a:r>
            <a:r>
              <a:rPr lang="en-US" smtClean="0"/>
              <a:t>send has the sender send the message and continue</a:t>
            </a:r>
          </a:p>
          <a:p>
            <a:pPr marL="760980" lvl="1" indent="-325983"/>
            <a:r>
              <a:rPr lang="en-US" b="1" smtClean="0"/>
              <a:t>Non-blocking </a:t>
            </a:r>
            <a:r>
              <a:rPr lang="en-US" smtClean="0"/>
              <a:t>receive has the receiver receive a valid message or null</a:t>
            </a:r>
          </a:p>
        </p:txBody>
      </p:sp>
    </p:spTree>
    <p:extLst>
      <p:ext uri="{BB962C8B-B14F-4D97-AF65-F5344CB8AC3E}">
        <p14:creationId xmlns:p14="http://schemas.microsoft.com/office/powerpoint/2010/main" val="13169943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smtClean="0"/>
              <a:t>Buffering</a:t>
            </a:r>
          </a:p>
        </p:txBody>
      </p:sp>
      <p:sp>
        <p:nvSpPr>
          <p:cNvPr id="43011" name="Rectangle 3"/>
          <p:cNvSpPr>
            <a:spLocks noGrp="1" noChangeArrowheads="1"/>
          </p:cNvSpPr>
          <p:nvPr>
            <p:ph idx="1"/>
          </p:nvPr>
        </p:nvSpPr>
        <p:spPr>
          <a:xfrm>
            <a:off x="806450" y="1477433"/>
            <a:ext cx="7526867" cy="4026959"/>
          </a:xfrm>
        </p:spPr>
        <p:txBody>
          <a:bodyPr/>
          <a:lstStyle/>
          <a:p>
            <a:r>
              <a:rPr lang="en-US" smtClean="0"/>
              <a:t>Queue of messages attached to the link; implemented in one of three ways</a:t>
            </a:r>
          </a:p>
          <a:p>
            <a:pPr lvl="1">
              <a:buFont typeface="Monotype Sorts" charset="2"/>
              <a:buNone/>
            </a:pPr>
            <a:r>
              <a:rPr lang="en-US" smtClean="0">
                <a:solidFill>
                  <a:srgbClr val="CC6600"/>
                </a:solidFill>
              </a:rPr>
              <a:t>1.</a:t>
            </a:r>
            <a:r>
              <a:rPr lang="en-US" smtClean="0"/>
              <a:t>	Zero capacity – 0 messages</a:t>
            </a:r>
            <a:br>
              <a:rPr lang="en-US" smtClean="0"/>
            </a:br>
            <a:r>
              <a:rPr lang="en-US" smtClean="0"/>
              <a:t>Sender must wait for receiver (rendezvous)</a:t>
            </a:r>
          </a:p>
          <a:p>
            <a:pPr lvl="1">
              <a:buFont typeface="Monotype Sorts" charset="2"/>
              <a:buNone/>
            </a:pPr>
            <a:r>
              <a:rPr lang="en-US" smtClean="0">
                <a:solidFill>
                  <a:srgbClr val="CC6600"/>
                </a:solidFill>
              </a:rPr>
              <a:t>2.</a:t>
            </a:r>
            <a:r>
              <a:rPr lang="en-US" smtClean="0"/>
              <a:t>	Bounded capacity – finite length of </a:t>
            </a:r>
            <a:r>
              <a:rPr lang="en-US" i="1" smtClean="0"/>
              <a:t>n</a:t>
            </a:r>
            <a:r>
              <a:rPr lang="en-US" smtClean="0"/>
              <a:t> messages</a:t>
            </a:r>
            <a:br>
              <a:rPr lang="en-US" smtClean="0"/>
            </a:br>
            <a:r>
              <a:rPr lang="en-US" smtClean="0"/>
              <a:t>Sender must wait if link full</a:t>
            </a:r>
          </a:p>
          <a:p>
            <a:pPr lvl="1">
              <a:buFont typeface="Monotype Sorts" charset="2"/>
              <a:buNone/>
            </a:pPr>
            <a:r>
              <a:rPr lang="en-US" smtClean="0">
                <a:solidFill>
                  <a:srgbClr val="CC6600"/>
                </a:solidFill>
              </a:rPr>
              <a:t>3.</a:t>
            </a:r>
            <a:r>
              <a:rPr lang="en-US" smtClean="0"/>
              <a:t>	Unbounded capacity – infinite length </a:t>
            </a:r>
            <a:br>
              <a:rPr lang="en-US" smtClean="0"/>
            </a:br>
            <a:r>
              <a:rPr lang="en-US" smtClean="0"/>
              <a:t>Sender never waits</a:t>
            </a:r>
          </a:p>
        </p:txBody>
      </p:sp>
    </p:spTree>
    <p:extLst>
      <p:ext uri="{BB962C8B-B14F-4D97-AF65-F5344CB8AC3E}">
        <p14:creationId xmlns:p14="http://schemas.microsoft.com/office/powerpoint/2010/main" val="36240473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algn="ctr"/>
            <a:r>
              <a:rPr lang="en-US" sz="3800">
                <a:latin typeface="Times New Roman" pitchFamily="18" charset="0"/>
                <a:cs typeface="Times New Roman" pitchFamily="18" charset="0"/>
              </a:rPr>
              <a:t>Concurrent Execution</a:t>
            </a:r>
          </a:p>
        </p:txBody>
      </p:sp>
      <p:sp>
        <p:nvSpPr>
          <p:cNvPr id="103427" name="Rectangle 3"/>
          <p:cNvSpPr>
            <a:spLocks noGrp="1" noChangeArrowheads="1"/>
          </p:cNvSpPr>
          <p:nvPr>
            <p:ph idx="1"/>
          </p:nvPr>
        </p:nvSpPr>
        <p:spPr/>
        <p:txBody>
          <a:bodyPr>
            <a:normAutofit/>
          </a:bodyPr>
          <a:lstStyle/>
          <a:p>
            <a:r>
              <a:rPr lang="en-US" sz="2667" dirty="0">
                <a:latin typeface="Times New Roman" pitchFamily="18" charset="0"/>
                <a:cs typeface="Times New Roman" pitchFamily="18" charset="0"/>
              </a:rPr>
              <a:t>Concurrent execution has to give the same results as serial execution.</a:t>
            </a:r>
          </a:p>
          <a:p>
            <a:r>
              <a:rPr lang="en-US" sz="2667" dirty="0">
                <a:latin typeface="Times New Roman" pitchFamily="18" charset="0"/>
                <a:cs typeface="Times New Roman" pitchFamily="18" charset="0"/>
              </a:rPr>
              <a:t>Concurrent execution with shared data leads us to speak about synchronization.</a:t>
            </a:r>
          </a:p>
          <a:p>
            <a:r>
              <a:rPr lang="en-US" sz="2667" dirty="0">
                <a:latin typeface="Times New Roman" pitchFamily="18" charset="0"/>
                <a:cs typeface="Times New Roman" pitchFamily="18" charset="0"/>
              </a:rPr>
              <a:t>To get data consistency we should have mechanism to avoid data inconsistency problem. </a:t>
            </a:r>
          </a:p>
          <a:p>
            <a:r>
              <a:rPr lang="en-US" sz="2667" dirty="0">
                <a:latin typeface="Times New Roman" pitchFamily="18" charset="0"/>
                <a:cs typeface="Times New Roman" pitchFamily="18" charset="0"/>
              </a:rPr>
              <a:t>Synchronization as embedded system topic we have to speak about producer consumer problem </a:t>
            </a:r>
          </a:p>
        </p:txBody>
      </p:sp>
    </p:spTree>
    <p:extLst>
      <p:ext uri="{BB962C8B-B14F-4D97-AF65-F5344CB8AC3E}">
        <p14:creationId xmlns:p14="http://schemas.microsoft.com/office/powerpoint/2010/main" val="635519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06450" y="1477433"/>
            <a:ext cx="7790154" cy="4026959"/>
          </a:xfrm>
        </p:spPr>
        <p:txBody>
          <a:bodyPr/>
          <a:lstStyle/>
          <a:p>
            <a:pPr algn="just"/>
            <a:r>
              <a:rPr lang="en-US" sz="2133" dirty="0">
                <a:latin typeface="Times New Roman" pitchFamily="18" charset="0"/>
                <a:cs typeface="Times New Roman" pitchFamily="18" charset="0"/>
              </a:rPr>
              <a:t>Maintaining data consistency requires mechanisms to ensure the orderly execution of cooperating </a:t>
            </a:r>
            <a:r>
              <a:rPr lang="en-US" sz="2133" dirty="0">
                <a:latin typeface="Times New Roman" pitchFamily="18" charset="0"/>
                <a:cs typeface="Times New Roman" pitchFamily="18" charset="0"/>
              </a:rPr>
              <a:t>processes</a:t>
            </a:r>
          </a:p>
          <a:p>
            <a:pPr algn="just"/>
            <a:endParaRPr lang="en-US" sz="2133" dirty="0">
              <a:latin typeface="Times New Roman" pitchFamily="18" charset="0"/>
              <a:cs typeface="Times New Roman" pitchFamily="18" charset="0"/>
            </a:endParaRPr>
          </a:p>
          <a:p>
            <a:pPr algn="just"/>
            <a:r>
              <a:rPr lang="en-US" sz="2133" dirty="0">
                <a:latin typeface="Times New Roman" pitchFamily="18" charset="0"/>
                <a:cs typeface="Times New Roman" pitchFamily="18" charset="0"/>
              </a:rPr>
              <a:t>Suppose that we wanted to provide a solution to the consumer-producer problem that fills </a:t>
            </a:r>
            <a:r>
              <a:rPr lang="en-US" sz="2133" b="1" dirty="0">
                <a:solidFill>
                  <a:srgbClr val="FF0000"/>
                </a:solidFill>
                <a:latin typeface="Times New Roman" pitchFamily="18" charset="0"/>
                <a:cs typeface="Times New Roman" pitchFamily="18" charset="0"/>
              </a:rPr>
              <a:t>all</a:t>
            </a:r>
            <a:r>
              <a:rPr lang="en-US" sz="2133" dirty="0">
                <a:solidFill>
                  <a:srgbClr val="FF0000"/>
                </a:solidFill>
                <a:latin typeface="Times New Roman" pitchFamily="18" charset="0"/>
                <a:cs typeface="Times New Roman" pitchFamily="18" charset="0"/>
              </a:rPr>
              <a:t> </a:t>
            </a:r>
            <a:r>
              <a:rPr lang="en-US" sz="2133" dirty="0">
                <a:latin typeface="Times New Roman" pitchFamily="18" charset="0"/>
                <a:cs typeface="Times New Roman" pitchFamily="18" charset="0"/>
              </a:rPr>
              <a:t>the buffers. We can do so by having an integer </a:t>
            </a:r>
            <a:r>
              <a:rPr lang="en-US" sz="2133" b="1" dirty="0">
                <a:solidFill>
                  <a:srgbClr val="FF0000"/>
                </a:solidFill>
                <a:latin typeface="Times New Roman" pitchFamily="18" charset="0"/>
                <a:cs typeface="Times New Roman" pitchFamily="18" charset="0"/>
              </a:rPr>
              <a:t>count</a:t>
            </a:r>
            <a:r>
              <a:rPr lang="en-US" sz="2133" b="1" dirty="0">
                <a:solidFill>
                  <a:srgbClr val="0000FF"/>
                </a:solidFill>
                <a:latin typeface="Times New Roman" pitchFamily="18" charset="0"/>
                <a:cs typeface="Times New Roman" pitchFamily="18" charset="0"/>
              </a:rPr>
              <a:t> </a:t>
            </a:r>
            <a:r>
              <a:rPr lang="en-US" sz="2133" dirty="0">
                <a:latin typeface="Times New Roman" pitchFamily="18" charset="0"/>
                <a:cs typeface="Times New Roman" pitchFamily="18" charset="0"/>
              </a:rPr>
              <a:t>that keeps track of the number of full buffers.  Initially, count is set to 0.</a:t>
            </a:r>
          </a:p>
          <a:p>
            <a:pPr algn="just">
              <a:spcBef>
                <a:spcPts val="0"/>
              </a:spcBef>
            </a:pPr>
            <a:endParaRPr lang="en-US" sz="2133" dirty="0">
              <a:latin typeface="Times New Roman" pitchFamily="18" charset="0"/>
              <a:cs typeface="Times New Roman" pitchFamily="18" charset="0"/>
            </a:endParaRPr>
          </a:p>
          <a:p>
            <a:pPr algn="just">
              <a:spcBef>
                <a:spcPts val="0"/>
              </a:spcBef>
            </a:pPr>
            <a:r>
              <a:rPr lang="en-US" sz="2133" dirty="0">
                <a:latin typeface="Times New Roman" pitchFamily="18" charset="0"/>
                <a:cs typeface="Times New Roman" pitchFamily="18" charset="0"/>
              </a:rPr>
              <a:t> It is incremented by the producer after it produces a new buffer and is decremented by the consumer after it consumes a buffer.</a:t>
            </a:r>
          </a:p>
          <a:p>
            <a:endParaRPr lang="en-IN" dirty="0"/>
          </a:p>
        </p:txBody>
      </p:sp>
    </p:spTree>
    <p:extLst>
      <p:ext uri="{BB962C8B-B14F-4D97-AF65-F5344CB8AC3E}">
        <p14:creationId xmlns:p14="http://schemas.microsoft.com/office/powerpoint/2010/main" val="23960579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a:r>
              <a:rPr lang="en-US" sz="3800"/>
              <a:t>Producer Consumer Problem</a:t>
            </a:r>
          </a:p>
        </p:txBody>
      </p:sp>
      <p:sp>
        <p:nvSpPr>
          <p:cNvPr id="12291" name="Rectangle 3"/>
          <p:cNvSpPr>
            <a:spLocks noGrp="1" noChangeArrowheads="1"/>
          </p:cNvSpPr>
          <p:nvPr>
            <p:ph idx="1"/>
          </p:nvPr>
        </p:nvSpPr>
        <p:spPr>
          <a:xfrm>
            <a:off x="520311" y="1477433"/>
            <a:ext cx="8229600" cy="4501934"/>
          </a:xfrm>
        </p:spPr>
        <p:txBody>
          <a:bodyPr/>
          <a:lstStyle/>
          <a:p>
            <a:pPr algn="just"/>
            <a:r>
              <a:rPr lang="en-US" sz="2400" dirty="0">
                <a:latin typeface="Times New Roman" pitchFamily="18" charset="0"/>
                <a:cs typeface="Times New Roman" pitchFamily="18" charset="0"/>
              </a:rPr>
              <a:t>The producer-consumer problem illustrates the need for synchronization in systems where many processes share a resource. </a:t>
            </a:r>
          </a:p>
          <a:p>
            <a:pPr algn="just"/>
            <a:r>
              <a:rPr lang="en-US" sz="2400" dirty="0">
                <a:latin typeface="Times New Roman" pitchFamily="18" charset="0"/>
                <a:cs typeface="Times New Roman" pitchFamily="18" charset="0"/>
              </a:rPr>
              <a:t>In </a:t>
            </a:r>
            <a:r>
              <a:rPr lang="en-US" sz="2400" dirty="0">
                <a:latin typeface="Times New Roman" pitchFamily="18" charset="0"/>
                <a:cs typeface="Times New Roman" pitchFamily="18" charset="0"/>
              </a:rPr>
              <a:t>the problem, two processes share a fixed-size buffer. One process produces information and puts it in the buffer, while the other process consumes information from the buffer.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These </a:t>
            </a:r>
            <a:r>
              <a:rPr lang="en-US" sz="2400" dirty="0">
                <a:latin typeface="Times New Roman" pitchFamily="18" charset="0"/>
                <a:cs typeface="Times New Roman" pitchFamily="18" charset="0"/>
              </a:rPr>
              <a:t>processes do not take turns accessing the buffer, they both work concurrently.</a:t>
            </a:r>
          </a:p>
          <a:p>
            <a:r>
              <a:rPr lang="en-US" sz="2667" dirty="0">
                <a:latin typeface="Times New Roman" pitchFamily="18" charset="0"/>
                <a:cs typeface="Times New Roman" pitchFamily="18" charset="0"/>
              </a:rPr>
              <a:t>It is also called bounded buffer problem </a:t>
            </a:r>
          </a:p>
        </p:txBody>
      </p:sp>
    </p:spTree>
    <p:extLst>
      <p:ext uri="{BB962C8B-B14F-4D97-AF65-F5344CB8AC3E}">
        <p14:creationId xmlns:p14="http://schemas.microsoft.com/office/powerpoint/2010/main" val="39362094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Producer </a:t>
            </a:r>
          </a:p>
        </p:txBody>
      </p:sp>
      <p:sp>
        <p:nvSpPr>
          <p:cNvPr id="7171" name="Rectangle 3"/>
          <p:cNvSpPr>
            <a:spLocks noGrp="1" noChangeArrowheads="1"/>
          </p:cNvSpPr>
          <p:nvPr>
            <p:ph idx="1"/>
          </p:nvPr>
        </p:nvSpPr>
        <p:spPr>
          <a:xfrm>
            <a:off x="941917" y="1633009"/>
            <a:ext cx="6732059" cy="4051300"/>
          </a:xfrm>
        </p:spPr>
        <p:txBody>
          <a:bodyPr/>
          <a:lstStyle/>
          <a:p>
            <a:pPr>
              <a:buFont typeface="Monotype Sorts" charset="2"/>
              <a:buNone/>
            </a:pPr>
            <a:r>
              <a:rPr lang="en-US" sz="1867" dirty="0">
                <a:solidFill>
                  <a:srgbClr val="0000FF"/>
                </a:solidFill>
                <a:latin typeface="Times New Roman" pitchFamily="18" charset="0"/>
                <a:cs typeface="Times New Roman" pitchFamily="18" charset="0"/>
              </a:rPr>
              <a:t>while (true) {</a:t>
            </a:r>
          </a:p>
          <a:p>
            <a:pPr>
              <a:buFont typeface="Monotype Sorts" charset="2"/>
              <a:buNone/>
            </a:pPr>
            <a:r>
              <a:rPr lang="en-US" sz="1867" dirty="0">
                <a:solidFill>
                  <a:srgbClr val="0000FF"/>
                </a:solidFill>
                <a:latin typeface="Times New Roman" pitchFamily="18" charset="0"/>
                <a:cs typeface="Times New Roman" pitchFamily="18" charset="0"/>
              </a:rPr>
              <a:t>               /*  produce an item and put in </a:t>
            </a:r>
            <a:r>
              <a:rPr lang="en-US" sz="1867" dirty="0" err="1">
                <a:solidFill>
                  <a:srgbClr val="0000FF"/>
                </a:solidFill>
                <a:latin typeface="Times New Roman" pitchFamily="18" charset="0"/>
                <a:cs typeface="Times New Roman" pitchFamily="18" charset="0"/>
              </a:rPr>
              <a:t>nextProduced</a:t>
            </a:r>
            <a:r>
              <a:rPr lang="en-US" sz="1867" dirty="0">
                <a:solidFill>
                  <a:srgbClr val="0000FF"/>
                </a:solidFill>
                <a:latin typeface="Times New Roman" pitchFamily="18" charset="0"/>
                <a:cs typeface="Times New Roman" pitchFamily="18" charset="0"/>
              </a:rPr>
              <a:t>  */</a:t>
            </a:r>
          </a:p>
          <a:p>
            <a:pPr>
              <a:buFont typeface="Monotype Sorts" charset="2"/>
              <a:buNone/>
            </a:pPr>
            <a:r>
              <a:rPr lang="en-US" sz="1867" dirty="0">
                <a:solidFill>
                  <a:srgbClr val="0000FF"/>
                </a:solidFill>
                <a:latin typeface="Times New Roman" pitchFamily="18" charset="0"/>
                <a:cs typeface="Times New Roman" pitchFamily="18" charset="0"/>
              </a:rPr>
              <a:t>	      while (counter == BUFFER_SIZE)</a:t>
            </a:r>
          </a:p>
          <a:p>
            <a:pPr>
              <a:buFont typeface="Monotype Sorts" charset="2"/>
              <a:buNone/>
            </a:pPr>
            <a:r>
              <a:rPr lang="en-US" sz="1867" dirty="0">
                <a:solidFill>
                  <a:srgbClr val="0000FF"/>
                </a:solidFill>
                <a:latin typeface="Times New Roman" pitchFamily="18" charset="0"/>
                <a:cs typeface="Times New Roman" pitchFamily="18" charset="0"/>
              </a:rPr>
              <a:t>			; // do nothing</a:t>
            </a:r>
          </a:p>
          <a:p>
            <a:pPr>
              <a:buFont typeface="Monotype Sorts" charset="2"/>
              <a:buNone/>
            </a:pPr>
            <a:r>
              <a:rPr lang="en-US" sz="1867" dirty="0">
                <a:solidFill>
                  <a:srgbClr val="0000FF"/>
                </a:solidFill>
                <a:latin typeface="Times New Roman" pitchFamily="18" charset="0"/>
                <a:cs typeface="Times New Roman" pitchFamily="18" charset="0"/>
              </a:rPr>
              <a:t>		       buffer [in] = </a:t>
            </a:r>
            <a:r>
              <a:rPr lang="en-US" sz="1867" dirty="0" err="1">
                <a:solidFill>
                  <a:srgbClr val="0000FF"/>
                </a:solidFill>
                <a:latin typeface="Times New Roman" pitchFamily="18" charset="0"/>
                <a:cs typeface="Times New Roman" pitchFamily="18" charset="0"/>
              </a:rPr>
              <a:t>nextProduced</a:t>
            </a:r>
            <a:r>
              <a:rPr lang="en-US" sz="1867" dirty="0">
                <a:solidFill>
                  <a:srgbClr val="0000FF"/>
                </a:solidFill>
                <a:latin typeface="Times New Roman" pitchFamily="18" charset="0"/>
                <a:cs typeface="Times New Roman" pitchFamily="18" charset="0"/>
              </a:rPr>
              <a:t>;</a:t>
            </a:r>
          </a:p>
          <a:p>
            <a:pPr>
              <a:buFont typeface="Monotype Sorts" charset="2"/>
              <a:buNone/>
            </a:pPr>
            <a:r>
              <a:rPr lang="en-US" sz="1867" dirty="0">
                <a:solidFill>
                  <a:srgbClr val="0000FF"/>
                </a:solidFill>
                <a:latin typeface="Times New Roman" pitchFamily="18" charset="0"/>
                <a:cs typeface="Times New Roman" pitchFamily="18" charset="0"/>
              </a:rPr>
              <a:t>		       in = (in + 1) % BUFFER_SIZE;</a:t>
            </a:r>
          </a:p>
          <a:p>
            <a:pPr>
              <a:buFont typeface="Monotype Sorts" charset="2"/>
              <a:buNone/>
            </a:pPr>
            <a:r>
              <a:rPr lang="en-US" sz="1867" dirty="0">
                <a:solidFill>
                  <a:srgbClr val="0000FF"/>
                </a:solidFill>
                <a:latin typeface="Times New Roman" pitchFamily="18" charset="0"/>
                <a:cs typeface="Times New Roman" pitchFamily="18" charset="0"/>
              </a:rPr>
              <a:t>		       counter++;</a:t>
            </a:r>
          </a:p>
          <a:p>
            <a:pPr>
              <a:buFont typeface="Monotype Sorts" charset="2"/>
              <a:buNone/>
            </a:pPr>
            <a:r>
              <a:rPr lang="en-US" sz="1867"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7559134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Consumer</a:t>
            </a:r>
          </a:p>
        </p:txBody>
      </p:sp>
      <p:sp>
        <p:nvSpPr>
          <p:cNvPr id="8195" name="Rectangle 3"/>
          <p:cNvSpPr>
            <a:spLocks noGrp="1" noChangeArrowheads="1"/>
          </p:cNvSpPr>
          <p:nvPr>
            <p:ph idx="1"/>
          </p:nvPr>
        </p:nvSpPr>
        <p:spPr>
          <a:xfrm>
            <a:off x="827617" y="1290109"/>
            <a:ext cx="6877050" cy="4320117"/>
          </a:xfrm>
        </p:spPr>
        <p:txBody>
          <a:bodyPr/>
          <a:lstStyle/>
          <a:p>
            <a:pPr>
              <a:buFont typeface="Monotype Sorts" charset="2"/>
              <a:buNone/>
            </a:pPr>
            <a:endParaRPr lang="en-US" sz="1867" dirty="0">
              <a:latin typeface="Times New Roman" pitchFamily="18" charset="0"/>
              <a:cs typeface="Times New Roman" pitchFamily="18" charset="0"/>
            </a:endParaRPr>
          </a:p>
          <a:p>
            <a:pPr>
              <a:buFont typeface="Monotype Sorts" charset="2"/>
              <a:buNone/>
            </a:pPr>
            <a:r>
              <a:rPr lang="en-US" sz="1867" dirty="0">
                <a:solidFill>
                  <a:srgbClr val="0000FF"/>
                </a:solidFill>
                <a:latin typeface="Times New Roman" pitchFamily="18" charset="0"/>
                <a:cs typeface="Times New Roman" pitchFamily="18" charset="0"/>
              </a:rPr>
              <a:t>    while (true)  {</a:t>
            </a:r>
          </a:p>
          <a:p>
            <a:pPr>
              <a:buFont typeface="Monotype Sorts" charset="2"/>
              <a:buNone/>
            </a:pPr>
            <a:r>
              <a:rPr lang="en-US" sz="1867" dirty="0">
                <a:solidFill>
                  <a:srgbClr val="0000FF"/>
                </a:solidFill>
                <a:latin typeface="Times New Roman" pitchFamily="18" charset="0"/>
                <a:cs typeface="Times New Roman" pitchFamily="18" charset="0"/>
              </a:rPr>
              <a:t>	        while (counter == 0)</a:t>
            </a:r>
          </a:p>
          <a:p>
            <a:pPr>
              <a:buFont typeface="Monotype Sorts" charset="2"/>
              <a:buNone/>
            </a:pPr>
            <a:r>
              <a:rPr lang="en-US" sz="1867" dirty="0">
                <a:solidFill>
                  <a:srgbClr val="0000FF"/>
                </a:solidFill>
                <a:latin typeface="Times New Roman" pitchFamily="18" charset="0"/>
                <a:cs typeface="Times New Roman" pitchFamily="18" charset="0"/>
              </a:rPr>
              <a:t>		        ; // do nothing</a:t>
            </a:r>
          </a:p>
          <a:p>
            <a:pPr>
              <a:buFont typeface="Monotype Sorts" charset="2"/>
              <a:buNone/>
            </a:pPr>
            <a:r>
              <a:rPr lang="en-US" sz="1867" dirty="0">
                <a:solidFill>
                  <a:srgbClr val="0000FF"/>
                </a:solidFill>
                <a:latin typeface="Times New Roman" pitchFamily="18" charset="0"/>
                <a:cs typeface="Times New Roman" pitchFamily="18" charset="0"/>
              </a:rPr>
              <a:t>		        </a:t>
            </a:r>
            <a:r>
              <a:rPr lang="en-US" sz="1867" dirty="0" err="1">
                <a:solidFill>
                  <a:srgbClr val="0000FF"/>
                </a:solidFill>
                <a:latin typeface="Times New Roman" pitchFamily="18" charset="0"/>
                <a:cs typeface="Times New Roman" pitchFamily="18" charset="0"/>
              </a:rPr>
              <a:t>nextConsumed</a:t>
            </a:r>
            <a:r>
              <a:rPr lang="en-US" sz="1867" dirty="0">
                <a:solidFill>
                  <a:srgbClr val="0000FF"/>
                </a:solidFill>
                <a:latin typeface="Times New Roman" pitchFamily="18" charset="0"/>
                <a:cs typeface="Times New Roman" pitchFamily="18" charset="0"/>
              </a:rPr>
              <a:t> =  buffer[out];</a:t>
            </a:r>
          </a:p>
          <a:p>
            <a:pPr>
              <a:buFont typeface="Monotype Sorts" charset="2"/>
              <a:buNone/>
            </a:pPr>
            <a:r>
              <a:rPr lang="en-US" sz="1867" dirty="0">
                <a:solidFill>
                  <a:srgbClr val="0000FF"/>
                </a:solidFill>
                <a:latin typeface="Times New Roman" pitchFamily="18" charset="0"/>
                <a:cs typeface="Times New Roman" pitchFamily="18" charset="0"/>
              </a:rPr>
              <a:t>		         out = (out + 1) % BUFFER_SIZE;</a:t>
            </a:r>
          </a:p>
          <a:p>
            <a:pPr>
              <a:buFont typeface="Monotype Sorts" charset="2"/>
              <a:buNone/>
            </a:pPr>
            <a:r>
              <a:rPr lang="en-US" sz="1867" dirty="0">
                <a:solidFill>
                  <a:srgbClr val="0000FF"/>
                </a:solidFill>
                <a:latin typeface="Times New Roman" pitchFamily="18" charset="0"/>
                <a:cs typeface="Times New Roman" pitchFamily="18" charset="0"/>
              </a:rPr>
              <a:t>	                  counter--;</a:t>
            </a:r>
          </a:p>
          <a:p>
            <a:pPr>
              <a:buFont typeface="Monotype Sorts" charset="2"/>
              <a:buNone/>
            </a:pPr>
            <a:r>
              <a:rPr lang="en-US" sz="1867" dirty="0">
                <a:solidFill>
                  <a:srgbClr val="0000FF"/>
                </a:solidFill>
                <a:latin typeface="Times New Roman" pitchFamily="18" charset="0"/>
                <a:cs typeface="Times New Roman" pitchFamily="18" charset="0"/>
              </a:rPr>
              <a:t>			/*  consume the item in </a:t>
            </a:r>
            <a:r>
              <a:rPr lang="en-US" sz="1867" dirty="0" err="1">
                <a:solidFill>
                  <a:srgbClr val="0000FF"/>
                </a:solidFill>
                <a:latin typeface="Times New Roman" pitchFamily="18" charset="0"/>
                <a:cs typeface="Times New Roman" pitchFamily="18" charset="0"/>
              </a:rPr>
              <a:t>nextConsumed</a:t>
            </a:r>
            <a:r>
              <a:rPr lang="en-US" sz="1867" dirty="0">
                <a:solidFill>
                  <a:srgbClr val="0000FF"/>
                </a:solidFill>
                <a:latin typeface="Times New Roman" pitchFamily="18" charset="0"/>
                <a:cs typeface="Times New Roman" pitchFamily="18" charset="0"/>
              </a:rPr>
              <a:t>  */</a:t>
            </a:r>
          </a:p>
          <a:p>
            <a:pPr>
              <a:buFont typeface="Monotype Sorts" charset="2"/>
              <a:buNone/>
            </a:pPr>
            <a:r>
              <a:rPr lang="en-US" sz="1867"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20309303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p:txBody>
          <a:bodyPr/>
          <a:lstStyle/>
          <a:p>
            <a:pPr eaLnBrk="1" hangingPunct="1"/>
            <a:r>
              <a:rPr lang="en-US" smtClean="0"/>
              <a:t>Race Condition</a:t>
            </a:r>
          </a:p>
        </p:txBody>
      </p:sp>
      <p:sp>
        <p:nvSpPr>
          <p:cNvPr id="9219" name="Rectangle 1027"/>
          <p:cNvSpPr>
            <a:spLocks noGrp="1" noChangeArrowheads="1"/>
          </p:cNvSpPr>
          <p:nvPr>
            <p:ph idx="1"/>
          </p:nvPr>
        </p:nvSpPr>
        <p:spPr>
          <a:xfrm>
            <a:off x="827617" y="1518709"/>
            <a:ext cx="8067675" cy="4598458"/>
          </a:xfrm>
        </p:spPr>
        <p:txBody>
          <a:bodyPr>
            <a:normAutofit/>
          </a:bodyPr>
          <a:lstStyle/>
          <a:p>
            <a:pPr>
              <a:lnSpc>
                <a:spcPct val="90000"/>
              </a:lnSpc>
            </a:pPr>
            <a:r>
              <a:rPr lang="en-US" sz="1533" dirty="0">
                <a:solidFill>
                  <a:srgbClr val="0000FF"/>
                </a:solidFill>
              </a:rPr>
              <a:t>counter++</a:t>
            </a:r>
            <a:r>
              <a:rPr lang="en-US" sz="1533" dirty="0"/>
              <a:t> could be implemented as</a:t>
            </a:r>
            <a:br>
              <a:rPr lang="en-US" sz="1533" dirty="0"/>
            </a:br>
            <a:r>
              <a:rPr lang="en-US" sz="1533" dirty="0"/>
              <a:t/>
            </a:r>
            <a:br>
              <a:rPr lang="en-US" sz="1533" dirty="0"/>
            </a:br>
            <a:r>
              <a:rPr lang="en-US" sz="1533" dirty="0"/>
              <a:t>     </a:t>
            </a:r>
            <a:r>
              <a:rPr lang="en-US" sz="1533" dirty="0">
                <a:solidFill>
                  <a:srgbClr val="0000FF"/>
                </a:solidFill>
              </a:rPr>
              <a:t>register1 = counter</a:t>
            </a:r>
            <a:br>
              <a:rPr lang="en-US" sz="1533" dirty="0">
                <a:solidFill>
                  <a:srgbClr val="0000FF"/>
                </a:solidFill>
              </a:rPr>
            </a:br>
            <a:r>
              <a:rPr lang="en-US" sz="1533" dirty="0">
                <a:solidFill>
                  <a:srgbClr val="0000FF"/>
                </a:solidFill>
              </a:rPr>
              <a:t>     register1 = register1 + 1</a:t>
            </a:r>
            <a:br>
              <a:rPr lang="en-US" sz="1533" dirty="0">
                <a:solidFill>
                  <a:srgbClr val="0000FF"/>
                </a:solidFill>
              </a:rPr>
            </a:br>
            <a:r>
              <a:rPr lang="en-US" sz="1533" dirty="0">
                <a:solidFill>
                  <a:srgbClr val="0000FF"/>
                </a:solidFill>
              </a:rPr>
              <a:t>     counter = register1</a:t>
            </a:r>
          </a:p>
          <a:p>
            <a:pPr>
              <a:lnSpc>
                <a:spcPct val="90000"/>
              </a:lnSpc>
            </a:pPr>
            <a:endParaRPr lang="en-US" sz="733" dirty="0">
              <a:solidFill>
                <a:srgbClr val="0000FF"/>
              </a:solidFill>
            </a:endParaRPr>
          </a:p>
          <a:p>
            <a:pPr>
              <a:lnSpc>
                <a:spcPct val="90000"/>
              </a:lnSpc>
            </a:pPr>
            <a:r>
              <a:rPr lang="en-US" sz="1533" dirty="0">
                <a:solidFill>
                  <a:schemeClr val="tx2"/>
                </a:solidFill>
              </a:rPr>
              <a:t>counter--</a:t>
            </a:r>
            <a:r>
              <a:rPr lang="en-US" sz="1533" dirty="0"/>
              <a:t> could be implemented as</a:t>
            </a:r>
            <a:br>
              <a:rPr lang="en-US" sz="1533" dirty="0"/>
            </a:br>
            <a:r>
              <a:rPr lang="en-US" sz="1533" dirty="0"/>
              <a:t/>
            </a:r>
            <a:br>
              <a:rPr lang="en-US" sz="1533" dirty="0"/>
            </a:br>
            <a:r>
              <a:rPr lang="en-US" sz="1533" dirty="0"/>
              <a:t>     </a:t>
            </a:r>
            <a:r>
              <a:rPr lang="en-US" sz="1533" dirty="0">
                <a:solidFill>
                  <a:schemeClr val="tx2"/>
                </a:solidFill>
              </a:rPr>
              <a:t>register2 = counter</a:t>
            </a:r>
            <a:br>
              <a:rPr lang="en-US" sz="1533" dirty="0">
                <a:solidFill>
                  <a:schemeClr val="tx2"/>
                </a:solidFill>
              </a:rPr>
            </a:br>
            <a:r>
              <a:rPr lang="en-US" sz="1533" dirty="0">
                <a:solidFill>
                  <a:schemeClr val="tx2"/>
                </a:solidFill>
              </a:rPr>
              <a:t>     register2 = register2 - 1</a:t>
            </a:r>
            <a:br>
              <a:rPr lang="en-US" sz="1533" dirty="0">
                <a:solidFill>
                  <a:schemeClr val="tx2"/>
                </a:solidFill>
              </a:rPr>
            </a:br>
            <a:r>
              <a:rPr lang="en-US" sz="1533" dirty="0">
                <a:solidFill>
                  <a:schemeClr val="tx2"/>
                </a:solidFill>
              </a:rPr>
              <a:t>     count = register2</a:t>
            </a:r>
          </a:p>
          <a:p>
            <a:pPr>
              <a:lnSpc>
                <a:spcPct val="90000"/>
              </a:lnSpc>
            </a:pPr>
            <a:endParaRPr lang="en-US" sz="733" dirty="0">
              <a:solidFill>
                <a:schemeClr val="tx2"/>
              </a:solidFill>
            </a:endParaRPr>
          </a:p>
          <a:p>
            <a:pPr>
              <a:lnSpc>
                <a:spcPct val="90000"/>
              </a:lnSpc>
            </a:pPr>
            <a:r>
              <a:rPr lang="en-US" sz="1533" dirty="0"/>
              <a:t>Consider this execution interleaving with “count = 5” initially:</a:t>
            </a:r>
          </a:p>
          <a:p>
            <a:pPr lvl="1">
              <a:lnSpc>
                <a:spcPct val="90000"/>
              </a:lnSpc>
              <a:buFont typeface="Monotype Sorts" charset="2"/>
              <a:buNone/>
            </a:pPr>
            <a:r>
              <a:rPr lang="en-US" sz="1533" dirty="0"/>
              <a:t>	</a:t>
            </a:r>
            <a:r>
              <a:rPr lang="en-US" dirty="0" smtClean="0"/>
              <a:t>S0: producer execute </a:t>
            </a:r>
            <a:r>
              <a:rPr lang="en-US" dirty="0" smtClean="0">
                <a:solidFill>
                  <a:srgbClr val="0000FF"/>
                </a:solidFill>
              </a:rPr>
              <a:t>register1 = counter</a:t>
            </a:r>
            <a:r>
              <a:rPr lang="en-US" dirty="0" smtClean="0"/>
              <a:t>   {register1 = 5}</a:t>
            </a:r>
            <a:br>
              <a:rPr lang="en-US" dirty="0" smtClean="0"/>
            </a:br>
            <a:r>
              <a:rPr lang="en-US" dirty="0" smtClean="0"/>
              <a:t>S1: producer execute </a:t>
            </a:r>
            <a:r>
              <a:rPr lang="en-US" dirty="0" smtClean="0">
                <a:solidFill>
                  <a:srgbClr val="0000FF"/>
                </a:solidFill>
              </a:rPr>
              <a:t>register1 = register1 + 1  </a:t>
            </a:r>
            <a:r>
              <a:rPr lang="en-US" dirty="0" smtClean="0"/>
              <a:t> {register1 = 6} </a:t>
            </a:r>
            <a:br>
              <a:rPr lang="en-US" dirty="0" smtClean="0"/>
            </a:br>
            <a:r>
              <a:rPr lang="en-US" dirty="0" smtClean="0"/>
              <a:t>S2: consumer execute </a:t>
            </a:r>
            <a:r>
              <a:rPr lang="en-US" dirty="0" smtClean="0">
                <a:solidFill>
                  <a:schemeClr val="tx2"/>
                </a:solidFill>
              </a:rPr>
              <a:t>register2 = counter</a:t>
            </a:r>
            <a:r>
              <a:rPr lang="en-US" dirty="0" smtClean="0"/>
              <a:t>   {register2 = 5} </a:t>
            </a:r>
            <a:br>
              <a:rPr lang="en-US" dirty="0" smtClean="0"/>
            </a:br>
            <a:r>
              <a:rPr lang="en-US" dirty="0" smtClean="0"/>
              <a:t>S3: consumer execute </a:t>
            </a:r>
            <a:r>
              <a:rPr lang="en-US" dirty="0" smtClean="0">
                <a:solidFill>
                  <a:schemeClr val="tx2"/>
                </a:solidFill>
              </a:rPr>
              <a:t>register2 = register2 - 1</a:t>
            </a:r>
            <a:r>
              <a:rPr lang="en-US" dirty="0" smtClean="0"/>
              <a:t>   {register2 = 4} </a:t>
            </a:r>
            <a:br>
              <a:rPr lang="en-US" dirty="0" smtClean="0"/>
            </a:br>
            <a:r>
              <a:rPr lang="en-US" dirty="0" smtClean="0"/>
              <a:t>S4: producer execute </a:t>
            </a:r>
            <a:r>
              <a:rPr lang="en-US" dirty="0" smtClean="0">
                <a:solidFill>
                  <a:srgbClr val="0000FF"/>
                </a:solidFill>
              </a:rPr>
              <a:t>counter = register1</a:t>
            </a:r>
            <a:r>
              <a:rPr lang="en-US" dirty="0" smtClean="0"/>
              <a:t>   {count = 6 } </a:t>
            </a:r>
            <a:br>
              <a:rPr lang="en-US" dirty="0" smtClean="0"/>
            </a:br>
            <a:r>
              <a:rPr lang="en-US" dirty="0" smtClean="0"/>
              <a:t>S5: consumer execute </a:t>
            </a:r>
            <a:r>
              <a:rPr lang="en-US" dirty="0" smtClean="0">
                <a:solidFill>
                  <a:schemeClr val="tx2"/>
                </a:solidFill>
              </a:rPr>
              <a:t>counter = register2</a:t>
            </a:r>
            <a:r>
              <a:rPr lang="en-US" dirty="0" smtClean="0"/>
              <a:t>   {count = 4}</a:t>
            </a:r>
          </a:p>
          <a:p>
            <a:pPr lvl="1">
              <a:lnSpc>
                <a:spcPct val="90000"/>
              </a:lnSpc>
              <a:buFont typeface="Monotype Sorts" charset="2"/>
              <a:buNone/>
            </a:pPr>
            <a:endParaRPr lang="en-US" dirty="0" smtClean="0"/>
          </a:p>
        </p:txBody>
      </p:sp>
    </p:spTree>
    <p:extLst>
      <p:ext uri="{BB962C8B-B14F-4D97-AF65-F5344CB8AC3E}">
        <p14:creationId xmlns:p14="http://schemas.microsoft.com/office/powerpoint/2010/main" val="559625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06450" y="1477434"/>
            <a:ext cx="7827477" cy="4489493"/>
          </a:xfrm>
        </p:spPr>
        <p:txBody>
          <a:bodyPr>
            <a:normAutofit/>
          </a:bodyPr>
          <a:lstStyle/>
          <a:p>
            <a:pPr algn="just">
              <a:spcBef>
                <a:spcPts val="0"/>
              </a:spcBef>
            </a:pPr>
            <a:r>
              <a:rPr lang="en-IN" sz="1867" dirty="0">
                <a:latin typeface="Times New Roman" pitchFamily="18" charset="0"/>
                <a:cs typeface="Times New Roman" pitchFamily="18" charset="0"/>
              </a:rPr>
              <a:t>Now  we </a:t>
            </a:r>
            <a:r>
              <a:rPr lang="en-IN" sz="1867" dirty="0">
                <a:latin typeface="Times New Roman" pitchFamily="18" charset="0"/>
                <a:cs typeface="Times New Roman" pitchFamily="18" charset="0"/>
              </a:rPr>
              <a:t>have arrived at the incorrect state "counter == 4", </a:t>
            </a:r>
            <a:r>
              <a:rPr lang="en-IN" sz="1867" dirty="0">
                <a:latin typeface="Times New Roman" pitchFamily="18" charset="0"/>
                <a:cs typeface="Times New Roman" pitchFamily="18" charset="0"/>
              </a:rPr>
              <a:t>indicating that </a:t>
            </a:r>
            <a:r>
              <a:rPr lang="en-IN" sz="1867" dirty="0">
                <a:latin typeface="Times New Roman" pitchFamily="18" charset="0"/>
                <a:cs typeface="Times New Roman" pitchFamily="18" charset="0"/>
              </a:rPr>
              <a:t>four buffers are full</a:t>
            </a:r>
            <a:r>
              <a:rPr lang="en-IN" sz="1867" dirty="0">
                <a:latin typeface="Times New Roman" pitchFamily="18" charset="0"/>
                <a:cs typeface="Times New Roman" pitchFamily="18" charset="0"/>
              </a:rPr>
              <a:t>,  </a:t>
            </a:r>
            <a:r>
              <a:rPr lang="en-IN" sz="1867" dirty="0">
                <a:latin typeface="Times New Roman" pitchFamily="18" charset="0"/>
                <a:cs typeface="Times New Roman" pitchFamily="18" charset="0"/>
              </a:rPr>
              <a:t>If we reversed </a:t>
            </a:r>
            <a:r>
              <a:rPr lang="en-IN" sz="1867" dirty="0">
                <a:latin typeface="Times New Roman" pitchFamily="18" charset="0"/>
                <a:cs typeface="Times New Roman" pitchFamily="18" charset="0"/>
              </a:rPr>
              <a:t>the order </a:t>
            </a:r>
            <a:r>
              <a:rPr lang="en-IN" sz="1867" dirty="0">
                <a:latin typeface="Times New Roman" pitchFamily="18" charset="0"/>
                <a:cs typeface="Times New Roman" pitchFamily="18" charset="0"/>
              </a:rPr>
              <a:t>of the statements at S</a:t>
            </a:r>
            <a:r>
              <a:rPr lang="en-IN" sz="1867" dirty="0">
                <a:latin typeface="Times New Roman" pitchFamily="18" charset="0"/>
                <a:cs typeface="Times New Roman" pitchFamily="18" charset="0"/>
              </a:rPr>
              <a:t>4 </a:t>
            </a:r>
            <a:r>
              <a:rPr lang="en-IN" sz="1867" dirty="0">
                <a:latin typeface="Times New Roman" pitchFamily="18" charset="0"/>
                <a:cs typeface="Times New Roman" pitchFamily="18" charset="0"/>
              </a:rPr>
              <a:t>and </a:t>
            </a:r>
            <a:r>
              <a:rPr lang="en-IN" sz="1867" dirty="0">
                <a:latin typeface="Times New Roman" pitchFamily="18" charset="0"/>
                <a:cs typeface="Times New Roman" pitchFamily="18" charset="0"/>
              </a:rPr>
              <a:t>S5</a:t>
            </a:r>
            <a:r>
              <a:rPr lang="en-IN" sz="1867" dirty="0">
                <a:latin typeface="Times New Roman" pitchFamily="18" charset="0"/>
                <a:cs typeface="Times New Roman" pitchFamily="18" charset="0"/>
              </a:rPr>
              <a:t>, we would arrive at the incorrect </a:t>
            </a:r>
            <a:r>
              <a:rPr lang="en-IN" sz="1867" dirty="0">
                <a:latin typeface="Times New Roman" pitchFamily="18" charset="0"/>
                <a:cs typeface="Times New Roman" pitchFamily="18" charset="0"/>
              </a:rPr>
              <a:t>state "</a:t>
            </a:r>
            <a:r>
              <a:rPr lang="en-IN" sz="1867" dirty="0">
                <a:latin typeface="Times New Roman" pitchFamily="18" charset="0"/>
                <a:cs typeface="Times New Roman" pitchFamily="18" charset="0"/>
              </a:rPr>
              <a:t>counter </a:t>
            </a:r>
            <a:r>
              <a:rPr lang="en-IN" sz="1867" i="1" dirty="0">
                <a:latin typeface="Times New Roman" pitchFamily="18" charset="0"/>
                <a:cs typeface="Times New Roman" pitchFamily="18" charset="0"/>
              </a:rPr>
              <a:t>—— </a:t>
            </a:r>
            <a:r>
              <a:rPr lang="en-IN" sz="1867" dirty="0">
                <a:latin typeface="Times New Roman" pitchFamily="18" charset="0"/>
                <a:cs typeface="Times New Roman" pitchFamily="18" charset="0"/>
              </a:rPr>
              <a:t>6</a:t>
            </a:r>
            <a:r>
              <a:rPr lang="en-IN" sz="1867" dirty="0">
                <a:latin typeface="Times New Roman" pitchFamily="18" charset="0"/>
                <a:cs typeface="Times New Roman" pitchFamily="18" charset="0"/>
              </a:rPr>
              <a:t>".</a:t>
            </a:r>
          </a:p>
          <a:p>
            <a:pPr algn="just">
              <a:spcBef>
                <a:spcPts val="0"/>
              </a:spcBef>
            </a:pPr>
            <a:endParaRPr lang="en-IN" sz="1867" dirty="0">
              <a:latin typeface="Times New Roman" pitchFamily="18" charset="0"/>
              <a:cs typeface="Times New Roman" pitchFamily="18" charset="0"/>
            </a:endParaRPr>
          </a:p>
          <a:p>
            <a:pPr algn="just">
              <a:spcBef>
                <a:spcPts val="0"/>
              </a:spcBef>
            </a:pPr>
            <a:r>
              <a:rPr lang="en-IN" sz="1867" dirty="0">
                <a:latin typeface="Times New Roman" pitchFamily="18" charset="0"/>
                <a:cs typeface="Times New Roman" pitchFamily="18" charset="0"/>
              </a:rPr>
              <a:t>We would arrive at this incorrect state because we allowed both processes</a:t>
            </a:r>
          </a:p>
          <a:p>
            <a:pPr marL="0" indent="0" algn="just">
              <a:spcBef>
                <a:spcPts val="0"/>
              </a:spcBef>
              <a:buNone/>
            </a:pPr>
            <a:r>
              <a:rPr lang="en-IN" sz="1867" dirty="0">
                <a:latin typeface="Times New Roman" pitchFamily="18" charset="0"/>
                <a:cs typeface="Times New Roman" pitchFamily="18" charset="0"/>
              </a:rPr>
              <a:t>       to </a:t>
            </a:r>
            <a:r>
              <a:rPr lang="en-IN" sz="1867" dirty="0">
                <a:latin typeface="Times New Roman" pitchFamily="18" charset="0"/>
                <a:cs typeface="Times New Roman" pitchFamily="18" charset="0"/>
              </a:rPr>
              <a:t>manipulate the variable counter concurrently</a:t>
            </a:r>
            <a:r>
              <a:rPr lang="en-IN" sz="1867" dirty="0">
                <a:latin typeface="Times New Roman" pitchFamily="18" charset="0"/>
                <a:cs typeface="Times New Roman" pitchFamily="18" charset="0"/>
              </a:rPr>
              <a:t>.</a:t>
            </a:r>
          </a:p>
          <a:p>
            <a:pPr marL="0" indent="0" algn="just">
              <a:spcBef>
                <a:spcPts val="0"/>
              </a:spcBef>
              <a:buNone/>
            </a:pPr>
            <a:endParaRPr lang="en-IN" sz="1867" dirty="0">
              <a:latin typeface="Times New Roman" pitchFamily="18" charset="0"/>
              <a:cs typeface="Times New Roman" pitchFamily="18" charset="0"/>
            </a:endParaRPr>
          </a:p>
          <a:p>
            <a:pPr algn="just">
              <a:spcBef>
                <a:spcPts val="0"/>
              </a:spcBef>
            </a:pPr>
            <a:r>
              <a:rPr lang="en-IN" sz="1867" dirty="0">
                <a:latin typeface="Times New Roman" pitchFamily="18" charset="0"/>
                <a:cs typeface="Times New Roman" pitchFamily="18" charset="0"/>
              </a:rPr>
              <a:t> </a:t>
            </a:r>
            <a:r>
              <a:rPr lang="en-IN" sz="1867" dirty="0">
                <a:latin typeface="Times New Roman" pitchFamily="18" charset="0"/>
                <a:cs typeface="Times New Roman" pitchFamily="18" charset="0"/>
              </a:rPr>
              <a:t>A situation like this, </a:t>
            </a:r>
            <a:r>
              <a:rPr lang="en-IN" sz="1867" dirty="0">
                <a:latin typeface="Times New Roman" pitchFamily="18" charset="0"/>
                <a:cs typeface="Times New Roman" pitchFamily="18" charset="0"/>
              </a:rPr>
              <a:t>where several </a:t>
            </a:r>
            <a:r>
              <a:rPr lang="en-IN" sz="1867" dirty="0">
                <a:latin typeface="Times New Roman" pitchFamily="18" charset="0"/>
                <a:cs typeface="Times New Roman" pitchFamily="18" charset="0"/>
              </a:rPr>
              <a:t>processes access and manipulate the same data concurrently and </a:t>
            </a:r>
            <a:r>
              <a:rPr lang="en-IN" sz="1867" dirty="0">
                <a:latin typeface="Times New Roman" pitchFamily="18" charset="0"/>
                <a:cs typeface="Times New Roman" pitchFamily="18" charset="0"/>
              </a:rPr>
              <a:t>the outcome </a:t>
            </a:r>
            <a:r>
              <a:rPr lang="en-IN" sz="1867" dirty="0">
                <a:latin typeface="Times New Roman" pitchFamily="18" charset="0"/>
                <a:cs typeface="Times New Roman" pitchFamily="18" charset="0"/>
              </a:rPr>
              <a:t>of the execution depends on the particular order in which the </a:t>
            </a:r>
            <a:r>
              <a:rPr lang="en-IN" sz="1867" dirty="0">
                <a:latin typeface="Times New Roman" pitchFamily="18" charset="0"/>
                <a:cs typeface="Times New Roman" pitchFamily="18" charset="0"/>
              </a:rPr>
              <a:t>access takes </a:t>
            </a:r>
            <a:r>
              <a:rPr lang="en-IN" sz="1867" dirty="0">
                <a:latin typeface="Times New Roman" pitchFamily="18" charset="0"/>
                <a:cs typeface="Times New Roman" pitchFamily="18" charset="0"/>
              </a:rPr>
              <a:t>place, is called a </a:t>
            </a:r>
            <a:r>
              <a:rPr lang="en-IN" sz="1867" b="1" dirty="0">
                <a:latin typeface="Times New Roman" pitchFamily="18" charset="0"/>
                <a:cs typeface="Times New Roman" pitchFamily="18" charset="0"/>
              </a:rPr>
              <a:t>race condition. </a:t>
            </a:r>
            <a:endParaRPr lang="en-IN" sz="1867" b="1" dirty="0">
              <a:latin typeface="Times New Roman" pitchFamily="18" charset="0"/>
              <a:cs typeface="Times New Roman" pitchFamily="18" charset="0"/>
            </a:endParaRPr>
          </a:p>
          <a:p>
            <a:pPr algn="just">
              <a:spcBef>
                <a:spcPts val="0"/>
              </a:spcBef>
            </a:pPr>
            <a:endParaRPr lang="en-IN" sz="1867" b="1" dirty="0">
              <a:latin typeface="Times New Roman" pitchFamily="18" charset="0"/>
              <a:cs typeface="Times New Roman" pitchFamily="18" charset="0"/>
            </a:endParaRPr>
          </a:p>
          <a:p>
            <a:pPr algn="just">
              <a:spcBef>
                <a:spcPts val="0"/>
              </a:spcBef>
            </a:pPr>
            <a:r>
              <a:rPr lang="en-IN" sz="1867" dirty="0">
                <a:latin typeface="Times New Roman" pitchFamily="18" charset="0"/>
                <a:cs typeface="Times New Roman" pitchFamily="18" charset="0"/>
              </a:rPr>
              <a:t>To avoid </a:t>
            </a:r>
            <a:r>
              <a:rPr lang="en-IN" sz="1867" dirty="0">
                <a:latin typeface="Times New Roman" pitchFamily="18" charset="0"/>
                <a:cs typeface="Times New Roman" pitchFamily="18" charset="0"/>
              </a:rPr>
              <a:t>the race </a:t>
            </a:r>
            <a:r>
              <a:rPr lang="en-IN" sz="1867" dirty="0">
                <a:latin typeface="Times New Roman" pitchFamily="18" charset="0"/>
                <a:cs typeface="Times New Roman" pitchFamily="18" charset="0"/>
              </a:rPr>
              <a:t>condition, </a:t>
            </a:r>
            <a:r>
              <a:rPr lang="en-IN" sz="1867" dirty="0">
                <a:latin typeface="Times New Roman" pitchFamily="18" charset="0"/>
                <a:cs typeface="Times New Roman" pitchFamily="18" charset="0"/>
              </a:rPr>
              <a:t>we need to ensure that only one process at a time can be </a:t>
            </a:r>
            <a:r>
              <a:rPr lang="en-IN" sz="1867" dirty="0">
                <a:latin typeface="Times New Roman" pitchFamily="18" charset="0"/>
                <a:cs typeface="Times New Roman" pitchFamily="18" charset="0"/>
              </a:rPr>
              <a:t>manipulating the </a:t>
            </a:r>
            <a:r>
              <a:rPr lang="en-IN" sz="1867" dirty="0">
                <a:latin typeface="Times New Roman" pitchFamily="18" charset="0"/>
                <a:cs typeface="Times New Roman" pitchFamily="18" charset="0"/>
              </a:rPr>
              <a:t>variable counter. To make such a guarantee, we require that the </a:t>
            </a:r>
            <a:r>
              <a:rPr lang="en-IN" sz="1867" dirty="0">
                <a:latin typeface="Times New Roman" pitchFamily="18" charset="0"/>
                <a:cs typeface="Times New Roman" pitchFamily="18" charset="0"/>
              </a:rPr>
              <a:t>processes be </a:t>
            </a:r>
            <a:r>
              <a:rPr lang="en-IN" sz="1867" dirty="0">
                <a:latin typeface="Times New Roman" pitchFamily="18" charset="0"/>
                <a:cs typeface="Times New Roman" pitchFamily="18" charset="0"/>
              </a:rPr>
              <a:t>synchronized in some way.</a:t>
            </a:r>
          </a:p>
        </p:txBody>
      </p:sp>
    </p:spTree>
    <p:extLst>
      <p:ext uri="{BB962C8B-B14F-4D97-AF65-F5344CB8AC3E}">
        <p14:creationId xmlns:p14="http://schemas.microsoft.com/office/powerpoint/2010/main" val="40995107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Critical Section Problem</a:t>
            </a:r>
          </a:p>
        </p:txBody>
      </p:sp>
      <p:sp>
        <p:nvSpPr>
          <p:cNvPr id="10243" name="Content Placeholder 2"/>
          <p:cNvSpPr>
            <a:spLocks noGrp="1"/>
          </p:cNvSpPr>
          <p:nvPr>
            <p:ph idx="1"/>
          </p:nvPr>
        </p:nvSpPr>
        <p:spPr/>
        <p:txBody>
          <a:bodyPr>
            <a:normAutofit/>
          </a:bodyPr>
          <a:lstStyle/>
          <a:p>
            <a:r>
              <a:rPr lang="en-US" smtClean="0"/>
              <a:t>Consider system of n processes {p</a:t>
            </a:r>
            <a:r>
              <a:rPr lang="en-US" baseline="-25000" smtClean="0"/>
              <a:t>0</a:t>
            </a:r>
            <a:r>
              <a:rPr lang="en-US" smtClean="0"/>
              <a:t>, p</a:t>
            </a:r>
            <a:r>
              <a:rPr lang="en-US" baseline="-25000" smtClean="0"/>
              <a:t>1</a:t>
            </a:r>
            <a:r>
              <a:rPr lang="en-US" smtClean="0"/>
              <a:t>, … p</a:t>
            </a:r>
            <a:r>
              <a:rPr lang="en-US" baseline="-25000" smtClean="0"/>
              <a:t>n-1</a:t>
            </a:r>
            <a:r>
              <a:rPr lang="en-US" smtClean="0"/>
              <a:t>}</a:t>
            </a:r>
          </a:p>
          <a:p>
            <a:r>
              <a:rPr lang="en-US" smtClean="0"/>
              <a:t>Each process has </a:t>
            </a:r>
            <a:r>
              <a:rPr lang="en-US" b="1" smtClean="0">
                <a:solidFill>
                  <a:srgbClr val="0000FF"/>
                </a:solidFill>
              </a:rPr>
              <a:t>critical section </a:t>
            </a:r>
            <a:r>
              <a:rPr lang="en-US" smtClean="0"/>
              <a:t>segment of code</a:t>
            </a:r>
          </a:p>
          <a:p>
            <a:pPr lvl="1"/>
            <a:r>
              <a:rPr lang="en-US" smtClean="0"/>
              <a:t>Process may be changing common variables, updating table, writing file, etc</a:t>
            </a:r>
          </a:p>
          <a:p>
            <a:pPr lvl="1"/>
            <a:r>
              <a:rPr lang="en-US" smtClean="0"/>
              <a:t>When one process in critical section, no other may be in its critical section</a:t>
            </a:r>
          </a:p>
          <a:p>
            <a:r>
              <a:rPr lang="en-US" smtClean="0"/>
              <a:t>Critical section problem is to design protocol to solve this</a:t>
            </a:r>
          </a:p>
          <a:p>
            <a:r>
              <a:rPr lang="en-US" smtClean="0"/>
              <a:t>Each process must ask permission to enter critical section in </a:t>
            </a:r>
            <a:r>
              <a:rPr lang="en-US" b="1" smtClean="0">
                <a:solidFill>
                  <a:srgbClr val="0000FF"/>
                </a:solidFill>
              </a:rPr>
              <a:t>entry section</a:t>
            </a:r>
            <a:r>
              <a:rPr lang="en-US" smtClean="0"/>
              <a:t>, may follow critical section with </a:t>
            </a:r>
            <a:r>
              <a:rPr lang="en-US" b="1" smtClean="0">
                <a:solidFill>
                  <a:srgbClr val="0000FF"/>
                </a:solidFill>
              </a:rPr>
              <a:t>exit section</a:t>
            </a:r>
            <a:r>
              <a:rPr lang="en-US" smtClean="0"/>
              <a:t>, then </a:t>
            </a:r>
            <a:r>
              <a:rPr lang="en-US" b="1" smtClean="0">
                <a:solidFill>
                  <a:srgbClr val="0000FF"/>
                </a:solidFill>
              </a:rPr>
              <a:t>remainder section</a:t>
            </a:r>
          </a:p>
          <a:p>
            <a:r>
              <a:rPr lang="en-US" smtClean="0"/>
              <a:t>Especially challenging with preemptive kernels</a:t>
            </a:r>
          </a:p>
        </p:txBody>
      </p:sp>
    </p:spTree>
    <p:extLst>
      <p:ext uri="{BB962C8B-B14F-4D97-AF65-F5344CB8AC3E}">
        <p14:creationId xmlns:p14="http://schemas.microsoft.com/office/powerpoint/2010/main" val="37526215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Critical Section</a:t>
            </a:r>
          </a:p>
        </p:txBody>
      </p:sp>
      <p:sp>
        <p:nvSpPr>
          <p:cNvPr id="11267" name="Content Placeholder 2"/>
          <p:cNvSpPr>
            <a:spLocks noGrp="1"/>
          </p:cNvSpPr>
          <p:nvPr>
            <p:ph idx="1"/>
          </p:nvPr>
        </p:nvSpPr>
        <p:spPr/>
        <p:txBody>
          <a:bodyPr/>
          <a:lstStyle/>
          <a:p>
            <a:r>
              <a:rPr lang="en-US" smtClean="0"/>
              <a:t>General structure of process p</a:t>
            </a:r>
            <a:r>
              <a:rPr lang="en-US" baseline="-25000" smtClean="0"/>
              <a:t>i </a:t>
            </a:r>
            <a:r>
              <a:rPr lang="en-US" smtClean="0"/>
              <a:t>is</a:t>
            </a:r>
          </a:p>
          <a:p>
            <a:endParaRPr lang="en-US" b="1" smtClean="0">
              <a:solidFill>
                <a:srgbClr val="0000FF"/>
              </a:solidFill>
            </a:endParaRPr>
          </a:p>
        </p:txBody>
      </p:sp>
      <p:pic>
        <p:nvPicPr>
          <p:cNvPr id="11268" name="Picture 3"/>
          <p:cNvPicPr>
            <a:picLocks noChangeAspect="1"/>
          </p:cNvPicPr>
          <p:nvPr/>
        </p:nvPicPr>
        <p:blipFill>
          <a:blip r:embed="rId2"/>
          <a:srcRect/>
          <a:stretch>
            <a:fillRect/>
          </a:stretch>
        </p:blipFill>
        <p:spPr bwMode="auto">
          <a:xfrm>
            <a:off x="1803400" y="2043642"/>
            <a:ext cx="5075767" cy="2370667"/>
          </a:xfrm>
          <a:prstGeom prst="rect">
            <a:avLst/>
          </a:prstGeom>
          <a:noFill/>
          <a:ln w="9525">
            <a:noFill/>
            <a:miter lim="800000"/>
            <a:headEnd/>
            <a:tailEnd/>
          </a:ln>
        </p:spPr>
      </p:pic>
    </p:spTree>
    <p:extLst>
      <p:ext uri="{BB962C8B-B14F-4D97-AF65-F5344CB8AC3E}">
        <p14:creationId xmlns:p14="http://schemas.microsoft.com/office/powerpoint/2010/main" val="21980363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62025" y="627592"/>
            <a:ext cx="7724775" cy="512233"/>
          </a:xfrm>
        </p:spPr>
        <p:txBody>
          <a:bodyPr>
            <a:normAutofit/>
          </a:bodyPr>
          <a:lstStyle/>
          <a:p>
            <a:pPr eaLnBrk="1" hangingPunct="1"/>
            <a:r>
              <a:rPr lang="en-US" smtClean="0"/>
              <a:t>Solution to Critical-Section Problem</a:t>
            </a:r>
          </a:p>
        </p:txBody>
      </p:sp>
      <p:sp>
        <p:nvSpPr>
          <p:cNvPr id="12291" name="Rectangle 3"/>
          <p:cNvSpPr>
            <a:spLocks noGrp="1" noChangeArrowheads="1"/>
          </p:cNvSpPr>
          <p:nvPr>
            <p:ph idx="1"/>
          </p:nvPr>
        </p:nvSpPr>
        <p:spPr>
          <a:xfrm>
            <a:off x="806450" y="1474259"/>
            <a:ext cx="7667625" cy="4028017"/>
          </a:xfrm>
        </p:spPr>
        <p:txBody>
          <a:bodyPr/>
          <a:lstStyle/>
          <a:p>
            <a:pPr>
              <a:buFont typeface="Monotype Sorts" charset="2"/>
              <a:buNone/>
            </a:pPr>
            <a:r>
              <a:rPr lang="en-US" sz="1600" dirty="0">
                <a:solidFill>
                  <a:srgbClr val="000000"/>
                </a:solidFill>
                <a:latin typeface="Times New Roman" pitchFamily="18" charset="0"/>
                <a:cs typeface="Times New Roman" pitchFamily="18" charset="0"/>
              </a:rPr>
              <a:t>1. </a:t>
            </a:r>
            <a:r>
              <a:rPr lang="en-US" sz="1600" b="1" dirty="0">
                <a:solidFill>
                  <a:srgbClr val="000000"/>
                </a:solidFill>
                <a:latin typeface="Times New Roman" pitchFamily="18" charset="0"/>
                <a:cs typeface="Times New Roman" pitchFamily="18" charset="0"/>
              </a:rPr>
              <a:t>Mutual Exclusion </a:t>
            </a:r>
            <a:r>
              <a:rPr lang="en-US" sz="1600" dirty="0">
                <a:latin typeface="Times New Roman" pitchFamily="18" charset="0"/>
                <a:cs typeface="Times New Roman" pitchFamily="18" charset="0"/>
              </a:rPr>
              <a:t>- If process P</a:t>
            </a:r>
            <a:r>
              <a:rPr lang="en-US" sz="1600" baseline="-25000" dirty="0">
                <a:latin typeface="Times New Roman" pitchFamily="18" charset="0"/>
                <a:cs typeface="Times New Roman" pitchFamily="18" charset="0"/>
              </a:rPr>
              <a:t>i</a:t>
            </a:r>
            <a:r>
              <a:rPr lang="en-US" sz="1600" dirty="0">
                <a:latin typeface="Times New Roman" pitchFamily="18" charset="0"/>
                <a:cs typeface="Times New Roman" pitchFamily="18" charset="0"/>
              </a:rPr>
              <a:t> is executing in its critical section, then no other processes can be executing in their critical sections</a:t>
            </a:r>
          </a:p>
          <a:p>
            <a:pPr>
              <a:buFont typeface="Monotype Sorts" charset="2"/>
              <a:buAutoNum type="arabicPeriod"/>
            </a:pPr>
            <a:endParaRPr lang="en-US" sz="1600" dirty="0">
              <a:latin typeface="Times New Roman" pitchFamily="18" charset="0"/>
              <a:cs typeface="Times New Roman" pitchFamily="18" charset="0"/>
            </a:endParaRPr>
          </a:p>
          <a:p>
            <a:pPr>
              <a:buFont typeface="Monotype Sorts" charset="2"/>
              <a:buNone/>
            </a:pPr>
            <a:r>
              <a:rPr lang="en-US" sz="1600" dirty="0">
                <a:solidFill>
                  <a:srgbClr val="000000"/>
                </a:solidFill>
                <a:latin typeface="Times New Roman" pitchFamily="18" charset="0"/>
                <a:cs typeface="Times New Roman" pitchFamily="18" charset="0"/>
              </a:rPr>
              <a:t>2. </a:t>
            </a:r>
            <a:r>
              <a:rPr lang="en-US" sz="1600" b="1" dirty="0">
                <a:solidFill>
                  <a:srgbClr val="000000"/>
                </a:solidFill>
                <a:latin typeface="Times New Roman" pitchFamily="18" charset="0"/>
                <a:cs typeface="Times New Roman" pitchFamily="18" charset="0"/>
              </a:rPr>
              <a:t>Progress</a:t>
            </a: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charset="2"/>
              <a:buAutoNum type="arabicPeriod" startAt="2"/>
            </a:pPr>
            <a:endParaRPr lang="en-US" sz="1600" dirty="0">
              <a:latin typeface="Times New Roman" pitchFamily="18" charset="0"/>
              <a:cs typeface="Times New Roman" pitchFamily="18" charset="0"/>
            </a:endParaRPr>
          </a:p>
          <a:p>
            <a:pPr marL="0" indent="0">
              <a:lnSpc>
                <a:spcPct val="80000"/>
              </a:lnSpc>
              <a:buNone/>
            </a:pPr>
            <a:r>
              <a:rPr lang="en-US" sz="1600" dirty="0">
                <a:latin typeface="Times New Roman" pitchFamily="18" charset="0"/>
                <a:cs typeface="Times New Roman" pitchFamily="18" charset="0"/>
              </a:rPr>
              <a:t>3. </a:t>
            </a:r>
            <a:r>
              <a:rPr lang="en-US" sz="1600" b="1" dirty="0">
                <a:solidFill>
                  <a:srgbClr val="000000"/>
                </a:solidFill>
                <a:latin typeface="Times New Roman" pitchFamily="18" charset="0"/>
                <a:cs typeface="Times New Roman" pitchFamily="18" charset="0"/>
              </a:rPr>
              <a:t>Bounded Waiting </a:t>
            </a:r>
            <a:r>
              <a:rPr lang="en-US" sz="1600" dirty="0">
                <a:latin typeface="Times New Roman" pitchFamily="18" charset="0"/>
                <a:cs typeface="Times New Roman" pitchFamily="18" charset="0"/>
              </a:rPr>
              <a:t>- After a process has made a request to enter it’s CS, there is a bound on the number of times that the other processes are allowed to enter their CS </a:t>
            </a:r>
          </a:p>
          <a:p>
            <a:pPr marL="787439" lvl="1" indent="-406420">
              <a:lnSpc>
                <a:spcPct val="80000"/>
              </a:lnSpc>
            </a:pPr>
            <a:r>
              <a:rPr lang="en-US" sz="1600" dirty="0">
                <a:latin typeface="Times New Roman" pitchFamily="18" charset="0"/>
                <a:cs typeface="Times New Roman" pitchFamily="18" charset="0"/>
              </a:rPr>
              <a:t>otherwise the process will suffer from </a:t>
            </a:r>
            <a:r>
              <a:rPr lang="en-US" sz="1600" b="1" dirty="0">
                <a:latin typeface="Times New Roman" pitchFamily="18" charset="0"/>
                <a:cs typeface="Times New Roman" pitchFamily="18" charset="0"/>
              </a:rPr>
              <a:t>starvation</a:t>
            </a:r>
            <a:endParaRPr lang="en-US" sz="1600" dirty="0">
              <a:latin typeface="Times New Roman" pitchFamily="18" charset="0"/>
              <a:cs typeface="Times New Roman" pitchFamily="18" charset="0"/>
            </a:endParaRPr>
          </a:p>
          <a:p>
            <a:pPr marL="787439" lvl="1" indent="-406420">
              <a:lnSpc>
                <a:spcPct val="80000"/>
              </a:lnSpc>
            </a:pPr>
            <a:r>
              <a:rPr lang="en-US" sz="1600" dirty="0">
                <a:latin typeface="Times New Roman" pitchFamily="18" charset="0"/>
                <a:cs typeface="Times New Roman" pitchFamily="18" charset="0"/>
              </a:rPr>
              <a:t>Of course also no deadlock (no cycles)</a:t>
            </a:r>
          </a:p>
          <a:p>
            <a:pPr>
              <a:buFont typeface="Monotype Sorts" charset="2"/>
              <a:buNone/>
            </a:pPr>
            <a:endParaRPr lang="en-US" dirty="0" smtClean="0"/>
          </a:p>
        </p:txBody>
      </p:sp>
    </p:spTree>
    <p:extLst>
      <p:ext uri="{BB962C8B-B14F-4D97-AF65-F5344CB8AC3E}">
        <p14:creationId xmlns:p14="http://schemas.microsoft.com/office/powerpoint/2010/main" val="2102696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z="2667" dirty="0">
                <a:effectLst>
                  <a:outerShdw blurRad="38100" dist="38100" dir="2700000" algn="tl">
                    <a:srgbClr val="C0C0C0"/>
                  </a:outerShdw>
                </a:effectLst>
              </a:rPr>
              <a:t>Peterson’s solutions</a:t>
            </a:r>
            <a:r>
              <a:rPr lang="en-US" sz="2667" dirty="0">
                <a:effectLst>
                  <a:outerShdw blurRad="38100" dist="38100" dir="2700000" algn="tl">
                    <a:srgbClr val="C0C0C0"/>
                  </a:outerShdw>
                </a:effectLst>
              </a:rPr>
              <a:t>: Algorithm 1</a:t>
            </a:r>
          </a:p>
        </p:txBody>
      </p:sp>
      <p:sp>
        <p:nvSpPr>
          <p:cNvPr id="11267" name="Rectangle 3"/>
          <p:cNvSpPr>
            <a:spLocks noGrp="1" noChangeArrowheads="1"/>
          </p:cNvSpPr>
          <p:nvPr>
            <p:ph idx="1"/>
          </p:nvPr>
        </p:nvSpPr>
        <p:spPr/>
        <p:txBody>
          <a:bodyPr>
            <a:normAutofit/>
          </a:bodyPr>
          <a:lstStyle/>
          <a:p>
            <a:pPr>
              <a:lnSpc>
                <a:spcPct val="80000"/>
              </a:lnSpc>
              <a:buFontTx/>
              <a:buNone/>
            </a:pPr>
            <a:r>
              <a:rPr lang="en-US" sz="1733" b="1" dirty="0">
                <a:latin typeface="Courier" pitchFamily="49" charset="0"/>
              </a:rPr>
              <a:t>Process Pi:</a:t>
            </a:r>
          </a:p>
          <a:p>
            <a:pPr>
              <a:lnSpc>
                <a:spcPct val="80000"/>
              </a:lnSpc>
              <a:buFontTx/>
              <a:buNone/>
            </a:pPr>
            <a:r>
              <a:rPr lang="tr-TR" sz="1733" b="1" dirty="0">
                <a:latin typeface="Courier" pitchFamily="49" charset="0"/>
              </a:rPr>
              <a:t>	</a:t>
            </a:r>
            <a:r>
              <a:rPr lang="en-US" sz="1733" b="1" dirty="0">
                <a:latin typeface="Courier" pitchFamily="49" charset="0"/>
              </a:rPr>
              <a:t>repeat</a:t>
            </a:r>
          </a:p>
          <a:p>
            <a:pPr>
              <a:lnSpc>
                <a:spcPct val="80000"/>
              </a:lnSpc>
              <a:buFontTx/>
              <a:buNone/>
            </a:pPr>
            <a:r>
              <a:rPr lang="en-US" sz="1733" b="1" dirty="0">
                <a:latin typeface="Courier" pitchFamily="49" charset="0"/>
              </a:rPr>
              <a:t>  </a:t>
            </a:r>
            <a:r>
              <a:rPr lang="tr-TR" sz="1733" b="1" dirty="0">
                <a:latin typeface="Courier" pitchFamily="49" charset="0"/>
              </a:rPr>
              <a:t>		</a:t>
            </a:r>
            <a:r>
              <a:rPr lang="en-US" sz="1733" b="1" dirty="0">
                <a:latin typeface="Courier" pitchFamily="49" charset="0"/>
              </a:rPr>
              <a:t>while(turn!=i){};</a:t>
            </a:r>
          </a:p>
          <a:p>
            <a:pPr>
              <a:lnSpc>
                <a:spcPct val="80000"/>
              </a:lnSpc>
              <a:buFontTx/>
              <a:buNone/>
            </a:pPr>
            <a:r>
              <a:rPr lang="en-US" sz="1733" b="1" dirty="0">
                <a:latin typeface="Courier" pitchFamily="49" charset="0"/>
              </a:rPr>
              <a:t>     </a:t>
            </a:r>
            <a:r>
              <a:rPr lang="tr-TR" sz="1733" b="1" dirty="0">
                <a:latin typeface="Courier" pitchFamily="49" charset="0"/>
              </a:rPr>
              <a:t>		</a:t>
            </a:r>
            <a:r>
              <a:rPr lang="en-US" sz="1733" b="1" dirty="0">
                <a:solidFill>
                  <a:schemeClr val="accent2"/>
                </a:solidFill>
                <a:latin typeface="Courier" pitchFamily="49" charset="0"/>
              </a:rPr>
              <a:t>CS</a:t>
            </a:r>
          </a:p>
          <a:p>
            <a:pPr>
              <a:lnSpc>
                <a:spcPct val="80000"/>
              </a:lnSpc>
              <a:buFontTx/>
              <a:buNone/>
            </a:pPr>
            <a:r>
              <a:rPr lang="en-US" sz="1733" b="1" dirty="0">
                <a:latin typeface="Courier" pitchFamily="49" charset="0"/>
              </a:rPr>
              <a:t>  </a:t>
            </a:r>
            <a:r>
              <a:rPr lang="tr-TR" sz="1733" b="1" dirty="0">
                <a:latin typeface="Courier" pitchFamily="49" charset="0"/>
              </a:rPr>
              <a:t>		</a:t>
            </a:r>
            <a:r>
              <a:rPr lang="en-US" sz="1733" b="1" dirty="0">
                <a:latin typeface="Courier" pitchFamily="49" charset="0"/>
              </a:rPr>
              <a:t>turn:=j;</a:t>
            </a:r>
          </a:p>
          <a:p>
            <a:pPr>
              <a:lnSpc>
                <a:spcPct val="80000"/>
              </a:lnSpc>
              <a:buFontTx/>
              <a:buNone/>
            </a:pPr>
            <a:r>
              <a:rPr lang="en-US" sz="1733" b="1" dirty="0">
                <a:latin typeface="Courier" pitchFamily="49" charset="0"/>
              </a:rPr>
              <a:t>     </a:t>
            </a:r>
            <a:r>
              <a:rPr lang="tr-TR" sz="1733" b="1" dirty="0">
                <a:latin typeface="Courier" pitchFamily="49" charset="0"/>
              </a:rPr>
              <a:t>		</a:t>
            </a:r>
            <a:r>
              <a:rPr lang="en-US" sz="1733" b="1" dirty="0">
                <a:solidFill>
                  <a:schemeClr val="accent2"/>
                </a:solidFill>
                <a:latin typeface="Courier" pitchFamily="49" charset="0"/>
              </a:rPr>
              <a:t>RS</a:t>
            </a:r>
          </a:p>
          <a:p>
            <a:pPr>
              <a:lnSpc>
                <a:spcPct val="80000"/>
              </a:lnSpc>
              <a:buFontTx/>
              <a:buNone/>
            </a:pPr>
            <a:r>
              <a:rPr lang="tr-TR" sz="1733" b="1" dirty="0">
                <a:latin typeface="Courier" pitchFamily="49" charset="0"/>
              </a:rPr>
              <a:t>	</a:t>
            </a:r>
            <a:r>
              <a:rPr lang="en-US" sz="1733" b="1" dirty="0">
                <a:latin typeface="Courier" pitchFamily="49" charset="0"/>
              </a:rPr>
              <a:t>forever</a:t>
            </a:r>
            <a:endParaRPr lang="tr-TR" sz="1733" b="1" dirty="0">
              <a:latin typeface="Courier" pitchFamily="49" charset="0"/>
            </a:endParaRPr>
          </a:p>
          <a:p>
            <a:pPr>
              <a:lnSpc>
                <a:spcPct val="80000"/>
              </a:lnSpc>
              <a:buFontTx/>
              <a:buNone/>
            </a:pPr>
            <a:endParaRPr lang="en-US" sz="1733" b="1" dirty="0">
              <a:latin typeface="Courier" pitchFamily="49" charset="0"/>
            </a:endParaRPr>
          </a:p>
          <a:p>
            <a:pPr>
              <a:lnSpc>
                <a:spcPct val="80000"/>
              </a:lnSpc>
              <a:buFontTx/>
              <a:buNone/>
            </a:pPr>
            <a:r>
              <a:rPr lang="en-US" sz="1533" u="sng" dirty="0"/>
              <a:t>An execution view of Algorithm 1</a:t>
            </a:r>
          </a:p>
          <a:p>
            <a:pPr>
              <a:lnSpc>
                <a:spcPct val="80000"/>
              </a:lnSpc>
              <a:buFontTx/>
              <a:buNone/>
            </a:pPr>
            <a:endParaRPr lang="tr-TR" sz="1533" dirty="0">
              <a:latin typeface="Courier" pitchFamily="49" charset="0"/>
            </a:endParaRPr>
          </a:p>
          <a:p>
            <a:pPr>
              <a:lnSpc>
                <a:spcPct val="80000"/>
              </a:lnSpc>
              <a:buFontTx/>
              <a:buNone/>
            </a:pPr>
            <a:r>
              <a:rPr lang="en-US" sz="1533" b="1" dirty="0">
                <a:latin typeface="Courier" pitchFamily="49" charset="0"/>
              </a:rPr>
              <a:t>Process P0:				Process P1:</a:t>
            </a:r>
          </a:p>
          <a:p>
            <a:pPr>
              <a:lnSpc>
                <a:spcPct val="80000"/>
              </a:lnSpc>
              <a:buFontTx/>
              <a:buNone/>
            </a:pPr>
            <a:r>
              <a:rPr lang="en-US" sz="1533" b="1" dirty="0">
                <a:latin typeface="Courier" pitchFamily="49" charset="0"/>
              </a:rPr>
              <a:t>repeat					repeat</a:t>
            </a:r>
          </a:p>
          <a:p>
            <a:pPr>
              <a:lnSpc>
                <a:spcPct val="80000"/>
              </a:lnSpc>
              <a:buFontTx/>
              <a:buNone/>
            </a:pPr>
            <a:r>
              <a:rPr lang="en-US" sz="1533" b="1" dirty="0">
                <a:latin typeface="Courier" pitchFamily="49" charset="0"/>
              </a:rPr>
              <a:t>  while(turn!=0);		</a:t>
            </a:r>
            <a:r>
              <a:rPr lang="tr-TR" sz="1533" b="1" dirty="0">
                <a:latin typeface="Courier" pitchFamily="49" charset="0"/>
              </a:rPr>
              <a:t>	   </a:t>
            </a:r>
            <a:r>
              <a:rPr lang="en-US" sz="1533" b="1" dirty="0">
                <a:latin typeface="Courier" pitchFamily="49" charset="0"/>
              </a:rPr>
              <a:t>while(turn!=1);</a:t>
            </a:r>
          </a:p>
          <a:p>
            <a:pPr>
              <a:lnSpc>
                <a:spcPct val="80000"/>
              </a:lnSpc>
              <a:buFontTx/>
              <a:buNone/>
            </a:pPr>
            <a:r>
              <a:rPr lang="en-US" sz="1533" b="1" dirty="0">
                <a:latin typeface="Courier" pitchFamily="49" charset="0"/>
              </a:rPr>
              <a:t>     CS			</a:t>
            </a:r>
            <a:r>
              <a:rPr lang="tr-TR" sz="1533" b="1" dirty="0">
                <a:latin typeface="Courier" pitchFamily="49" charset="0"/>
              </a:rPr>
              <a:t>			</a:t>
            </a:r>
            <a:r>
              <a:rPr lang="en-US" sz="1533" b="1" dirty="0">
                <a:latin typeface="Courier" pitchFamily="49" charset="0"/>
              </a:rPr>
              <a:t>CS</a:t>
            </a:r>
          </a:p>
          <a:p>
            <a:pPr>
              <a:lnSpc>
                <a:spcPct val="80000"/>
              </a:lnSpc>
              <a:buFontTx/>
              <a:buNone/>
            </a:pPr>
            <a:r>
              <a:rPr lang="en-US" sz="1533" b="1" dirty="0">
                <a:latin typeface="Courier" pitchFamily="49" charset="0"/>
              </a:rPr>
              <a:t>  turn:=1;				</a:t>
            </a:r>
            <a:r>
              <a:rPr lang="tr-TR" sz="1533" b="1" dirty="0">
                <a:latin typeface="Courier" pitchFamily="49" charset="0"/>
              </a:rPr>
              <a:t>   </a:t>
            </a:r>
            <a:r>
              <a:rPr lang="en-US" sz="1533" b="1" dirty="0">
                <a:latin typeface="Courier" pitchFamily="49" charset="0"/>
              </a:rPr>
              <a:t>turn:=0;</a:t>
            </a:r>
          </a:p>
          <a:p>
            <a:pPr>
              <a:lnSpc>
                <a:spcPct val="80000"/>
              </a:lnSpc>
              <a:buFontTx/>
              <a:buNone/>
            </a:pPr>
            <a:r>
              <a:rPr lang="en-US" sz="1533" b="1" dirty="0">
                <a:latin typeface="Courier" pitchFamily="49" charset="0"/>
              </a:rPr>
              <a:t>     RS						RS</a:t>
            </a:r>
          </a:p>
          <a:p>
            <a:pPr>
              <a:lnSpc>
                <a:spcPct val="80000"/>
              </a:lnSpc>
              <a:buFontTx/>
              <a:buNone/>
            </a:pPr>
            <a:r>
              <a:rPr lang="en-US" sz="1533" b="1" dirty="0">
                <a:latin typeface="Courier" pitchFamily="49" charset="0"/>
              </a:rPr>
              <a:t>forever					forever</a:t>
            </a:r>
          </a:p>
        </p:txBody>
      </p:sp>
    </p:spTree>
    <p:extLst>
      <p:ext uri="{BB962C8B-B14F-4D97-AF65-F5344CB8AC3E}">
        <p14:creationId xmlns:p14="http://schemas.microsoft.com/office/powerpoint/2010/main" val="33413112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sz="2667" dirty="0">
                <a:effectLst>
                  <a:outerShdw blurRad="38100" dist="38100" dir="2700000" algn="tl">
                    <a:srgbClr val="C0C0C0"/>
                  </a:outerShdw>
                </a:effectLst>
              </a:rPr>
              <a:t>Algorithm </a:t>
            </a:r>
            <a:r>
              <a:rPr lang="en-US" sz="2667" dirty="0">
                <a:effectLst>
                  <a:outerShdw blurRad="38100" dist="38100" dir="2700000" algn="tl">
                    <a:srgbClr val="C0C0C0"/>
                  </a:outerShdw>
                </a:effectLst>
              </a:rPr>
              <a:t>1 (cont.)</a:t>
            </a:r>
          </a:p>
        </p:txBody>
      </p:sp>
      <p:sp>
        <p:nvSpPr>
          <p:cNvPr id="12291" name="Rectangle 3"/>
          <p:cNvSpPr>
            <a:spLocks noGrp="1" noChangeArrowheads="1"/>
          </p:cNvSpPr>
          <p:nvPr>
            <p:ph idx="1"/>
          </p:nvPr>
        </p:nvSpPr>
        <p:spPr/>
        <p:txBody>
          <a:bodyPr/>
          <a:lstStyle/>
          <a:p>
            <a:pPr marL="580572" indent="-580572">
              <a:lnSpc>
                <a:spcPct val="90000"/>
              </a:lnSpc>
            </a:pPr>
            <a:r>
              <a:rPr lang="en-US"/>
              <a:t>The shared variable </a:t>
            </a:r>
            <a:r>
              <a:rPr lang="en-US" b="1" i="1"/>
              <a:t>turn</a:t>
            </a:r>
            <a:r>
              <a:rPr lang="en-US"/>
              <a:t> is initialized (to 0 or 1) before executing any Pi</a:t>
            </a:r>
            <a:endParaRPr lang="en-US" b="1"/>
          </a:p>
          <a:p>
            <a:pPr marL="580572" indent="-580572">
              <a:lnSpc>
                <a:spcPct val="90000"/>
              </a:lnSpc>
            </a:pPr>
            <a:r>
              <a:rPr lang="en-US"/>
              <a:t>Pi’s critical section is executed iff </a:t>
            </a:r>
            <a:r>
              <a:rPr lang="en-US" b="1" u="sng"/>
              <a:t>turn</a:t>
            </a:r>
            <a:r>
              <a:rPr lang="en-US"/>
              <a:t> = i</a:t>
            </a:r>
            <a:endParaRPr lang="en-US" b="1"/>
          </a:p>
          <a:p>
            <a:pPr marL="580572" indent="-580572">
              <a:lnSpc>
                <a:spcPct val="90000"/>
              </a:lnSpc>
            </a:pPr>
            <a:r>
              <a:rPr lang="en-US"/>
              <a:t>Pi is </a:t>
            </a:r>
            <a:r>
              <a:rPr lang="en-US" b="1" i="1"/>
              <a:t>busy waiting</a:t>
            </a:r>
            <a:r>
              <a:rPr lang="en-US"/>
              <a:t> if Pj is in CS: mutual exclusion is satisfied</a:t>
            </a:r>
            <a:endParaRPr lang="en-US" b="1"/>
          </a:p>
          <a:p>
            <a:pPr marL="580572" indent="-580572">
              <a:lnSpc>
                <a:spcPct val="90000"/>
              </a:lnSpc>
            </a:pPr>
            <a:r>
              <a:rPr lang="en-US"/>
              <a:t>Progress requirement is not satisfied since it requires strict alternation of CSs</a:t>
            </a:r>
            <a:endParaRPr lang="en-US" b="1"/>
          </a:p>
          <a:p>
            <a:pPr marL="580572" indent="-580572">
              <a:lnSpc>
                <a:spcPct val="90000"/>
              </a:lnSpc>
            </a:pPr>
            <a:r>
              <a:rPr lang="en-US"/>
              <a:t>If a process requires its CS more often then the other, it  cannot get it.</a:t>
            </a:r>
          </a:p>
        </p:txBody>
      </p:sp>
    </p:spTree>
    <p:extLst>
      <p:ext uri="{BB962C8B-B14F-4D97-AF65-F5344CB8AC3E}">
        <p14:creationId xmlns:p14="http://schemas.microsoft.com/office/powerpoint/2010/main" val="15514250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sz="2667">
                <a:effectLst>
                  <a:outerShdw blurRad="38100" dist="38100" dir="2700000" algn="tl">
                    <a:srgbClr val="C0C0C0"/>
                  </a:outerShdw>
                </a:effectLst>
              </a:rPr>
              <a:t>Algorithm 2</a:t>
            </a:r>
          </a:p>
        </p:txBody>
      </p:sp>
      <p:sp>
        <p:nvSpPr>
          <p:cNvPr id="13315" name="Rectangle 3"/>
          <p:cNvSpPr>
            <a:spLocks noGrp="1" noChangeArrowheads="1"/>
          </p:cNvSpPr>
          <p:nvPr>
            <p:ph idx="1"/>
          </p:nvPr>
        </p:nvSpPr>
        <p:spPr>
          <a:xfrm>
            <a:off x="445477" y="1545493"/>
            <a:ext cx="3962400" cy="4023078"/>
          </a:xfrm>
        </p:spPr>
        <p:txBody>
          <a:bodyPr>
            <a:normAutofit fontScale="92500" lnSpcReduction="10000"/>
          </a:bodyPr>
          <a:lstStyle/>
          <a:p>
            <a:pPr>
              <a:lnSpc>
                <a:spcPct val="90000"/>
              </a:lnSpc>
              <a:buFontTx/>
              <a:buNone/>
            </a:pPr>
            <a:r>
              <a:rPr lang="en-US" sz="2667" b="1" dirty="0">
                <a:latin typeface="Courier" pitchFamily="49" charset="0"/>
              </a:rPr>
              <a:t>Flag[i]=flag[j]=false</a:t>
            </a:r>
          </a:p>
          <a:p>
            <a:pPr>
              <a:lnSpc>
                <a:spcPct val="90000"/>
              </a:lnSpc>
              <a:buFontTx/>
              <a:buNone/>
            </a:pPr>
            <a:r>
              <a:rPr lang="en-US" sz="2667" b="1" dirty="0">
                <a:latin typeface="Courier" pitchFamily="49" charset="0"/>
              </a:rPr>
              <a:t>Process Pi:</a:t>
            </a:r>
          </a:p>
          <a:p>
            <a:pPr>
              <a:lnSpc>
                <a:spcPct val="90000"/>
              </a:lnSpc>
              <a:buFontTx/>
              <a:buNone/>
            </a:pPr>
            <a:r>
              <a:rPr lang="en-US" sz="2667" b="1" dirty="0">
                <a:latin typeface="Courier" pitchFamily="49" charset="0"/>
              </a:rPr>
              <a:t>repeat</a:t>
            </a:r>
          </a:p>
          <a:p>
            <a:pPr>
              <a:lnSpc>
                <a:spcPct val="90000"/>
              </a:lnSpc>
              <a:buFontTx/>
              <a:buNone/>
            </a:pPr>
            <a:r>
              <a:rPr lang="en-US" sz="2667" b="1" dirty="0">
                <a:latin typeface="Courier" pitchFamily="49" charset="0"/>
              </a:rPr>
              <a:t>  flag[i]:=true;  </a:t>
            </a:r>
          </a:p>
          <a:p>
            <a:pPr>
              <a:lnSpc>
                <a:spcPct val="90000"/>
              </a:lnSpc>
              <a:buFontTx/>
              <a:buNone/>
            </a:pPr>
            <a:r>
              <a:rPr lang="en-US" sz="2667" b="1" dirty="0">
                <a:latin typeface="Courier" pitchFamily="49" charset="0"/>
              </a:rPr>
              <a:t>  while(flag[j]);</a:t>
            </a:r>
          </a:p>
          <a:p>
            <a:pPr>
              <a:lnSpc>
                <a:spcPct val="90000"/>
              </a:lnSpc>
              <a:buFontTx/>
              <a:buNone/>
            </a:pPr>
            <a:r>
              <a:rPr lang="en-US" sz="2667" b="1" dirty="0">
                <a:latin typeface="Courier" pitchFamily="49" charset="0"/>
              </a:rPr>
              <a:t>     </a:t>
            </a:r>
            <a:r>
              <a:rPr lang="en-US" sz="2667" b="1" dirty="0">
                <a:solidFill>
                  <a:schemeClr val="accent2"/>
                </a:solidFill>
                <a:latin typeface="Courier" pitchFamily="49" charset="0"/>
              </a:rPr>
              <a:t>CS</a:t>
            </a:r>
          </a:p>
          <a:p>
            <a:pPr>
              <a:lnSpc>
                <a:spcPct val="90000"/>
              </a:lnSpc>
              <a:buFontTx/>
              <a:buNone/>
            </a:pPr>
            <a:r>
              <a:rPr lang="en-US" sz="2667" b="1" dirty="0">
                <a:latin typeface="Courier" pitchFamily="49" charset="0"/>
              </a:rPr>
              <a:t>  flag[i]:=false;</a:t>
            </a:r>
          </a:p>
          <a:p>
            <a:pPr>
              <a:lnSpc>
                <a:spcPct val="90000"/>
              </a:lnSpc>
              <a:buFontTx/>
              <a:buNone/>
            </a:pPr>
            <a:r>
              <a:rPr lang="en-US" sz="2667" b="1" dirty="0">
                <a:latin typeface="Courier" pitchFamily="49" charset="0"/>
              </a:rPr>
              <a:t>     </a:t>
            </a:r>
            <a:r>
              <a:rPr lang="en-US" sz="2667" b="1" dirty="0">
                <a:solidFill>
                  <a:schemeClr val="accent2"/>
                </a:solidFill>
                <a:latin typeface="Courier" pitchFamily="49" charset="0"/>
              </a:rPr>
              <a:t>RS</a:t>
            </a:r>
          </a:p>
          <a:p>
            <a:pPr>
              <a:lnSpc>
                <a:spcPct val="90000"/>
              </a:lnSpc>
              <a:buFontTx/>
              <a:buNone/>
            </a:pPr>
            <a:r>
              <a:rPr lang="en-US" sz="2667" b="1" dirty="0">
                <a:latin typeface="Courier" pitchFamily="49" charset="0"/>
              </a:rPr>
              <a:t>forever</a:t>
            </a:r>
          </a:p>
        </p:txBody>
      </p:sp>
      <p:sp>
        <p:nvSpPr>
          <p:cNvPr id="2" name="TextBox 1"/>
          <p:cNvSpPr txBox="1"/>
          <p:nvPr/>
        </p:nvSpPr>
        <p:spPr>
          <a:xfrm>
            <a:off x="4888523" y="1631462"/>
            <a:ext cx="3997569" cy="4335955"/>
          </a:xfrm>
          <a:prstGeom prst="rect">
            <a:avLst/>
          </a:prstGeom>
          <a:noFill/>
        </p:spPr>
        <p:txBody>
          <a:bodyPr wrap="square" lIns="87081" tIns="43541" rIns="87081" bIns="43541" rtlCol="0">
            <a:spAutoFit/>
          </a:bodyPr>
          <a:lstStyle/>
          <a:p>
            <a:pPr>
              <a:lnSpc>
                <a:spcPct val="90000"/>
              </a:lnSpc>
            </a:pPr>
            <a:r>
              <a:rPr lang="en-US" sz="2667" b="1" dirty="0">
                <a:latin typeface="Courier" pitchFamily="49" charset="0"/>
              </a:rPr>
              <a:t>Flag[i]=flag[j]=false</a:t>
            </a:r>
          </a:p>
          <a:p>
            <a:pPr>
              <a:lnSpc>
                <a:spcPct val="90000"/>
              </a:lnSpc>
              <a:buFontTx/>
              <a:buNone/>
            </a:pPr>
            <a:endParaRPr lang="en-US" sz="2667" b="1" dirty="0">
              <a:latin typeface="Courier"/>
              <a:cs typeface="Times New Roman" pitchFamily="18" charset="0"/>
            </a:endParaRPr>
          </a:p>
          <a:p>
            <a:pPr>
              <a:lnSpc>
                <a:spcPct val="90000"/>
              </a:lnSpc>
              <a:buFontTx/>
              <a:buNone/>
            </a:pPr>
            <a:r>
              <a:rPr lang="en-US" sz="2667" b="1" dirty="0">
                <a:latin typeface="Courier"/>
                <a:cs typeface="Times New Roman" pitchFamily="18" charset="0"/>
              </a:rPr>
              <a:t>Process </a:t>
            </a:r>
            <a:r>
              <a:rPr lang="en-US" sz="2667" b="1" dirty="0" err="1">
                <a:latin typeface="Courier"/>
                <a:cs typeface="Times New Roman" pitchFamily="18" charset="0"/>
              </a:rPr>
              <a:t>Pj</a:t>
            </a:r>
            <a:r>
              <a:rPr lang="en-US" sz="2667" b="1" dirty="0">
                <a:latin typeface="Courier"/>
                <a:cs typeface="Times New Roman" pitchFamily="18" charset="0"/>
              </a:rPr>
              <a:t>:</a:t>
            </a:r>
          </a:p>
          <a:p>
            <a:pPr>
              <a:lnSpc>
                <a:spcPct val="90000"/>
              </a:lnSpc>
              <a:buFontTx/>
              <a:buNone/>
            </a:pPr>
            <a:r>
              <a:rPr lang="en-US" sz="2667" b="1" dirty="0">
                <a:latin typeface="Courier"/>
                <a:cs typeface="Times New Roman" pitchFamily="18" charset="0"/>
              </a:rPr>
              <a:t>repeat</a:t>
            </a:r>
          </a:p>
          <a:p>
            <a:pPr>
              <a:lnSpc>
                <a:spcPct val="90000"/>
              </a:lnSpc>
              <a:buFontTx/>
              <a:buNone/>
            </a:pPr>
            <a:r>
              <a:rPr lang="en-US" sz="2667" b="1" dirty="0">
                <a:latin typeface="Courier"/>
                <a:cs typeface="Times New Roman" pitchFamily="18" charset="0"/>
              </a:rPr>
              <a:t>  flag[j]:=true;  </a:t>
            </a:r>
          </a:p>
          <a:p>
            <a:pPr>
              <a:lnSpc>
                <a:spcPct val="90000"/>
              </a:lnSpc>
              <a:buFontTx/>
              <a:buNone/>
            </a:pPr>
            <a:r>
              <a:rPr lang="en-US" sz="2667" b="1" dirty="0">
                <a:latin typeface="Courier"/>
                <a:cs typeface="Times New Roman" pitchFamily="18" charset="0"/>
              </a:rPr>
              <a:t>  while(flag[i]);</a:t>
            </a:r>
          </a:p>
          <a:p>
            <a:pPr>
              <a:lnSpc>
                <a:spcPct val="90000"/>
              </a:lnSpc>
              <a:buFontTx/>
              <a:buNone/>
            </a:pPr>
            <a:r>
              <a:rPr lang="en-US" sz="2667" b="1" dirty="0">
                <a:latin typeface="Courier"/>
                <a:cs typeface="Times New Roman" pitchFamily="18" charset="0"/>
              </a:rPr>
              <a:t>     </a:t>
            </a:r>
            <a:r>
              <a:rPr lang="en-US" sz="2667" b="1" dirty="0">
                <a:solidFill>
                  <a:schemeClr val="accent2"/>
                </a:solidFill>
                <a:latin typeface="Courier"/>
                <a:cs typeface="Times New Roman" pitchFamily="18" charset="0"/>
              </a:rPr>
              <a:t>CS</a:t>
            </a:r>
          </a:p>
          <a:p>
            <a:pPr>
              <a:lnSpc>
                <a:spcPct val="90000"/>
              </a:lnSpc>
              <a:buFontTx/>
              <a:buNone/>
            </a:pPr>
            <a:r>
              <a:rPr lang="en-US" sz="2667" b="1" dirty="0">
                <a:latin typeface="Courier"/>
                <a:cs typeface="Times New Roman" pitchFamily="18" charset="0"/>
              </a:rPr>
              <a:t>  flag[j]:=false;</a:t>
            </a:r>
          </a:p>
          <a:p>
            <a:pPr>
              <a:lnSpc>
                <a:spcPct val="90000"/>
              </a:lnSpc>
              <a:buFontTx/>
              <a:buNone/>
            </a:pPr>
            <a:r>
              <a:rPr lang="en-US" sz="2667" b="1" dirty="0">
                <a:latin typeface="Courier"/>
                <a:cs typeface="Times New Roman" pitchFamily="18" charset="0"/>
              </a:rPr>
              <a:t>     </a:t>
            </a:r>
            <a:r>
              <a:rPr lang="en-US" sz="2667" b="1" dirty="0">
                <a:solidFill>
                  <a:schemeClr val="accent2"/>
                </a:solidFill>
                <a:latin typeface="Courier"/>
                <a:cs typeface="Times New Roman" pitchFamily="18" charset="0"/>
              </a:rPr>
              <a:t>RS</a:t>
            </a:r>
          </a:p>
          <a:p>
            <a:pPr>
              <a:lnSpc>
                <a:spcPct val="90000"/>
              </a:lnSpc>
              <a:buFontTx/>
              <a:buNone/>
            </a:pPr>
            <a:r>
              <a:rPr lang="en-US" sz="2667" b="1" dirty="0">
                <a:latin typeface="Courier"/>
                <a:cs typeface="Times New Roman" pitchFamily="18" charset="0"/>
              </a:rPr>
              <a:t>forever</a:t>
            </a:r>
          </a:p>
          <a:p>
            <a:endParaRPr lang="en-IN" sz="1200" dirty="0"/>
          </a:p>
        </p:txBody>
      </p:sp>
    </p:spTree>
    <p:extLst>
      <p:ext uri="{BB962C8B-B14F-4D97-AF65-F5344CB8AC3E}">
        <p14:creationId xmlns:p14="http://schemas.microsoft.com/office/powerpoint/2010/main" val="3269967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endParaRPr lang="en-US"/>
          </a:p>
        </p:txBody>
      </p:sp>
      <p:sp>
        <p:nvSpPr>
          <p:cNvPr id="14339" name="Rectangle 3"/>
          <p:cNvSpPr>
            <a:spLocks noGrp="1" noChangeArrowheads="1"/>
          </p:cNvSpPr>
          <p:nvPr>
            <p:ph idx="1"/>
          </p:nvPr>
        </p:nvSpPr>
        <p:spPr/>
        <p:txBody>
          <a:bodyPr>
            <a:normAutofit/>
          </a:bodyPr>
          <a:lstStyle/>
          <a:p>
            <a:pPr marL="580572" indent="-580572">
              <a:lnSpc>
                <a:spcPct val="80000"/>
              </a:lnSpc>
            </a:pPr>
            <a:r>
              <a:rPr lang="en-US" sz="2667"/>
              <a:t>Keep 1  Bool variable for each process: flag[0] and flag[1]</a:t>
            </a:r>
            <a:endParaRPr lang="en-US" sz="2667" b="1"/>
          </a:p>
          <a:p>
            <a:pPr marL="580572" indent="-580572">
              <a:lnSpc>
                <a:spcPct val="80000"/>
              </a:lnSpc>
            </a:pPr>
            <a:r>
              <a:rPr lang="en-US" sz="2667"/>
              <a:t>Pi signals that it is ready to enter it’s CS by: flag[i]:=true</a:t>
            </a:r>
            <a:endParaRPr lang="en-US" sz="2667" b="1"/>
          </a:p>
          <a:p>
            <a:pPr marL="580572" indent="-580572">
              <a:lnSpc>
                <a:spcPct val="80000"/>
              </a:lnSpc>
            </a:pPr>
            <a:r>
              <a:rPr lang="en-US" sz="2667"/>
              <a:t>Mutual Exclusion is satisfied but not the progress requirement</a:t>
            </a:r>
            <a:endParaRPr lang="en-US" sz="2667" b="1"/>
          </a:p>
          <a:p>
            <a:pPr marL="580572" indent="-580572">
              <a:lnSpc>
                <a:spcPct val="80000"/>
              </a:lnSpc>
            </a:pPr>
            <a:r>
              <a:rPr lang="en-US" sz="2667"/>
              <a:t>If we have the sequence:</a:t>
            </a:r>
            <a:endParaRPr lang="en-US" sz="2667" b="1"/>
          </a:p>
          <a:p>
            <a:pPr marL="1306286" lvl="2" indent="-435428">
              <a:lnSpc>
                <a:spcPct val="80000"/>
              </a:lnSpc>
              <a:buNone/>
            </a:pPr>
            <a:r>
              <a:rPr lang="fr-CA"/>
              <a:t>T0: flag[0]:=true</a:t>
            </a:r>
            <a:endParaRPr lang="en-US"/>
          </a:p>
          <a:p>
            <a:pPr marL="1306286" lvl="2" indent="-435428">
              <a:lnSpc>
                <a:spcPct val="80000"/>
              </a:lnSpc>
              <a:buNone/>
            </a:pPr>
            <a:r>
              <a:rPr lang="fr-CA"/>
              <a:t>T1: flag[1]:=true</a:t>
            </a:r>
            <a:endParaRPr lang="en-US"/>
          </a:p>
          <a:p>
            <a:pPr marL="580572" indent="-580572">
              <a:lnSpc>
                <a:spcPct val="80000"/>
              </a:lnSpc>
              <a:buNone/>
            </a:pPr>
            <a:r>
              <a:rPr lang="tr-TR" sz="2667"/>
              <a:t>	</a:t>
            </a:r>
            <a:r>
              <a:rPr lang="en-US" sz="2667"/>
              <a:t>Both process will wait forever to enter their CS: we have a </a:t>
            </a:r>
            <a:r>
              <a:rPr lang="en-US" sz="2667" b="1" i="1"/>
              <a:t>deadlock</a:t>
            </a:r>
            <a:r>
              <a:rPr lang="en-US" sz="2667"/>
              <a:t> </a:t>
            </a:r>
          </a:p>
        </p:txBody>
      </p:sp>
    </p:spTree>
    <p:extLst>
      <p:ext uri="{BB962C8B-B14F-4D97-AF65-F5344CB8AC3E}">
        <p14:creationId xmlns:p14="http://schemas.microsoft.com/office/powerpoint/2010/main" val="1046901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z="2667">
                <a:effectLst>
                  <a:outerShdw blurRad="38100" dist="38100" dir="2700000" algn="tl">
                    <a:srgbClr val="C0C0C0"/>
                  </a:outerShdw>
                </a:effectLst>
              </a:rPr>
              <a:t>Algorithm 3 (Peterson’s algorithm)</a:t>
            </a:r>
          </a:p>
        </p:txBody>
      </p:sp>
      <p:sp>
        <p:nvSpPr>
          <p:cNvPr id="15363" name="Rectangle 3"/>
          <p:cNvSpPr>
            <a:spLocks noGrp="1" noChangeArrowheads="1"/>
          </p:cNvSpPr>
          <p:nvPr>
            <p:ph idx="1"/>
          </p:nvPr>
        </p:nvSpPr>
        <p:spPr/>
        <p:txBody>
          <a:bodyPr>
            <a:normAutofit/>
          </a:bodyPr>
          <a:lstStyle/>
          <a:p>
            <a:pPr>
              <a:lnSpc>
                <a:spcPct val="80000"/>
              </a:lnSpc>
              <a:buFontTx/>
              <a:buNone/>
            </a:pPr>
            <a:r>
              <a:rPr lang="en-US" sz="2667" b="1" dirty="0">
                <a:latin typeface="Courier" pitchFamily="49" charset="0"/>
              </a:rPr>
              <a:t>Process Pi:</a:t>
            </a:r>
          </a:p>
          <a:p>
            <a:pPr>
              <a:lnSpc>
                <a:spcPct val="80000"/>
              </a:lnSpc>
              <a:buFontTx/>
              <a:buNone/>
            </a:pPr>
            <a:r>
              <a:rPr lang="en-US" sz="2667" b="1" dirty="0">
                <a:latin typeface="Courier" pitchFamily="49" charset="0"/>
              </a:rPr>
              <a:t>repeat</a:t>
            </a:r>
          </a:p>
          <a:p>
            <a:pPr>
              <a:lnSpc>
                <a:spcPct val="80000"/>
              </a:lnSpc>
              <a:buFontTx/>
              <a:buNone/>
            </a:pPr>
            <a:r>
              <a:rPr lang="en-US" sz="2667" b="1" dirty="0">
                <a:latin typeface="Courier" pitchFamily="49" charset="0"/>
              </a:rPr>
              <a:t>  flag[i]:=true;  // want in </a:t>
            </a:r>
          </a:p>
          <a:p>
            <a:pPr>
              <a:lnSpc>
                <a:spcPct val="80000"/>
              </a:lnSpc>
              <a:buFontTx/>
              <a:buNone/>
            </a:pPr>
            <a:r>
              <a:rPr lang="en-US" sz="2667" b="1" dirty="0">
                <a:latin typeface="Courier" pitchFamily="49" charset="0"/>
              </a:rPr>
              <a:t>  turn:=j;    // let the other in</a:t>
            </a:r>
          </a:p>
          <a:p>
            <a:pPr>
              <a:lnSpc>
                <a:spcPct val="80000"/>
              </a:lnSpc>
              <a:buFontTx/>
              <a:buNone/>
            </a:pPr>
            <a:r>
              <a:rPr lang="en-US" sz="2667" b="1" dirty="0">
                <a:latin typeface="Courier" pitchFamily="49" charset="0"/>
              </a:rPr>
              <a:t>  while</a:t>
            </a:r>
          </a:p>
          <a:p>
            <a:pPr>
              <a:lnSpc>
                <a:spcPct val="80000"/>
              </a:lnSpc>
              <a:buFontTx/>
              <a:buNone/>
            </a:pPr>
            <a:r>
              <a:rPr lang="en-US" sz="2667" b="1" dirty="0">
                <a:latin typeface="Courier" pitchFamily="49" charset="0"/>
              </a:rPr>
              <a:t>   (flag[j]&amp;turn=j){};</a:t>
            </a:r>
          </a:p>
          <a:p>
            <a:pPr>
              <a:lnSpc>
                <a:spcPct val="80000"/>
              </a:lnSpc>
              <a:buFontTx/>
              <a:buNone/>
            </a:pPr>
            <a:r>
              <a:rPr lang="en-US" sz="2667" b="1" dirty="0">
                <a:latin typeface="Courier" pitchFamily="49" charset="0"/>
              </a:rPr>
              <a:t>     </a:t>
            </a:r>
            <a:r>
              <a:rPr lang="en-US" sz="2667" b="1" dirty="0">
                <a:solidFill>
                  <a:schemeClr val="accent2"/>
                </a:solidFill>
                <a:latin typeface="Courier" pitchFamily="49" charset="0"/>
              </a:rPr>
              <a:t>CS</a:t>
            </a:r>
          </a:p>
          <a:p>
            <a:pPr>
              <a:lnSpc>
                <a:spcPct val="80000"/>
              </a:lnSpc>
              <a:buFontTx/>
              <a:buNone/>
            </a:pPr>
            <a:r>
              <a:rPr lang="en-US" sz="2667" b="1" dirty="0">
                <a:latin typeface="Courier" pitchFamily="49" charset="0"/>
              </a:rPr>
              <a:t>  flag[i]:=false; // do not want in</a:t>
            </a:r>
          </a:p>
          <a:p>
            <a:pPr>
              <a:lnSpc>
                <a:spcPct val="80000"/>
              </a:lnSpc>
              <a:buFontTx/>
              <a:buNone/>
            </a:pPr>
            <a:r>
              <a:rPr lang="en-US" sz="2667" b="1" dirty="0">
                <a:latin typeface="Courier" pitchFamily="49" charset="0"/>
              </a:rPr>
              <a:t>     </a:t>
            </a:r>
            <a:r>
              <a:rPr lang="en-US" sz="2667" b="1" dirty="0">
                <a:solidFill>
                  <a:schemeClr val="accent2"/>
                </a:solidFill>
                <a:latin typeface="Courier" pitchFamily="49" charset="0"/>
              </a:rPr>
              <a:t>RS</a:t>
            </a:r>
          </a:p>
          <a:p>
            <a:pPr>
              <a:lnSpc>
                <a:spcPct val="80000"/>
              </a:lnSpc>
              <a:buFontTx/>
              <a:buNone/>
            </a:pPr>
            <a:r>
              <a:rPr lang="en-US" sz="2667" b="1" dirty="0">
                <a:latin typeface="Courier" pitchFamily="49" charset="0"/>
              </a:rPr>
              <a:t>forever</a:t>
            </a:r>
          </a:p>
        </p:txBody>
      </p:sp>
    </p:spTree>
    <p:extLst>
      <p:ext uri="{BB962C8B-B14F-4D97-AF65-F5344CB8AC3E}">
        <p14:creationId xmlns:p14="http://schemas.microsoft.com/office/powerpoint/2010/main" val="24771670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57200" y="922868"/>
            <a:ext cx="8229600" cy="4903611"/>
          </a:xfrm>
        </p:spPr>
        <p:txBody>
          <a:bodyPr>
            <a:normAutofit/>
          </a:bodyPr>
          <a:lstStyle/>
          <a:p>
            <a:pPr marL="580572" indent="-580572">
              <a:lnSpc>
                <a:spcPct val="80000"/>
              </a:lnSpc>
            </a:pPr>
            <a:r>
              <a:rPr lang="en-US" sz="1933"/>
              <a:t>Initialization: flag[0]:=flag[1]:=false turn:= 0 or 1</a:t>
            </a:r>
            <a:endParaRPr lang="en-US" sz="1933" b="1"/>
          </a:p>
          <a:p>
            <a:pPr marL="580572" indent="-580572">
              <a:lnSpc>
                <a:spcPct val="80000"/>
              </a:lnSpc>
            </a:pPr>
            <a:r>
              <a:rPr lang="en-US" sz="1933"/>
              <a:t>Willingness to enter CS specified by flag[i]:=true</a:t>
            </a:r>
            <a:endParaRPr lang="en-US" sz="1933" b="1"/>
          </a:p>
          <a:p>
            <a:pPr marL="580572" indent="-580572">
              <a:lnSpc>
                <a:spcPct val="80000"/>
              </a:lnSpc>
            </a:pPr>
            <a:r>
              <a:rPr lang="en-US" sz="1933"/>
              <a:t>If both processes attempt to enter their CS simultaneously, only one turn value will last</a:t>
            </a:r>
            <a:endParaRPr lang="en-US" sz="1933" b="1"/>
          </a:p>
          <a:p>
            <a:pPr marL="580572" indent="-580572">
              <a:lnSpc>
                <a:spcPct val="80000"/>
              </a:lnSpc>
            </a:pPr>
            <a:r>
              <a:rPr lang="en-US" sz="1933"/>
              <a:t>Exit section: specifies that Pi is unwilling to enter CS</a:t>
            </a:r>
            <a:endParaRPr lang="tr-TR" sz="1933"/>
          </a:p>
          <a:p>
            <a:pPr marL="580572" indent="-580572">
              <a:lnSpc>
                <a:spcPct val="80000"/>
              </a:lnSpc>
              <a:buNone/>
            </a:pPr>
            <a:endParaRPr lang="en-US" sz="1933" b="1"/>
          </a:p>
          <a:p>
            <a:pPr marL="580572" indent="-580572">
              <a:lnSpc>
                <a:spcPct val="80000"/>
              </a:lnSpc>
              <a:buNone/>
            </a:pPr>
            <a:r>
              <a:rPr lang="en-US" sz="1933" b="1" u="sng"/>
              <a:t>Execution view of Algorithm </a:t>
            </a:r>
            <a:r>
              <a:rPr lang="tr-TR" sz="1933" b="1" u="sng"/>
              <a:t>3</a:t>
            </a:r>
            <a:endParaRPr lang="en-US" sz="1933" b="1" u="sng"/>
          </a:p>
          <a:p>
            <a:pPr marL="580572" indent="-580572">
              <a:lnSpc>
                <a:spcPct val="80000"/>
              </a:lnSpc>
              <a:buNone/>
            </a:pPr>
            <a:r>
              <a:rPr lang="en-US" sz="1933" b="1">
                <a:latin typeface="Courier" pitchFamily="49" charset="0"/>
              </a:rPr>
              <a:t>Process P0:	</a:t>
            </a:r>
            <a:r>
              <a:rPr lang="tr-TR" sz="1933" b="1">
                <a:latin typeface="Courier" pitchFamily="49" charset="0"/>
              </a:rPr>
              <a:t>		  </a:t>
            </a:r>
            <a:r>
              <a:rPr lang="en-US" sz="1933" b="1">
                <a:latin typeface="Courier" pitchFamily="49" charset="0"/>
              </a:rPr>
              <a:t>Process P1:</a:t>
            </a:r>
          </a:p>
          <a:p>
            <a:pPr marL="580572" indent="-580572">
              <a:lnSpc>
                <a:spcPct val="80000"/>
              </a:lnSpc>
              <a:buNone/>
            </a:pPr>
            <a:r>
              <a:rPr lang="en-US" sz="1933" b="1">
                <a:latin typeface="Courier" pitchFamily="49" charset="0"/>
              </a:rPr>
              <a:t>repeat 	</a:t>
            </a:r>
            <a:r>
              <a:rPr lang="tr-TR" sz="1933" b="1">
                <a:latin typeface="Courier" pitchFamily="49" charset="0"/>
              </a:rPr>
              <a:t>		  </a:t>
            </a:r>
            <a:r>
              <a:rPr lang="en-US" sz="1933" b="1">
                <a:latin typeface="Courier" pitchFamily="49" charset="0"/>
              </a:rPr>
              <a:t>repeat</a:t>
            </a:r>
          </a:p>
          <a:p>
            <a:pPr marL="580572" indent="-580572">
              <a:lnSpc>
                <a:spcPct val="80000"/>
              </a:lnSpc>
              <a:buNone/>
            </a:pPr>
            <a:r>
              <a:rPr lang="en-US" sz="1933" b="1">
                <a:latin typeface="Courier" pitchFamily="49" charset="0"/>
              </a:rPr>
              <a:t> flag[0]:=true;	 </a:t>
            </a:r>
            <a:r>
              <a:rPr lang="tr-TR" sz="1933" b="1">
                <a:latin typeface="Courier" pitchFamily="49" charset="0"/>
              </a:rPr>
              <a:t>	    </a:t>
            </a:r>
            <a:r>
              <a:rPr lang="en-US" sz="1933" b="1">
                <a:latin typeface="Courier" pitchFamily="49" charset="0"/>
              </a:rPr>
              <a:t>flag[1]:=true;</a:t>
            </a:r>
          </a:p>
          <a:p>
            <a:pPr marL="580572" indent="-580572">
              <a:lnSpc>
                <a:spcPct val="80000"/>
              </a:lnSpc>
              <a:buNone/>
            </a:pPr>
            <a:r>
              <a:rPr lang="en-US" sz="1933" b="1">
                <a:latin typeface="Courier" pitchFamily="49" charset="0"/>
              </a:rPr>
              <a:t> turn:= 1;	 </a:t>
            </a:r>
            <a:r>
              <a:rPr lang="tr-TR" sz="1933" b="1">
                <a:latin typeface="Courier" pitchFamily="49" charset="0"/>
              </a:rPr>
              <a:t>		    </a:t>
            </a:r>
            <a:r>
              <a:rPr lang="en-US" sz="1933" b="1">
                <a:latin typeface="Courier" pitchFamily="49" charset="0"/>
              </a:rPr>
              <a:t>turn:= 0; </a:t>
            </a:r>
          </a:p>
          <a:p>
            <a:pPr marL="580572" indent="-580572">
              <a:lnSpc>
                <a:spcPct val="80000"/>
              </a:lnSpc>
              <a:buNone/>
            </a:pPr>
            <a:r>
              <a:rPr lang="en-US" sz="1933" b="1">
                <a:latin typeface="Courier" pitchFamily="49" charset="0"/>
              </a:rPr>
              <a:t> while(flag[1]&amp;turn=1){}; </a:t>
            </a:r>
            <a:r>
              <a:rPr lang="tr-TR" sz="1933" b="1">
                <a:latin typeface="Courier" pitchFamily="49" charset="0"/>
              </a:rPr>
              <a:t>  </a:t>
            </a:r>
            <a:r>
              <a:rPr lang="en-US" sz="1933" b="1">
                <a:latin typeface="Courier" pitchFamily="49" charset="0"/>
              </a:rPr>
              <a:t>while(flag[0]&amp;turn=0){};</a:t>
            </a:r>
          </a:p>
          <a:p>
            <a:pPr marL="580572" indent="-580572">
              <a:lnSpc>
                <a:spcPct val="80000"/>
              </a:lnSpc>
              <a:buNone/>
            </a:pPr>
            <a:r>
              <a:rPr lang="en-US" sz="1933" b="1">
                <a:latin typeface="Courier" pitchFamily="49" charset="0"/>
              </a:rPr>
              <a:t>     </a:t>
            </a:r>
            <a:r>
              <a:rPr lang="fr-CA" sz="1933" b="1">
                <a:solidFill>
                  <a:schemeClr val="accent2"/>
                </a:solidFill>
                <a:latin typeface="Courier" pitchFamily="49" charset="0"/>
              </a:rPr>
              <a:t>CS 	</a:t>
            </a:r>
            <a:r>
              <a:rPr lang="fr-CA" sz="1933" b="1">
                <a:latin typeface="Courier" pitchFamily="49" charset="0"/>
              </a:rPr>
              <a:t>	</a:t>
            </a:r>
            <a:r>
              <a:rPr lang="tr-TR" sz="1933" b="1">
                <a:latin typeface="Courier" pitchFamily="49" charset="0"/>
              </a:rPr>
              <a:t>		  </a:t>
            </a:r>
            <a:r>
              <a:rPr lang="fr-CA" sz="1933" b="1">
                <a:solidFill>
                  <a:schemeClr val="accent2"/>
                </a:solidFill>
                <a:latin typeface="Courier" pitchFamily="49" charset="0"/>
              </a:rPr>
              <a:t>CS</a:t>
            </a:r>
          </a:p>
          <a:p>
            <a:pPr marL="580572" indent="-580572">
              <a:lnSpc>
                <a:spcPct val="80000"/>
              </a:lnSpc>
              <a:buNone/>
            </a:pPr>
            <a:r>
              <a:rPr lang="fr-CA" sz="1933" b="1">
                <a:latin typeface="Courier" pitchFamily="49" charset="0"/>
              </a:rPr>
              <a:t> flag[0]:=false;	</a:t>
            </a:r>
            <a:r>
              <a:rPr lang="tr-TR" sz="1933" b="1">
                <a:latin typeface="Courier" pitchFamily="49" charset="0"/>
              </a:rPr>
              <a:t>	    </a:t>
            </a:r>
            <a:r>
              <a:rPr lang="fr-CA" sz="1933" b="1">
                <a:latin typeface="Courier" pitchFamily="49" charset="0"/>
              </a:rPr>
              <a:t>flag[1]:=false;</a:t>
            </a:r>
          </a:p>
          <a:p>
            <a:pPr marL="580572" indent="-580572">
              <a:lnSpc>
                <a:spcPct val="80000"/>
              </a:lnSpc>
              <a:buNone/>
            </a:pPr>
            <a:r>
              <a:rPr lang="fr-CA" sz="1933" b="1">
                <a:latin typeface="Courier" pitchFamily="49" charset="0"/>
              </a:rPr>
              <a:t>     </a:t>
            </a:r>
            <a:r>
              <a:rPr lang="fr-CA" sz="1933" b="1">
                <a:solidFill>
                  <a:schemeClr val="accent2"/>
                </a:solidFill>
                <a:latin typeface="Courier" pitchFamily="49" charset="0"/>
              </a:rPr>
              <a:t>RS</a:t>
            </a:r>
            <a:r>
              <a:rPr lang="fr-CA" sz="1933" b="1">
                <a:latin typeface="Courier" pitchFamily="49" charset="0"/>
              </a:rPr>
              <a:t> 				</a:t>
            </a:r>
            <a:r>
              <a:rPr lang="tr-TR" sz="1933" b="1">
                <a:latin typeface="Courier" pitchFamily="49" charset="0"/>
              </a:rPr>
              <a:t>  </a:t>
            </a:r>
            <a:r>
              <a:rPr lang="fr-CA" sz="1933" b="1">
                <a:solidFill>
                  <a:schemeClr val="accent2"/>
                </a:solidFill>
                <a:latin typeface="Courier" pitchFamily="49" charset="0"/>
              </a:rPr>
              <a:t>RS</a:t>
            </a:r>
            <a:endParaRPr lang="en-US" sz="1933" b="1">
              <a:solidFill>
                <a:schemeClr val="accent2"/>
              </a:solidFill>
              <a:latin typeface="Courier" pitchFamily="49" charset="0"/>
            </a:endParaRPr>
          </a:p>
          <a:p>
            <a:pPr marL="580572" indent="-580572">
              <a:lnSpc>
                <a:spcPct val="80000"/>
              </a:lnSpc>
              <a:buNone/>
            </a:pPr>
            <a:r>
              <a:rPr lang="en-US" sz="1933" b="1">
                <a:latin typeface="Courier" pitchFamily="49" charset="0"/>
              </a:rPr>
              <a:t>forever 			</a:t>
            </a:r>
            <a:r>
              <a:rPr lang="tr-TR" sz="1933" b="1">
                <a:latin typeface="Courier" pitchFamily="49" charset="0"/>
              </a:rPr>
              <a:t>  </a:t>
            </a:r>
            <a:r>
              <a:rPr lang="en-US" sz="1933" b="1">
                <a:latin typeface="Courier" pitchFamily="49" charset="0"/>
              </a:rPr>
              <a:t>forever</a:t>
            </a:r>
          </a:p>
        </p:txBody>
      </p:sp>
    </p:spTree>
    <p:extLst>
      <p:ext uri="{BB962C8B-B14F-4D97-AF65-F5344CB8AC3E}">
        <p14:creationId xmlns:p14="http://schemas.microsoft.com/office/powerpoint/2010/main" val="20762766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100667" y="627592"/>
            <a:ext cx="7586133" cy="512233"/>
          </a:xfrm>
        </p:spPr>
        <p:txBody>
          <a:bodyPr>
            <a:normAutofit/>
          </a:bodyPr>
          <a:lstStyle/>
          <a:p>
            <a:pPr eaLnBrk="1" hangingPunct="1"/>
            <a:r>
              <a:rPr lang="en-US" smtClean="0"/>
              <a:t>Synchronization Hardware</a:t>
            </a:r>
          </a:p>
        </p:txBody>
      </p:sp>
      <p:sp>
        <p:nvSpPr>
          <p:cNvPr id="15363" name="Rectangle 3"/>
          <p:cNvSpPr>
            <a:spLocks noGrp="1" noChangeArrowheads="1"/>
          </p:cNvSpPr>
          <p:nvPr>
            <p:ph idx="1"/>
          </p:nvPr>
        </p:nvSpPr>
        <p:spPr>
          <a:xfrm>
            <a:off x="806451" y="1477434"/>
            <a:ext cx="7623175" cy="3931709"/>
          </a:xfrm>
        </p:spPr>
        <p:txBody>
          <a:bodyPr>
            <a:normAutofit lnSpcReduction="10000"/>
          </a:bodyPr>
          <a:lstStyle/>
          <a:p>
            <a:pPr>
              <a:lnSpc>
                <a:spcPct val="90000"/>
              </a:lnSpc>
              <a:tabLst>
                <a:tab pos="707002" algn="l"/>
                <a:tab pos="974774" algn="l"/>
                <a:tab pos="1199152" algn="l"/>
              </a:tabLst>
            </a:pPr>
            <a:r>
              <a:rPr lang="en-US" dirty="0" smtClean="0"/>
              <a:t>Many systems provide hardware support for critical section code</a:t>
            </a:r>
          </a:p>
          <a:p>
            <a:pPr>
              <a:lnSpc>
                <a:spcPct val="90000"/>
              </a:lnSpc>
              <a:tabLst>
                <a:tab pos="707002" algn="l"/>
                <a:tab pos="974774" algn="l"/>
                <a:tab pos="1199152" algn="l"/>
              </a:tabLst>
            </a:pPr>
            <a:endParaRPr lang="en-US" dirty="0" smtClean="0"/>
          </a:p>
          <a:p>
            <a:pPr>
              <a:lnSpc>
                <a:spcPct val="90000"/>
              </a:lnSpc>
              <a:tabLst>
                <a:tab pos="707002" algn="l"/>
                <a:tab pos="974774" algn="l"/>
                <a:tab pos="1199152" algn="l"/>
              </a:tabLst>
            </a:pPr>
            <a:r>
              <a:rPr lang="en-US" dirty="0" smtClean="0"/>
              <a:t>Uniprocessors – could disable interrupts</a:t>
            </a:r>
          </a:p>
          <a:p>
            <a:pPr lvl="1">
              <a:lnSpc>
                <a:spcPct val="90000"/>
              </a:lnSpc>
              <a:tabLst>
                <a:tab pos="707002" algn="l"/>
                <a:tab pos="974774" algn="l"/>
                <a:tab pos="1199152" algn="l"/>
              </a:tabLst>
            </a:pPr>
            <a:r>
              <a:rPr lang="en-US" dirty="0" smtClean="0"/>
              <a:t>Currently running code would execute without preemption</a:t>
            </a:r>
          </a:p>
          <a:p>
            <a:pPr marL="715469" lvl="1" indent="-293173">
              <a:lnSpc>
                <a:spcPct val="90000"/>
              </a:lnSpc>
              <a:tabLst>
                <a:tab pos="707002" algn="l"/>
                <a:tab pos="974774" algn="l"/>
                <a:tab pos="1199152" algn="l"/>
              </a:tabLst>
            </a:pPr>
            <a:r>
              <a:rPr lang="en-US" dirty="0"/>
              <a:t>mutual exclusion is preserved but efficiency of execution is degraded </a:t>
            </a:r>
          </a:p>
          <a:p>
            <a:pPr marL="715469" lvl="1" indent="-293173">
              <a:lnSpc>
                <a:spcPct val="90000"/>
              </a:lnSpc>
              <a:tabLst>
                <a:tab pos="707002" algn="l"/>
                <a:tab pos="974774" algn="l"/>
                <a:tab pos="1199152" algn="l"/>
              </a:tabLst>
            </a:pPr>
            <a:r>
              <a:rPr lang="en-US" dirty="0"/>
              <a:t>The reason is that while in CS, we cannot interleave execution with other processes that are in RS</a:t>
            </a:r>
            <a:endParaRPr lang="tr-TR" dirty="0"/>
          </a:p>
          <a:p>
            <a:pPr lvl="1">
              <a:lnSpc>
                <a:spcPct val="90000"/>
              </a:lnSpc>
              <a:tabLst>
                <a:tab pos="707002" algn="l"/>
                <a:tab pos="974774" algn="l"/>
                <a:tab pos="1199152" algn="l"/>
              </a:tabLst>
            </a:pPr>
            <a:r>
              <a:rPr lang="en-US" dirty="0" smtClean="0"/>
              <a:t>Generally too inefficient on multiprocessor systems</a:t>
            </a:r>
          </a:p>
          <a:p>
            <a:pPr lvl="2">
              <a:lnSpc>
                <a:spcPct val="90000"/>
              </a:lnSpc>
              <a:tabLst>
                <a:tab pos="707002" algn="l"/>
                <a:tab pos="974774" algn="l"/>
                <a:tab pos="1199152" algn="l"/>
              </a:tabLst>
            </a:pPr>
            <a:r>
              <a:rPr lang="en-US" dirty="0" smtClean="0"/>
              <a:t>Operating systems using this not broadly scalable</a:t>
            </a:r>
          </a:p>
          <a:p>
            <a:pPr lvl="2">
              <a:lnSpc>
                <a:spcPct val="90000"/>
              </a:lnSpc>
              <a:tabLst>
                <a:tab pos="707002" algn="l"/>
                <a:tab pos="974774" algn="l"/>
                <a:tab pos="1199152" algn="l"/>
              </a:tabLst>
            </a:pPr>
            <a:endParaRPr lang="en-US" dirty="0" smtClean="0"/>
          </a:p>
          <a:p>
            <a:pPr>
              <a:lnSpc>
                <a:spcPct val="90000"/>
              </a:lnSpc>
              <a:tabLst>
                <a:tab pos="707002" algn="l"/>
                <a:tab pos="974774" algn="l"/>
                <a:tab pos="1199152" algn="l"/>
              </a:tabLst>
            </a:pPr>
            <a:r>
              <a:rPr lang="en-US" dirty="0" smtClean="0"/>
              <a:t>Modern machines provide special atomic hardware instructions</a:t>
            </a:r>
          </a:p>
          <a:p>
            <a:pPr lvl="2">
              <a:lnSpc>
                <a:spcPct val="90000"/>
              </a:lnSpc>
              <a:tabLst>
                <a:tab pos="707002" algn="l"/>
                <a:tab pos="974774" algn="l"/>
                <a:tab pos="1199152" algn="l"/>
              </a:tabLst>
            </a:pPr>
            <a:r>
              <a:rPr lang="en-US" dirty="0" smtClean="0">
                <a:solidFill>
                  <a:schemeClr val="tx2"/>
                </a:solidFill>
              </a:rPr>
              <a:t>Atomic = non-</a:t>
            </a:r>
            <a:r>
              <a:rPr lang="en-US" dirty="0" err="1" smtClean="0">
                <a:solidFill>
                  <a:schemeClr val="tx2"/>
                </a:solidFill>
              </a:rPr>
              <a:t>interruptable</a:t>
            </a:r>
            <a:endParaRPr lang="en-US" dirty="0" smtClean="0">
              <a:solidFill>
                <a:schemeClr val="tx2"/>
              </a:solidFill>
            </a:endParaRPr>
          </a:p>
          <a:p>
            <a:pPr lvl="1">
              <a:lnSpc>
                <a:spcPct val="90000"/>
              </a:lnSpc>
              <a:tabLst>
                <a:tab pos="707002" algn="l"/>
                <a:tab pos="974774" algn="l"/>
                <a:tab pos="1199152" algn="l"/>
              </a:tabLst>
            </a:pPr>
            <a:r>
              <a:rPr lang="en-US" dirty="0"/>
              <a:t>mutual exclusion is not preserved</a:t>
            </a:r>
            <a:endParaRPr lang="en-US" b="1" dirty="0"/>
          </a:p>
          <a:p>
            <a:pPr lvl="1">
              <a:lnSpc>
                <a:spcPct val="90000"/>
              </a:lnSpc>
              <a:tabLst>
                <a:tab pos="707002" algn="l"/>
                <a:tab pos="974774" algn="l"/>
                <a:tab pos="1199152" algn="l"/>
              </a:tabLst>
            </a:pPr>
            <a:r>
              <a:rPr lang="en-US" dirty="0" smtClean="0"/>
              <a:t>Either test memory word and set value</a:t>
            </a:r>
          </a:p>
          <a:p>
            <a:pPr lvl="1">
              <a:lnSpc>
                <a:spcPct val="90000"/>
              </a:lnSpc>
              <a:tabLst>
                <a:tab pos="707002" algn="l"/>
                <a:tab pos="974774" algn="l"/>
                <a:tab pos="1199152" algn="l"/>
              </a:tabLst>
            </a:pPr>
            <a:r>
              <a:rPr lang="en-US" dirty="0" smtClean="0"/>
              <a:t>Or swap contents of two memory words</a:t>
            </a:r>
          </a:p>
        </p:txBody>
      </p:sp>
    </p:spTree>
    <p:extLst>
      <p:ext uri="{BB962C8B-B14F-4D97-AF65-F5344CB8AC3E}">
        <p14:creationId xmlns:p14="http://schemas.microsoft.com/office/powerpoint/2010/main" val="8334072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74431" y="920669"/>
            <a:ext cx="8229600" cy="512233"/>
          </a:xfrm>
        </p:spPr>
        <p:txBody>
          <a:bodyPr>
            <a:normAutofit/>
          </a:bodyPr>
          <a:lstStyle/>
          <a:p>
            <a:r>
              <a:rPr lang="en-US" dirty="0">
                <a:effectLst>
                  <a:outerShdw blurRad="38100" dist="38100" dir="2700000" algn="tl">
                    <a:srgbClr val="C0C0C0"/>
                  </a:outerShdw>
                </a:effectLst>
              </a:rPr>
              <a:t>Hardware solutions: interrupt disabling/enabling</a:t>
            </a:r>
          </a:p>
        </p:txBody>
      </p:sp>
      <p:sp>
        <p:nvSpPr>
          <p:cNvPr id="25603" name="Rectangle 3"/>
          <p:cNvSpPr>
            <a:spLocks noGrp="1" noChangeArrowheads="1"/>
          </p:cNvSpPr>
          <p:nvPr>
            <p:ph idx="1"/>
          </p:nvPr>
        </p:nvSpPr>
        <p:spPr/>
        <p:txBody>
          <a:bodyPr>
            <a:normAutofit/>
          </a:bodyPr>
          <a:lstStyle/>
          <a:p>
            <a:pPr>
              <a:buFontTx/>
              <a:buNone/>
            </a:pPr>
            <a:r>
              <a:rPr lang="en-US" sz="2667" b="1" dirty="0">
                <a:latin typeface="Courier" pitchFamily="49" charset="0"/>
              </a:rPr>
              <a:t>Process Pi:</a:t>
            </a:r>
          </a:p>
          <a:p>
            <a:pPr>
              <a:buFontTx/>
              <a:buNone/>
            </a:pPr>
            <a:r>
              <a:rPr lang="en-US" sz="2667" b="1" dirty="0">
                <a:latin typeface="Courier" pitchFamily="49" charset="0"/>
              </a:rPr>
              <a:t>repeat</a:t>
            </a:r>
          </a:p>
          <a:p>
            <a:pPr>
              <a:buFontTx/>
              <a:buNone/>
            </a:pPr>
            <a:r>
              <a:rPr lang="en-US" sz="2667" b="1" dirty="0">
                <a:latin typeface="Courier" pitchFamily="49" charset="0"/>
              </a:rPr>
              <a:t>  </a:t>
            </a:r>
            <a:r>
              <a:rPr lang="en-US" sz="2667" b="1" dirty="0">
                <a:solidFill>
                  <a:schemeClr val="accent2"/>
                </a:solidFill>
                <a:latin typeface="Courier" pitchFamily="49" charset="0"/>
              </a:rPr>
              <a:t>disable interrupts</a:t>
            </a:r>
          </a:p>
          <a:p>
            <a:pPr>
              <a:buFontTx/>
              <a:buNone/>
            </a:pPr>
            <a:r>
              <a:rPr lang="en-US" sz="2667" b="1" dirty="0">
                <a:latin typeface="Courier" pitchFamily="49" charset="0"/>
              </a:rPr>
              <a:t>   critical section</a:t>
            </a:r>
          </a:p>
          <a:p>
            <a:pPr>
              <a:buFontTx/>
              <a:buNone/>
            </a:pPr>
            <a:r>
              <a:rPr lang="en-US" sz="2667" b="1" dirty="0">
                <a:latin typeface="Courier" pitchFamily="49" charset="0"/>
              </a:rPr>
              <a:t>  </a:t>
            </a:r>
            <a:r>
              <a:rPr lang="en-US" sz="2667" b="1" dirty="0">
                <a:solidFill>
                  <a:schemeClr val="accent2"/>
                </a:solidFill>
                <a:latin typeface="Courier" pitchFamily="49" charset="0"/>
              </a:rPr>
              <a:t>enable interrupts</a:t>
            </a:r>
          </a:p>
          <a:p>
            <a:pPr>
              <a:buFontTx/>
              <a:buNone/>
            </a:pPr>
            <a:r>
              <a:rPr lang="en-US" sz="2667" b="1" dirty="0">
                <a:latin typeface="Courier" pitchFamily="49" charset="0"/>
              </a:rPr>
              <a:t>   remainder section</a:t>
            </a:r>
          </a:p>
          <a:p>
            <a:pPr>
              <a:buFontTx/>
              <a:buNone/>
            </a:pPr>
            <a:r>
              <a:rPr lang="en-US" sz="2667" b="1" dirty="0">
                <a:latin typeface="Courier" pitchFamily="49" charset="0"/>
              </a:rPr>
              <a:t>forever</a:t>
            </a:r>
          </a:p>
        </p:txBody>
      </p:sp>
    </p:spTree>
    <p:extLst>
      <p:ext uri="{BB962C8B-B14F-4D97-AF65-F5344CB8AC3E}">
        <p14:creationId xmlns:p14="http://schemas.microsoft.com/office/powerpoint/2010/main" val="13713301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1402292" y="2201334"/>
            <a:ext cx="2021417" cy="277283"/>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0957" tIns="30479" rIns="60957" bIns="30479"/>
          <a:lstStyle/>
          <a:p>
            <a:pPr>
              <a:defRPr/>
            </a:pPr>
            <a:endParaRPr lang="en-US" sz="1200">
              <a:solidFill>
                <a:schemeClr val="tx1"/>
              </a:solidFill>
              <a:latin typeface="Verdana" charset="0"/>
            </a:endParaRPr>
          </a:p>
        </p:txBody>
      </p:sp>
      <p:sp>
        <p:nvSpPr>
          <p:cNvPr id="6" name="Rectangle 5"/>
          <p:cNvSpPr/>
          <p:nvPr/>
        </p:nvSpPr>
        <p:spPr bwMode="auto">
          <a:xfrm>
            <a:off x="1409700" y="1711325"/>
            <a:ext cx="2021417" cy="2540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0957" tIns="30479" rIns="60957" bIns="30479"/>
          <a:lstStyle/>
          <a:p>
            <a:pPr>
              <a:defRPr/>
            </a:pPr>
            <a:endParaRPr lang="en-US" sz="1200">
              <a:solidFill>
                <a:schemeClr val="tx1"/>
              </a:solidFill>
              <a:latin typeface="Verdana" charset="0"/>
            </a:endParaRPr>
          </a:p>
        </p:txBody>
      </p:sp>
      <p:sp>
        <p:nvSpPr>
          <p:cNvPr id="16389" name="Title 1"/>
          <p:cNvSpPr>
            <a:spLocks noGrp="1"/>
          </p:cNvSpPr>
          <p:nvPr>
            <p:ph type="title"/>
          </p:nvPr>
        </p:nvSpPr>
        <p:spPr>
          <a:xfrm>
            <a:off x="846667" y="644526"/>
            <a:ext cx="8154459" cy="512233"/>
          </a:xfrm>
        </p:spPr>
        <p:txBody>
          <a:bodyPr>
            <a:normAutofit fontScale="90000"/>
          </a:bodyPr>
          <a:lstStyle/>
          <a:p>
            <a:r>
              <a:rPr lang="en-US" sz="2667"/>
              <a:t>Solution to Critical-section </a:t>
            </a:r>
            <a:br>
              <a:rPr lang="en-US" sz="2667"/>
            </a:br>
            <a:r>
              <a:rPr lang="en-US" sz="2667"/>
              <a:t>Problem Using Locks</a:t>
            </a:r>
          </a:p>
        </p:txBody>
      </p:sp>
      <p:sp>
        <p:nvSpPr>
          <p:cNvPr id="16388" name="Content Placeholder 2"/>
          <p:cNvSpPr>
            <a:spLocks noGrp="1"/>
          </p:cNvSpPr>
          <p:nvPr>
            <p:ph idx="1"/>
          </p:nvPr>
        </p:nvSpPr>
        <p:spPr>
          <a:xfrm>
            <a:off x="806450" y="1443567"/>
            <a:ext cx="10057342" cy="4026959"/>
          </a:xfrm>
        </p:spPr>
        <p:txBody>
          <a:bodyPr/>
          <a:lstStyle/>
          <a:p>
            <a:pPr>
              <a:buFont typeface="Monotype Sorts" charset="2"/>
              <a:buNone/>
            </a:pPr>
            <a:r>
              <a:rPr lang="en-US" smtClean="0">
                <a:solidFill>
                  <a:srgbClr val="0000FF"/>
                </a:solidFill>
              </a:rPr>
              <a:t>	do { </a:t>
            </a:r>
          </a:p>
          <a:p>
            <a:pPr>
              <a:buFont typeface="Monotype Sorts" charset="2"/>
              <a:buNone/>
            </a:pPr>
            <a:r>
              <a:rPr lang="en-US" smtClean="0">
                <a:solidFill>
                  <a:srgbClr val="0000FF"/>
                </a:solidFill>
              </a:rPr>
              <a:t>		acquire lock </a:t>
            </a:r>
          </a:p>
          <a:p>
            <a:pPr>
              <a:buFont typeface="Monotype Sorts" charset="2"/>
              <a:buNone/>
            </a:pPr>
            <a:r>
              <a:rPr lang="en-US" smtClean="0">
                <a:solidFill>
                  <a:srgbClr val="0000FF"/>
                </a:solidFill>
              </a:rPr>
              <a:t>			critical section </a:t>
            </a:r>
          </a:p>
          <a:p>
            <a:pPr>
              <a:buFont typeface="Monotype Sorts" charset="2"/>
              <a:buNone/>
            </a:pPr>
            <a:r>
              <a:rPr lang="en-US" smtClean="0">
                <a:solidFill>
                  <a:srgbClr val="0000FF"/>
                </a:solidFill>
              </a:rPr>
              <a:t>		release lock </a:t>
            </a:r>
          </a:p>
          <a:p>
            <a:pPr>
              <a:buFont typeface="Monotype Sorts" charset="2"/>
              <a:buNone/>
            </a:pPr>
            <a:r>
              <a:rPr lang="en-US" smtClean="0">
                <a:solidFill>
                  <a:srgbClr val="0000FF"/>
                </a:solidFill>
              </a:rPr>
              <a:t>			remainder section </a:t>
            </a:r>
          </a:p>
          <a:p>
            <a:pPr>
              <a:buFont typeface="Monotype Sorts" charset="2"/>
              <a:buNone/>
            </a:pPr>
            <a:r>
              <a:rPr lang="en-US" smtClean="0">
                <a:solidFill>
                  <a:srgbClr val="0000FF"/>
                </a:solidFill>
              </a:rPr>
              <a:t>	} while (TRUE); </a:t>
            </a:r>
          </a:p>
        </p:txBody>
      </p:sp>
    </p:spTree>
    <p:extLst>
      <p:ext uri="{BB962C8B-B14F-4D97-AF65-F5344CB8AC3E}">
        <p14:creationId xmlns:p14="http://schemas.microsoft.com/office/powerpoint/2010/main" val="41067815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87992" y="627592"/>
            <a:ext cx="7398808" cy="512233"/>
          </a:xfrm>
        </p:spPr>
        <p:txBody>
          <a:bodyPr>
            <a:normAutofit/>
          </a:bodyPr>
          <a:lstStyle/>
          <a:p>
            <a:pPr eaLnBrk="1" hangingPunct="1"/>
            <a:r>
              <a:rPr lang="en-US" smtClean="0"/>
              <a:t>TestAndSet Instruction </a:t>
            </a:r>
          </a:p>
        </p:txBody>
      </p:sp>
      <p:sp>
        <p:nvSpPr>
          <p:cNvPr id="17411" name="Rectangle 3"/>
          <p:cNvSpPr>
            <a:spLocks noGrp="1" noChangeArrowheads="1"/>
          </p:cNvSpPr>
          <p:nvPr>
            <p:ph idx="1"/>
          </p:nvPr>
        </p:nvSpPr>
        <p:spPr>
          <a:xfrm>
            <a:off x="806450" y="1477434"/>
            <a:ext cx="7409392" cy="3931709"/>
          </a:xfrm>
        </p:spPr>
        <p:txBody>
          <a:bodyPr/>
          <a:lstStyle/>
          <a:p>
            <a:pPr>
              <a:lnSpc>
                <a:spcPct val="90000"/>
              </a:lnSpc>
              <a:buNone/>
              <a:tabLst>
                <a:tab pos="707002" algn="l"/>
                <a:tab pos="974774" algn="l"/>
                <a:tab pos="1199152" algn="l"/>
              </a:tabLst>
            </a:pPr>
            <a:endParaRPr lang="en-US" smtClean="0"/>
          </a:p>
          <a:p>
            <a:pPr>
              <a:lnSpc>
                <a:spcPct val="90000"/>
              </a:lnSpc>
              <a:tabLst>
                <a:tab pos="707002" algn="l"/>
                <a:tab pos="974774" algn="l"/>
                <a:tab pos="1199152" algn="l"/>
              </a:tabLst>
            </a:pPr>
            <a:r>
              <a:rPr lang="en-US" smtClean="0"/>
              <a:t>Definition:</a:t>
            </a:r>
          </a:p>
          <a:p>
            <a:pPr>
              <a:lnSpc>
                <a:spcPct val="90000"/>
              </a:lnSpc>
              <a:tabLst>
                <a:tab pos="707002" algn="l"/>
                <a:tab pos="974774" algn="l"/>
                <a:tab pos="1199152" algn="l"/>
              </a:tabLst>
            </a:pPr>
            <a:endParaRPr lang="en-US" smtClean="0"/>
          </a:p>
          <a:p>
            <a:pPr>
              <a:lnSpc>
                <a:spcPct val="90000"/>
              </a:lnSpc>
              <a:buNone/>
              <a:tabLst>
                <a:tab pos="707002" algn="l"/>
                <a:tab pos="974774" algn="l"/>
                <a:tab pos="1199152" algn="l"/>
              </a:tabLst>
            </a:pPr>
            <a:r>
              <a:rPr lang="en-US" smtClean="0"/>
              <a:t>         </a:t>
            </a:r>
            <a:r>
              <a:rPr lang="en-US" smtClean="0">
                <a:solidFill>
                  <a:srgbClr val="0000FF"/>
                </a:solidFill>
              </a:rPr>
              <a:t>boolean TestAndSet (boolean *target)</a:t>
            </a:r>
          </a:p>
          <a:p>
            <a:pPr>
              <a:lnSpc>
                <a:spcPct val="90000"/>
              </a:lnSpc>
              <a:buNone/>
              <a:tabLst>
                <a:tab pos="707002" algn="l"/>
                <a:tab pos="974774" algn="l"/>
                <a:tab pos="1199152" algn="l"/>
              </a:tabLst>
            </a:pPr>
            <a:r>
              <a:rPr lang="en-US" smtClean="0">
                <a:solidFill>
                  <a:srgbClr val="0000FF"/>
                </a:solidFill>
              </a:rPr>
              <a:t>          {</a:t>
            </a:r>
          </a:p>
          <a:p>
            <a:pPr>
              <a:lnSpc>
                <a:spcPct val="90000"/>
              </a:lnSpc>
              <a:buNone/>
              <a:tabLst>
                <a:tab pos="707002" algn="l"/>
                <a:tab pos="974774" algn="l"/>
                <a:tab pos="1199152" algn="l"/>
              </a:tabLst>
            </a:pPr>
            <a:r>
              <a:rPr lang="en-US" smtClean="0">
                <a:solidFill>
                  <a:srgbClr val="0000FF"/>
                </a:solidFill>
              </a:rPr>
              <a:t>               boolean rv = *target;</a:t>
            </a:r>
          </a:p>
          <a:p>
            <a:pPr>
              <a:lnSpc>
                <a:spcPct val="90000"/>
              </a:lnSpc>
              <a:buNone/>
              <a:tabLst>
                <a:tab pos="707002" algn="l"/>
                <a:tab pos="974774" algn="l"/>
                <a:tab pos="1199152" algn="l"/>
              </a:tabLst>
            </a:pPr>
            <a:r>
              <a:rPr lang="en-US" smtClean="0">
                <a:solidFill>
                  <a:srgbClr val="0000FF"/>
                </a:solidFill>
              </a:rPr>
              <a:t>               *target = TRUE;</a:t>
            </a:r>
          </a:p>
          <a:p>
            <a:pPr>
              <a:lnSpc>
                <a:spcPct val="90000"/>
              </a:lnSpc>
              <a:buNone/>
              <a:tabLst>
                <a:tab pos="707002" algn="l"/>
                <a:tab pos="974774" algn="l"/>
                <a:tab pos="1199152" algn="l"/>
              </a:tabLst>
            </a:pPr>
            <a:r>
              <a:rPr lang="en-US" smtClean="0">
                <a:solidFill>
                  <a:srgbClr val="0000FF"/>
                </a:solidFill>
              </a:rPr>
              <a:t>               return rv:</a:t>
            </a:r>
          </a:p>
          <a:p>
            <a:pPr>
              <a:lnSpc>
                <a:spcPct val="90000"/>
              </a:lnSpc>
              <a:buNone/>
              <a:tabLst>
                <a:tab pos="707002" algn="l"/>
                <a:tab pos="974774" algn="l"/>
                <a:tab pos="1199152" algn="l"/>
              </a:tabLst>
            </a:pPr>
            <a:r>
              <a:rPr lang="en-US" smtClean="0">
                <a:solidFill>
                  <a:srgbClr val="0000FF"/>
                </a:solidFill>
              </a:rPr>
              <a:t>          }</a:t>
            </a:r>
          </a:p>
          <a:p>
            <a:pPr>
              <a:lnSpc>
                <a:spcPct val="90000"/>
              </a:lnSpc>
              <a:buNone/>
              <a:tabLst>
                <a:tab pos="707002" algn="l"/>
                <a:tab pos="974774" algn="l"/>
                <a:tab pos="1199152" algn="l"/>
              </a:tabLst>
            </a:pPr>
            <a:endParaRPr lang="en-US" smtClean="0">
              <a:solidFill>
                <a:srgbClr val="0000FF"/>
              </a:solidFill>
            </a:endParaRPr>
          </a:p>
        </p:txBody>
      </p:sp>
    </p:spTree>
    <p:extLst>
      <p:ext uri="{BB962C8B-B14F-4D97-AF65-F5344CB8AC3E}">
        <p14:creationId xmlns:p14="http://schemas.microsoft.com/office/powerpoint/2010/main" val="12168009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49842" y="627592"/>
            <a:ext cx="7836958" cy="512233"/>
          </a:xfrm>
        </p:spPr>
        <p:txBody>
          <a:bodyPr>
            <a:normAutofit/>
          </a:bodyPr>
          <a:lstStyle/>
          <a:p>
            <a:pPr eaLnBrk="1" hangingPunct="1"/>
            <a:r>
              <a:rPr lang="en-US" smtClean="0"/>
              <a:t>Solution using TestAndSet</a:t>
            </a:r>
          </a:p>
        </p:txBody>
      </p:sp>
      <p:sp>
        <p:nvSpPr>
          <p:cNvPr id="18435" name="Rectangle 3"/>
          <p:cNvSpPr>
            <a:spLocks noGrp="1" noChangeArrowheads="1"/>
          </p:cNvSpPr>
          <p:nvPr>
            <p:ph idx="1"/>
          </p:nvPr>
        </p:nvSpPr>
        <p:spPr>
          <a:xfrm>
            <a:off x="827617" y="1584326"/>
            <a:ext cx="6865409" cy="4472517"/>
          </a:xfrm>
        </p:spPr>
        <p:txBody>
          <a:bodyPr>
            <a:normAutofit fontScale="92500" lnSpcReduction="10000"/>
          </a:bodyPr>
          <a:lstStyle/>
          <a:p>
            <a:pPr>
              <a:lnSpc>
                <a:spcPct val="90000"/>
              </a:lnSpc>
              <a:tabLst>
                <a:tab pos="707002" algn="l"/>
                <a:tab pos="974774" algn="l"/>
                <a:tab pos="1199152" algn="l"/>
              </a:tabLst>
            </a:pPr>
            <a:r>
              <a:rPr lang="en-US" smtClean="0"/>
              <a:t>Shared boolean variable lock, initialized to FALSE</a:t>
            </a:r>
          </a:p>
          <a:p>
            <a:pPr>
              <a:lnSpc>
                <a:spcPct val="90000"/>
              </a:lnSpc>
              <a:tabLst>
                <a:tab pos="707002" algn="l"/>
                <a:tab pos="974774" algn="l"/>
                <a:tab pos="1199152" algn="l"/>
              </a:tabLst>
            </a:pPr>
            <a:r>
              <a:rPr lang="en-US" smtClean="0"/>
              <a:t>Solution:</a:t>
            </a:r>
          </a:p>
          <a:p>
            <a:pPr>
              <a:lnSpc>
                <a:spcPct val="90000"/>
              </a:lnSpc>
              <a:buNone/>
              <a:tabLst>
                <a:tab pos="707002" algn="l"/>
                <a:tab pos="974774" algn="l"/>
                <a:tab pos="1199152" algn="l"/>
              </a:tabLst>
            </a:pPr>
            <a:endParaRPr lang="en-US" smtClean="0"/>
          </a:p>
          <a:p>
            <a:pPr>
              <a:lnSpc>
                <a:spcPct val="90000"/>
              </a:lnSpc>
              <a:buNone/>
              <a:tabLst>
                <a:tab pos="707002" algn="l"/>
                <a:tab pos="974774" algn="l"/>
                <a:tab pos="1199152" algn="l"/>
              </a:tabLst>
            </a:pPr>
            <a:r>
              <a:rPr lang="en-US" smtClean="0">
                <a:solidFill>
                  <a:srgbClr val="0000FF"/>
                </a:solidFill>
              </a:rPr>
              <a:t>		do {</a:t>
            </a:r>
          </a:p>
          <a:p>
            <a:pPr>
              <a:lnSpc>
                <a:spcPct val="90000"/>
              </a:lnSpc>
              <a:buNone/>
              <a:tabLst>
                <a:tab pos="707002" algn="l"/>
                <a:tab pos="974774" algn="l"/>
                <a:tab pos="1199152" algn="l"/>
              </a:tabLst>
            </a:pPr>
            <a:r>
              <a:rPr lang="en-US" smtClean="0">
                <a:solidFill>
                  <a:srgbClr val="0000FF"/>
                </a:solidFill>
              </a:rPr>
              <a:t>                     while ( TestAndSet (&amp;lock ))</a:t>
            </a:r>
          </a:p>
          <a:p>
            <a:pPr>
              <a:lnSpc>
                <a:spcPct val="90000"/>
              </a:lnSpc>
              <a:buNone/>
              <a:tabLst>
                <a:tab pos="707002" algn="l"/>
                <a:tab pos="974774" algn="l"/>
                <a:tab pos="1199152" algn="l"/>
              </a:tabLst>
            </a:pPr>
            <a:r>
              <a:rPr lang="en-US" smtClean="0">
                <a:solidFill>
                  <a:srgbClr val="0000FF"/>
                </a:solidFill>
              </a:rPr>
              <a:t>                                 ;   // do nothing</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    critical section</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lock = FALSE;</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      remainder section </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 while (TRUE);</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t>               </a:t>
            </a:r>
          </a:p>
        </p:txBody>
      </p:sp>
    </p:spTree>
    <p:extLst>
      <p:ext uri="{BB962C8B-B14F-4D97-AF65-F5344CB8AC3E}">
        <p14:creationId xmlns:p14="http://schemas.microsoft.com/office/powerpoint/2010/main" val="2543396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63625" y="627592"/>
            <a:ext cx="7623175" cy="512233"/>
          </a:xfrm>
        </p:spPr>
        <p:txBody>
          <a:bodyPr>
            <a:normAutofit/>
          </a:bodyPr>
          <a:lstStyle/>
          <a:p>
            <a:pPr eaLnBrk="1" hangingPunct="1"/>
            <a:r>
              <a:rPr lang="en-US" smtClean="0"/>
              <a:t>Swap Instruction</a:t>
            </a:r>
          </a:p>
        </p:txBody>
      </p:sp>
      <p:sp>
        <p:nvSpPr>
          <p:cNvPr id="19459" name="Rectangle 3"/>
          <p:cNvSpPr>
            <a:spLocks noGrp="1" noChangeArrowheads="1"/>
          </p:cNvSpPr>
          <p:nvPr>
            <p:ph idx="1"/>
          </p:nvPr>
        </p:nvSpPr>
        <p:spPr>
          <a:xfrm>
            <a:off x="806450" y="1485900"/>
            <a:ext cx="7409392" cy="3931709"/>
          </a:xfrm>
        </p:spPr>
        <p:txBody>
          <a:bodyPr/>
          <a:lstStyle/>
          <a:p>
            <a:pPr>
              <a:lnSpc>
                <a:spcPct val="90000"/>
              </a:lnSpc>
              <a:buNone/>
              <a:tabLst>
                <a:tab pos="707002" algn="l"/>
                <a:tab pos="974774" algn="l"/>
                <a:tab pos="1199152" algn="l"/>
              </a:tabLst>
            </a:pPr>
            <a:endParaRPr lang="en-US" smtClean="0"/>
          </a:p>
          <a:p>
            <a:pPr>
              <a:lnSpc>
                <a:spcPct val="90000"/>
              </a:lnSpc>
              <a:tabLst>
                <a:tab pos="707002" algn="l"/>
                <a:tab pos="974774" algn="l"/>
                <a:tab pos="1199152" algn="l"/>
              </a:tabLst>
            </a:pPr>
            <a:r>
              <a:rPr lang="en-US" smtClean="0"/>
              <a:t>Definition:</a:t>
            </a:r>
          </a:p>
          <a:p>
            <a:pPr>
              <a:lnSpc>
                <a:spcPct val="90000"/>
              </a:lnSpc>
              <a:tabLst>
                <a:tab pos="707002" algn="l"/>
                <a:tab pos="974774" algn="l"/>
                <a:tab pos="1199152" algn="l"/>
              </a:tabLst>
            </a:pPr>
            <a:endParaRPr lang="en-US" smtClean="0"/>
          </a:p>
          <a:p>
            <a:pPr>
              <a:lnSpc>
                <a:spcPct val="90000"/>
              </a:lnSpc>
              <a:buNone/>
              <a:tabLst>
                <a:tab pos="707002" algn="l"/>
                <a:tab pos="974774" algn="l"/>
                <a:tab pos="1199152" algn="l"/>
              </a:tabLst>
            </a:pPr>
            <a:r>
              <a:rPr lang="en-US" smtClean="0"/>
              <a:t>         </a:t>
            </a:r>
            <a:r>
              <a:rPr lang="en-US" smtClean="0">
                <a:solidFill>
                  <a:srgbClr val="0000FF"/>
                </a:solidFill>
              </a:rPr>
              <a:t>void Swap (boolean *a, boolean *b)</a:t>
            </a:r>
          </a:p>
          <a:p>
            <a:pPr>
              <a:lnSpc>
                <a:spcPct val="90000"/>
              </a:lnSpc>
              <a:buNone/>
              <a:tabLst>
                <a:tab pos="707002" algn="l"/>
                <a:tab pos="974774" algn="l"/>
                <a:tab pos="1199152" algn="l"/>
              </a:tabLst>
            </a:pPr>
            <a:r>
              <a:rPr lang="en-US" smtClean="0">
                <a:solidFill>
                  <a:srgbClr val="0000FF"/>
                </a:solidFill>
              </a:rPr>
              <a:t>          {</a:t>
            </a:r>
          </a:p>
          <a:p>
            <a:pPr>
              <a:lnSpc>
                <a:spcPct val="90000"/>
              </a:lnSpc>
              <a:buNone/>
              <a:tabLst>
                <a:tab pos="707002" algn="l"/>
                <a:tab pos="974774" algn="l"/>
                <a:tab pos="1199152" algn="l"/>
              </a:tabLst>
            </a:pPr>
            <a:r>
              <a:rPr lang="en-US" smtClean="0">
                <a:solidFill>
                  <a:srgbClr val="0000FF"/>
                </a:solidFill>
              </a:rPr>
              <a:t>                  boolean temp = *a;</a:t>
            </a:r>
          </a:p>
          <a:p>
            <a:pPr>
              <a:lnSpc>
                <a:spcPct val="90000"/>
              </a:lnSpc>
              <a:buNone/>
              <a:tabLst>
                <a:tab pos="707002" algn="l"/>
                <a:tab pos="974774" algn="l"/>
                <a:tab pos="1199152" algn="l"/>
              </a:tabLst>
            </a:pPr>
            <a:r>
              <a:rPr lang="en-US" smtClean="0">
                <a:solidFill>
                  <a:srgbClr val="0000FF"/>
                </a:solidFill>
              </a:rPr>
              <a:t>                  *a = *b;</a:t>
            </a:r>
          </a:p>
          <a:p>
            <a:pPr>
              <a:lnSpc>
                <a:spcPct val="90000"/>
              </a:lnSpc>
              <a:buNone/>
              <a:tabLst>
                <a:tab pos="707002" algn="l"/>
                <a:tab pos="974774" algn="l"/>
                <a:tab pos="1199152" algn="l"/>
              </a:tabLst>
            </a:pPr>
            <a:r>
              <a:rPr lang="en-US" smtClean="0">
                <a:solidFill>
                  <a:srgbClr val="0000FF"/>
                </a:solidFill>
              </a:rPr>
              <a:t>                  *b = temp:</a:t>
            </a:r>
          </a:p>
          <a:p>
            <a:pPr>
              <a:lnSpc>
                <a:spcPct val="90000"/>
              </a:lnSpc>
              <a:buNone/>
              <a:tabLst>
                <a:tab pos="707002" algn="l"/>
                <a:tab pos="974774" algn="l"/>
                <a:tab pos="1199152" algn="l"/>
              </a:tabLst>
            </a:pPr>
            <a:r>
              <a:rPr lang="en-US" smtClean="0">
                <a:solidFill>
                  <a:srgbClr val="0000FF"/>
                </a:solidFill>
              </a:rPr>
              <a:t>          }</a:t>
            </a:r>
          </a:p>
          <a:p>
            <a:pPr>
              <a:lnSpc>
                <a:spcPct val="90000"/>
              </a:lnSpc>
              <a:buNone/>
              <a:tabLst>
                <a:tab pos="707002" algn="l"/>
                <a:tab pos="974774" algn="l"/>
                <a:tab pos="1199152" algn="l"/>
              </a:tabLst>
            </a:pPr>
            <a:endParaRPr lang="en-US" smtClean="0">
              <a:solidFill>
                <a:srgbClr val="0000FF"/>
              </a:solidFill>
            </a:endParaRPr>
          </a:p>
        </p:txBody>
      </p:sp>
    </p:spTree>
    <p:extLst>
      <p:ext uri="{BB962C8B-B14F-4D97-AF65-F5344CB8AC3E}">
        <p14:creationId xmlns:p14="http://schemas.microsoft.com/office/powerpoint/2010/main" val="23034693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119717" y="627592"/>
            <a:ext cx="7567083" cy="512233"/>
          </a:xfrm>
        </p:spPr>
        <p:txBody>
          <a:bodyPr>
            <a:normAutofit/>
          </a:bodyPr>
          <a:lstStyle/>
          <a:p>
            <a:pPr eaLnBrk="1" hangingPunct="1"/>
            <a:r>
              <a:rPr lang="en-US" smtClean="0"/>
              <a:t>Solution using Swap</a:t>
            </a:r>
          </a:p>
        </p:txBody>
      </p:sp>
      <p:sp>
        <p:nvSpPr>
          <p:cNvPr id="20483" name="Rectangle 3"/>
          <p:cNvSpPr>
            <a:spLocks noGrp="1" noChangeArrowheads="1"/>
          </p:cNvSpPr>
          <p:nvPr>
            <p:ph idx="1"/>
          </p:nvPr>
        </p:nvSpPr>
        <p:spPr>
          <a:xfrm>
            <a:off x="827617" y="1457326"/>
            <a:ext cx="7640109" cy="4472517"/>
          </a:xfrm>
        </p:spPr>
        <p:txBody>
          <a:bodyPr>
            <a:normAutofit fontScale="92500" lnSpcReduction="10000"/>
          </a:bodyPr>
          <a:lstStyle/>
          <a:p>
            <a:pPr>
              <a:lnSpc>
                <a:spcPct val="90000"/>
              </a:lnSpc>
              <a:tabLst>
                <a:tab pos="707002" algn="l"/>
                <a:tab pos="974774" algn="l"/>
                <a:tab pos="1199152" algn="l"/>
              </a:tabLst>
            </a:pPr>
            <a:r>
              <a:rPr lang="en-US" smtClean="0"/>
              <a:t>Shared Boolean variable lock initialized to FALSE; Each process has a local Boolean variable key</a:t>
            </a:r>
          </a:p>
          <a:p>
            <a:pPr>
              <a:lnSpc>
                <a:spcPct val="90000"/>
              </a:lnSpc>
              <a:tabLst>
                <a:tab pos="707002" algn="l"/>
                <a:tab pos="974774" algn="l"/>
                <a:tab pos="1199152" algn="l"/>
              </a:tabLst>
            </a:pPr>
            <a:r>
              <a:rPr lang="en-US" smtClean="0"/>
              <a:t>Solution:</a:t>
            </a:r>
          </a:p>
          <a:p>
            <a:pPr>
              <a:lnSpc>
                <a:spcPct val="90000"/>
              </a:lnSpc>
              <a:buNone/>
              <a:tabLst>
                <a:tab pos="707002" algn="l"/>
                <a:tab pos="974774" algn="l"/>
                <a:tab pos="1199152" algn="l"/>
              </a:tabLst>
            </a:pPr>
            <a:r>
              <a:rPr lang="en-US" smtClean="0"/>
              <a:t>          </a:t>
            </a:r>
            <a:r>
              <a:rPr lang="en-US" smtClean="0">
                <a:solidFill>
                  <a:srgbClr val="0000FF"/>
                </a:solidFill>
              </a:rPr>
              <a:t>do {</a:t>
            </a:r>
          </a:p>
          <a:p>
            <a:pPr>
              <a:lnSpc>
                <a:spcPct val="90000"/>
              </a:lnSpc>
              <a:buNone/>
              <a:tabLst>
                <a:tab pos="707002" algn="l"/>
                <a:tab pos="974774" algn="l"/>
                <a:tab pos="1199152" algn="l"/>
              </a:tabLst>
            </a:pPr>
            <a:r>
              <a:rPr lang="en-US" smtClean="0">
                <a:solidFill>
                  <a:srgbClr val="0000FF"/>
                </a:solidFill>
              </a:rPr>
              <a:t>                    key = TRUE;</a:t>
            </a:r>
          </a:p>
          <a:p>
            <a:pPr>
              <a:lnSpc>
                <a:spcPct val="90000"/>
              </a:lnSpc>
              <a:buNone/>
              <a:tabLst>
                <a:tab pos="707002" algn="l"/>
                <a:tab pos="974774" algn="l"/>
                <a:tab pos="1199152" algn="l"/>
              </a:tabLst>
            </a:pPr>
            <a:r>
              <a:rPr lang="en-US" smtClean="0">
                <a:solidFill>
                  <a:srgbClr val="0000FF"/>
                </a:solidFill>
              </a:rPr>
              <a:t>                    while ( key == TRUE)</a:t>
            </a:r>
          </a:p>
          <a:p>
            <a:pPr>
              <a:lnSpc>
                <a:spcPct val="90000"/>
              </a:lnSpc>
              <a:buNone/>
              <a:tabLst>
                <a:tab pos="707002" algn="l"/>
                <a:tab pos="974774" algn="l"/>
                <a:tab pos="1199152" algn="l"/>
              </a:tabLst>
            </a:pPr>
            <a:r>
              <a:rPr lang="en-US" smtClean="0">
                <a:solidFill>
                  <a:srgbClr val="0000FF"/>
                </a:solidFill>
              </a:rPr>
              <a:t>                             Swap (&amp;lock, &amp;key );</a:t>
            </a:r>
          </a:p>
          <a:p>
            <a:pPr>
              <a:lnSpc>
                <a:spcPct val="90000"/>
              </a:lnSpc>
              <a:buNone/>
              <a:tabLst>
                <a:tab pos="707002" algn="l"/>
                <a:tab pos="974774" algn="l"/>
                <a:tab pos="1199152" algn="l"/>
              </a:tabLst>
            </a:pPr>
            <a:r>
              <a:rPr lang="en-US" smtClean="0">
                <a:solidFill>
                  <a:srgbClr val="0000FF"/>
                </a:solidFill>
              </a:rPr>
              <a:t>      </a:t>
            </a:r>
          </a:p>
          <a:p>
            <a:pPr>
              <a:lnSpc>
                <a:spcPct val="90000"/>
              </a:lnSpc>
              <a:buNone/>
              <a:tabLst>
                <a:tab pos="707002" algn="l"/>
                <a:tab pos="974774" algn="l"/>
                <a:tab pos="1199152" algn="l"/>
              </a:tabLst>
            </a:pPr>
            <a:r>
              <a:rPr lang="en-US" smtClean="0">
                <a:solidFill>
                  <a:srgbClr val="0000FF"/>
                </a:solidFill>
              </a:rPr>
              <a:t>                                 //    critical section</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lock = FALSE;</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      remainder section </a:t>
            </a:r>
          </a:p>
          <a:p>
            <a:pPr>
              <a:lnSpc>
                <a:spcPct val="90000"/>
              </a:lnSpc>
              <a:buNone/>
              <a:tabLst>
                <a:tab pos="707002" algn="l"/>
                <a:tab pos="974774" algn="l"/>
                <a:tab pos="1199152" algn="l"/>
              </a:tabLst>
            </a:pPr>
            <a:endParaRPr lang="en-US" smtClean="0">
              <a:solidFill>
                <a:srgbClr val="0000FF"/>
              </a:solidFill>
            </a:endParaRPr>
          </a:p>
          <a:p>
            <a:pPr>
              <a:lnSpc>
                <a:spcPct val="90000"/>
              </a:lnSpc>
              <a:buNone/>
              <a:tabLst>
                <a:tab pos="707002" algn="l"/>
                <a:tab pos="974774" algn="l"/>
                <a:tab pos="1199152" algn="l"/>
              </a:tabLst>
            </a:pPr>
            <a:r>
              <a:rPr lang="en-US" smtClean="0">
                <a:solidFill>
                  <a:srgbClr val="0000FF"/>
                </a:solidFill>
              </a:rPr>
              <a:t>           } while (TRUE);</a:t>
            </a:r>
          </a:p>
          <a:p>
            <a:pPr>
              <a:lnSpc>
                <a:spcPct val="90000"/>
              </a:lnSpc>
              <a:buNone/>
              <a:tabLst>
                <a:tab pos="707002" algn="l"/>
                <a:tab pos="974774" algn="l"/>
                <a:tab pos="1199152" algn="l"/>
              </a:tabLst>
            </a:pPr>
            <a:r>
              <a:rPr lang="en-US" smtClean="0"/>
              <a:t>               </a:t>
            </a:r>
          </a:p>
        </p:txBody>
      </p:sp>
    </p:spTree>
    <p:extLst>
      <p:ext uri="{BB962C8B-B14F-4D97-AF65-F5344CB8AC3E}">
        <p14:creationId xmlns:p14="http://schemas.microsoft.com/office/powerpoint/2010/main" val="2299102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971550" y="646642"/>
            <a:ext cx="7931150" cy="512233"/>
          </a:xfrm>
        </p:spPr>
        <p:txBody>
          <a:bodyPr>
            <a:normAutofit fontScale="90000"/>
          </a:bodyPr>
          <a:lstStyle/>
          <a:p>
            <a:r>
              <a:rPr lang="en-US" sz="2667"/>
              <a:t>Bounded-waiting Mutual Exclusion </a:t>
            </a:r>
            <a:br>
              <a:rPr lang="en-US" sz="2667"/>
            </a:br>
            <a:r>
              <a:rPr lang="en-US" sz="2667"/>
              <a:t>with TestandSet()</a:t>
            </a:r>
          </a:p>
        </p:txBody>
      </p:sp>
      <p:sp>
        <p:nvSpPr>
          <p:cNvPr id="21507" name="Content Placeholder 2"/>
          <p:cNvSpPr>
            <a:spLocks noGrp="1"/>
          </p:cNvSpPr>
          <p:nvPr>
            <p:ph idx="1"/>
          </p:nvPr>
        </p:nvSpPr>
        <p:spPr/>
        <p:txBody>
          <a:bodyPr>
            <a:normAutofit/>
          </a:bodyPr>
          <a:lstStyle/>
          <a:p>
            <a:pPr>
              <a:buFont typeface="Monotype Sorts" charset="2"/>
              <a:buNone/>
            </a:pPr>
            <a:r>
              <a:rPr lang="en-US" sz="1333">
                <a:solidFill>
                  <a:srgbClr val="0000FF"/>
                </a:solidFill>
              </a:rPr>
              <a:t>	do { </a:t>
            </a:r>
          </a:p>
          <a:p>
            <a:pPr>
              <a:buFont typeface="Monotype Sorts" charset="2"/>
              <a:buNone/>
            </a:pPr>
            <a:r>
              <a:rPr lang="en-US" sz="1333">
                <a:solidFill>
                  <a:srgbClr val="0000FF"/>
                </a:solidFill>
              </a:rPr>
              <a:t>		waiting[i] = TRUE; </a:t>
            </a:r>
          </a:p>
          <a:p>
            <a:pPr>
              <a:buFont typeface="Monotype Sorts" charset="2"/>
              <a:buNone/>
            </a:pPr>
            <a:r>
              <a:rPr lang="en-US" sz="1333">
                <a:solidFill>
                  <a:srgbClr val="0000FF"/>
                </a:solidFill>
              </a:rPr>
              <a:t>		key = TRUE; </a:t>
            </a:r>
          </a:p>
          <a:p>
            <a:pPr>
              <a:buFont typeface="Monotype Sorts" charset="2"/>
              <a:buNone/>
            </a:pPr>
            <a:r>
              <a:rPr lang="en-US" sz="1333">
                <a:solidFill>
                  <a:srgbClr val="0000FF"/>
                </a:solidFill>
              </a:rPr>
              <a:t>		while (waiting[i] &amp;&amp; key) </a:t>
            </a:r>
          </a:p>
          <a:p>
            <a:pPr>
              <a:buFont typeface="Monotype Sorts" charset="2"/>
              <a:buNone/>
            </a:pPr>
            <a:r>
              <a:rPr lang="en-US" sz="1333">
                <a:solidFill>
                  <a:srgbClr val="0000FF"/>
                </a:solidFill>
              </a:rPr>
              <a:t>			key = TestAndSet(&amp;lock); </a:t>
            </a:r>
          </a:p>
          <a:p>
            <a:pPr>
              <a:buFont typeface="Monotype Sorts" charset="2"/>
              <a:buNone/>
            </a:pPr>
            <a:r>
              <a:rPr lang="en-US" sz="1333">
                <a:solidFill>
                  <a:srgbClr val="0000FF"/>
                </a:solidFill>
              </a:rPr>
              <a:t>		waiting[i] = FALSE; </a:t>
            </a:r>
          </a:p>
          <a:p>
            <a:pPr>
              <a:buFont typeface="Monotype Sorts" charset="2"/>
              <a:buNone/>
            </a:pPr>
            <a:r>
              <a:rPr lang="en-US" sz="1333">
                <a:solidFill>
                  <a:srgbClr val="0000FF"/>
                </a:solidFill>
              </a:rPr>
              <a:t>			// critical section </a:t>
            </a:r>
          </a:p>
          <a:p>
            <a:pPr>
              <a:buFont typeface="Monotype Sorts" charset="2"/>
              <a:buNone/>
            </a:pPr>
            <a:r>
              <a:rPr lang="en-US" sz="1333">
                <a:solidFill>
                  <a:srgbClr val="0000FF"/>
                </a:solidFill>
              </a:rPr>
              <a:t>		j = (i + 1) % n; </a:t>
            </a:r>
          </a:p>
          <a:p>
            <a:pPr>
              <a:buFont typeface="Monotype Sorts" charset="2"/>
              <a:buNone/>
            </a:pPr>
            <a:r>
              <a:rPr lang="en-US" sz="1333">
                <a:solidFill>
                  <a:srgbClr val="0000FF"/>
                </a:solidFill>
              </a:rPr>
              <a:t>		while ((j != i) &amp;&amp; !waiting[j]) </a:t>
            </a:r>
          </a:p>
          <a:p>
            <a:pPr>
              <a:buFont typeface="Monotype Sorts" charset="2"/>
              <a:buNone/>
            </a:pPr>
            <a:r>
              <a:rPr lang="en-US" sz="1333">
                <a:solidFill>
                  <a:srgbClr val="0000FF"/>
                </a:solidFill>
              </a:rPr>
              <a:t>			j = (j + 1) % n; </a:t>
            </a:r>
          </a:p>
          <a:p>
            <a:pPr>
              <a:buFont typeface="Monotype Sorts" charset="2"/>
              <a:buNone/>
            </a:pPr>
            <a:r>
              <a:rPr lang="en-US" sz="1333">
                <a:solidFill>
                  <a:srgbClr val="0000FF"/>
                </a:solidFill>
              </a:rPr>
              <a:t>		if (j == i) </a:t>
            </a:r>
          </a:p>
          <a:p>
            <a:pPr>
              <a:buFont typeface="Monotype Sorts" charset="2"/>
              <a:buNone/>
            </a:pPr>
            <a:r>
              <a:rPr lang="en-US" sz="1333">
                <a:solidFill>
                  <a:srgbClr val="0000FF"/>
                </a:solidFill>
              </a:rPr>
              <a:t>			lock = FALSE; </a:t>
            </a:r>
          </a:p>
          <a:p>
            <a:pPr>
              <a:buFont typeface="Monotype Sorts" charset="2"/>
              <a:buNone/>
            </a:pPr>
            <a:r>
              <a:rPr lang="en-US" sz="1333">
                <a:solidFill>
                  <a:srgbClr val="0000FF"/>
                </a:solidFill>
              </a:rPr>
              <a:t>		else </a:t>
            </a:r>
          </a:p>
          <a:p>
            <a:pPr>
              <a:buFont typeface="Monotype Sorts" charset="2"/>
              <a:buNone/>
            </a:pPr>
            <a:r>
              <a:rPr lang="en-US" sz="1333">
                <a:solidFill>
                  <a:srgbClr val="0000FF"/>
                </a:solidFill>
              </a:rPr>
              <a:t>			waiting[j] = FALSE; </a:t>
            </a:r>
          </a:p>
          <a:p>
            <a:pPr>
              <a:buFont typeface="Monotype Sorts" charset="2"/>
              <a:buNone/>
            </a:pPr>
            <a:r>
              <a:rPr lang="en-US" sz="1333">
                <a:solidFill>
                  <a:srgbClr val="0000FF"/>
                </a:solidFill>
              </a:rPr>
              <a:t>			// remainder section </a:t>
            </a:r>
          </a:p>
          <a:p>
            <a:pPr>
              <a:buFont typeface="Monotype Sorts" charset="2"/>
              <a:buNone/>
            </a:pPr>
            <a:r>
              <a:rPr lang="en-US" sz="1333">
                <a:solidFill>
                  <a:srgbClr val="0000FF"/>
                </a:solidFill>
              </a:rPr>
              <a:t>	} while (TRUE);</a:t>
            </a:r>
          </a:p>
        </p:txBody>
      </p:sp>
    </p:spTree>
    <p:extLst>
      <p:ext uri="{BB962C8B-B14F-4D97-AF65-F5344CB8AC3E}">
        <p14:creationId xmlns:p14="http://schemas.microsoft.com/office/powerpoint/2010/main" val="37869341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Semaphore</a:t>
            </a:r>
          </a:p>
        </p:txBody>
      </p:sp>
      <p:sp>
        <p:nvSpPr>
          <p:cNvPr id="22531" name="Rectangle 3"/>
          <p:cNvSpPr>
            <a:spLocks noGrp="1" noChangeArrowheads="1"/>
          </p:cNvSpPr>
          <p:nvPr>
            <p:ph idx="1"/>
          </p:nvPr>
        </p:nvSpPr>
        <p:spPr>
          <a:xfrm>
            <a:off x="827617" y="1518709"/>
            <a:ext cx="7921625" cy="4670425"/>
          </a:xfrm>
        </p:spPr>
        <p:txBody>
          <a:bodyPr>
            <a:normAutofit/>
          </a:bodyPr>
          <a:lstStyle/>
          <a:p>
            <a:pPr algn="just">
              <a:lnSpc>
                <a:spcPct val="90000"/>
              </a:lnSpc>
            </a:pPr>
            <a:r>
              <a:rPr lang="en-IN" sz="1600" dirty="0"/>
              <a:t>A semaphore is hardware or a software </a:t>
            </a:r>
            <a:r>
              <a:rPr lang="en-IN" sz="1600" dirty="0"/>
              <a:t>variable </a:t>
            </a:r>
            <a:r>
              <a:rPr lang="en-IN" sz="1600" dirty="0"/>
              <a:t>whose value indicates the status of a common resource. Its purpose is to lock the resource being used</a:t>
            </a:r>
            <a:r>
              <a:rPr lang="en-IN" sz="1600" dirty="0"/>
              <a:t>.</a:t>
            </a:r>
          </a:p>
          <a:p>
            <a:pPr algn="just">
              <a:lnSpc>
                <a:spcPct val="90000"/>
              </a:lnSpc>
            </a:pPr>
            <a:endParaRPr lang="en-IN" sz="533" dirty="0"/>
          </a:p>
          <a:p>
            <a:pPr algn="just">
              <a:lnSpc>
                <a:spcPct val="90000"/>
              </a:lnSpc>
            </a:pPr>
            <a:r>
              <a:rPr lang="en-IN" sz="1600" dirty="0"/>
              <a:t> </a:t>
            </a:r>
            <a:r>
              <a:rPr lang="en-IN" sz="1600" dirty="0"/>
              <a:t>A process which needs the resource will check the semaphore for determining the status of the resource followed by the decision for proceeding. </a:t>
            </a:r>
            <a:endParaRPr lang="en-IN" sz="1600" dirty="0"/>
          </a:p>
          <a:p>
            <a:pPr algn="just">
              <a:lnSpc>
                <a:spcPct val="90000"/>
              </a:lnSpc>
            </a:pPr>
            <a:endParaRPr lang="en-IN" sz="533" dirty="0"/>
          </a:p>
          <a:p>
            <a:pPr algn="just">
              <a:lnSpc>
                <a:spcPct val="90000"/>
              </a:lnSpc>
            </a:pPr>
            <a:r>
              <a:rPr lang="en-IN" sz="1600" dirty="0"/>
              <a:t>In </a:t>
            </a:r>
            <a:r>
              <a:rPr lang="en-IN" sz="1600" dirty="0"/>
              <a:t>multitasking operating systems, the activities are synchronized by using the semaphore techniques.</a:t>
            </a:r>
            <a:endParaRPr lang="en-US" sz="1600" dirty="0"/>
          </a:p>
          <a:p>
            <a:pPr>
              <a:lnSpc>
                <a:spcPct val="90000"/>
              </a:lnSpc>
            </a:pPr>
            <a:r>
              <a:rPr lang="en-IN" sz="1600" dirty="0"/>
              <a:t>Example</a:t>
            </a:r>
            <a:r>
              <a:rPr lang="en-IN" sz="1600" dirty="0"/>
              <a:t>, say we have four </a:t>
            </a:r>
            <a:r>
              <a:rPr lang="en-IN" sz="1600" dirty="0"/>
              <a:t>rooms </a:t>
            </a:r>
            <a:r>
              <a:rPr lang="en-IN" sz="1600" dirty="0"/>
              <a:t>with identical locks and keys. The semaphore count - the count of keys - is set to 4 at beginning (all four </a:t>
            </a:r>
            <a:r>
              <a:rPr lang="en-IN" sz="1600" dirty="0"/>
              <a:t>rooms </a:t>
            </a:r>
            <a:r>
              <a:rPr lang="en-IN" sz="1600" dirty="0"/>
              <a:t>are free), then the count value is decremented as people are coming in. If all </a:t>
            </a:r>
            <a:r>
              <a:rPr lang="en-IN" sz="1600" dirty="0"/>
              <a:t>rooms </a:t>
            </a:r>
            <a:r>
              <a:rPr lang="en-IN" sz="1600" dirty="0"/>
              <a:t>are full, </a:t>
            </a:r>
            <a:r>
              <a:rPr lang="en-IN" sz="1600" dirty="0" err="1"/>
              <a:t>ie</a:t>
            </a:r>
            <a:r>
              <a:rPr lang="en-IN" sz="1600" dirty="0"/>
              <a:t>. there are no free keys left, the semaphore count is 0. Now, when eq. one person leaves the </a:t>
            </a:r>
            <a:r>
              <a:rPr lang="en-IN" sz="1600" dirty="0"/>
              <a:t>rooms, </a:t>
            </a:r>
            <a:r>
              <a:rPr lang="en-IN" sz="1600" dirty="0"/>
              <a:t>semaphore is increased to 1 (one free key), and given to the next person in the queue.</a:t>
            </a:r>
            <a:br>
              <a:rPr lang="en-IN" sz="1600" dirty="0"/>
            </a:br>
            <a:endParaRPr lang="en-IN" sz="1600" dirty="0"/>
          </a:p>
          <a:p>
            <a:pPr>
              <a:lnSpc>
                <a:spcPct val="90000"/>
              </a:lnSpc>
            </a:pPr>
            <a:r>
              <a:rPr lang="en-IN" sz="1600" dirty="0"/>
              <a:t> </a:t>
            </a:r>
            <a:r>
              <a:rPr lang="en-IN" sz="1600" dirty="0"/>
              <a:t>"A semaphore restricts the number of simultaneous users of a shared resource up to a maximum number. Threads can request access to the resource (decrementing the semaphore), and can signal that they have finished using the resource (incrementing the semaphore)."</a:t>
            </a:r>
            <a:br>
              <a:rPr lang="en-IN" sz="1600" dirty="0"/>
            </a:br>
            <a:endParaRPr lang="en-US" sz="1600" dirty="0"/>
          </a:p>
        </p:txBody>
      </p:sp>
    </p:spTree>
    <p:extLst>
      <p:ext uri="{BB962C8B-B14F-4D97-AF65-F5344CB8AC3E}">
        <p14:creationId xmlns:p14="http://schemas.microsoft.com/office/powerpoint/2010/main" val="7343093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nSpc>
                <a:spcPct val="90000"/>
              </a:lnSpc>
            </a:pPr>
            <a:r>
              <a:rPr lang="en-US" sz="1600" dirty="0"/>
              <a:t>Synchronization tool that does not require busy waiting </a:t>
            </a:r>
            <a:endParaRPr lang="en-US" sz="1600" i="1" dirty="0">
              <a:solidFill>
                <a:schemeClr val="tx2"/>
              </a:solidFill>
            </a:endParaRPr>
          </a:p>
          <a:p>
            <a:pPr>
              <a:lnSpc>
                <a:spcPct val="90000"/>
              </a:lnSpc>
            </a:pPr>
            <a:r>
              <a:rPr lang="en-US" sz="1600" dirty="0"/>
              <a:t>Semaphore </a:t>
            </a:r>
            <a:r>
              <a:rPr lang="en-US" sz="1600" i="1" dirty="0"/>
              <a:t>S</a:t>
            </a:r>
            <a:r>
              <a:rPr lang="en-US" sz="1600" dirty="0"/>
              <a:t> – integer variable</a:t>
            </a:r>
          </a:p>
          <a:p>
            <a:pPr>
              <a:lnSpc>
                <a:spcPct val="90000"/>
              </a:lnSpc>
            </a:pPr>
            <a:r>
              <a:rPr lang="en-US" sz="1600" dirty="0"/>
              <a:t>Two standard operations modify </a:t>
            </a:r>
            <a:r>
              <a:rPr lang="en-US" sz="1600" dirty="0">
                <a:solidFill>
                  <a:srgbClr val="0000FF"/>
                </a:solidFill>
              </a:rPr>
              <a:t>S: wait()</a:t>
            </a:r>
            <a:r>
              <a:rPr lang="en-US" sz="1600" dirty="0"/>
              <a:t> and </a:t>
            </a:r>
            <a:r>
              <a:rPr lang="en-US" sz="1600" dirty="0">
                <a:solidFill>
                  <a:srgbClr val="0000FF"/>
                </a:solidFill>
              </a:rPr>
              <a:t>signal()</a:t>
            </a:r>
          </a:p>
          <a:p>
            <a:pPr lvl="1">
              <a:lnSpc>
                <a:spcPct val="90000"/>
              </a:lnSpc>
            </a:pPr>
            <a:r>
              <a:rPr lang="en-US" sz="1600" dirty="0"/>
              <a:t>Originally called </a:t>
            </a:r>
            <a:r>
              <a:rPr lang="en-US" sz="1600" dirty="0">
                <a:solidFill>
                  <a:srgbClr val="3366FF"/>
                </a:solidFill>
              </a:rPr>
              <a:t>P() </a:t>
            </a:r>
            <a:r>
              <a:rPr lang="en-US" sz="1600" dirty="0"/>
              <a:t>and</a:t>
            </a:r>
            <a:r>
              <a:rPr lang="en-US" sz="1600" i="1" dirty="0"/>
              <a:t> </a:t>
            </a:r>
            <a:r>
              <a:rPr lang="en-US" sz="1600" dirty="0">
                <a:solidFill>
                  <a:srgbClr val="3366FF"/>
                </a:solidFill>
              </a:rPr>
              <a:t>V()</a:t>
            </a:r>
          </a:p>
          <a:p>
            <a:pPr>
              <a:lnSpc>
                <a:spcPct val="90000"/>
              </a:lnSpc>
            </a:pPr>
            <a:r>
              <a:rPr lang="en-US" sz="1600" dirty="0"/>
              <a:t>Less complicated</a:t>
            </a:r>
          </a:p>
          <a:p>
            <a:pPr>
              <a:lnSpc>
                <a:spcPct val="90000"/>
              </a:lnSpc>
            </a:pPr>
            <a:endParaRPr lang="en-US" sz="1600" dirty="0"/>
          </a:p>
          <a:p>
            <a:pPr>
              <a:lnSpc>
                <a:spcPct val="90000"/>
              </a:lnSpc>
            </a:pPr>
            <a:r>
              <a:rPr lang="en-US" sz="1600" dirty="0"/>
              <a:t>Can </a:t>
            </a:r>
            <a:r>
              <a:rPr lang="en-US" sz="1600" dirty="0"/>
              <a:t>only be accessed via two indivisible (atomic) operations</a:t>
            </a:r>
          </a:p>
          <a:p>
            <a:pPr lvl="1">
              <a:lnSpc>
                <a:spcPct val="90000"/>
              </a:lnSpc>
            </a:pPr>
            <a:r>
              <a:rPr lang="en-US" sz="1600" dirty="0">
                <a:solidFill>
                  <a:srgbClr val="0000FF"/>
                </a:solidFill>
                <a:sym typeface="Symbol" charset="2"/>
              </a:rPr>
              <a:t>wait (S) { </a:t>
            </a:r>
          </a:p>
          <a:p>
            <a:pPr lvl="1">
              <a:lnSpc>
                <a:spcPct val="90000"/>
              </a:lnSpc>
              <a:buNone/>
            </a:pPr>
            <a:r>
              <a:rPr lang="en-US" sz="1600" dirty="0">
                <a:solidFill>
                  <a:srgbClr val="0000FF"/>
                </a:solidFill>
                <a:sym typeface="Symbol" charset="2"/>
              </a:rPr>
              <a:t>           while S &lt;= 0</a:t>
            </a:r>
          </a:p>
          <a:p>
            <a:pPr lvl="1">
              <a:lnSpc>
                <a:spcPct val="90000"/>
              </a:lnSpc>
              <a:buNone/>
            </a:pPr>
            <a:r>
              <a:rPr lang="en-US" sz="1600" dirty="0">
                <a:solidFill>
                  <a:srgbClr val="0000FF"/>
                </a:solidFill>
                <a:sym typeface="Symbol" charset="2"/>
              </a:rPr>
              <a:t>		          ; // no-op</a:t>
            </a:r>
          </a:p>
          <a:p>
            <a:pPr lvl="1">
              <a:lnSpc>
                <a:spcPct val="90000"/>
              </a:lnSpc>
              <a:buNone/>
            </a:pPr>
            <a:r>
              <a:rPr lang="en-US" sz="1600" dirty="0">
                <a:solidFill>
                  <a:srgbClr val="0000FF"/>
                </a:solidFill>
                <a:sym typeface="Symbol" charset="2"/>
              </a:rPr>
              <a:t>              S--;</a:t>
            </a:r>
          </a:p>
          <a:p>
            <a:pPr lvl="1">
              <a:lnSpc>
                <a:spcPct val="90000"/>
              </a:lnSpc>
              <a:buNone/>
            </a:pPr>
            <a:r>
              <a:rPr lang="en-US" sz="1600" dirty="0">
                <a:solidFill>
                  <a:srgbClr val="0000FF"/>
                </a:solidFill>
                <a:sym typeface="Symbol" charset="2"/>
              </a:rPr>
              <a:t>      }</a:t>
            </a:r>
          </a:p>
          <a:p>
            <a:pPr lvl="1">
              <a:lnSpc>
                <a:spcPct val="90000"/>
              </a:lnSpc>
            </a:pPr>
            <a:r>
              <a:rPr lang="en-US" sz="1600" dirty="0">
                <a:solidFill>
                  <a:srgbClr val="0000FF"/>
                </a:solidFill>
                <a:sym typeface="Symbol" charset="2"/>
              </a:rPr>
              <a:t>signal (S) { </a:t>
            </a:r>
          </a:p>
          <a:p>
            <a:pPr lvl="1">
              <a:lnSpc>
                <a:spcPct val="90000"/>
              </a:lnSpc>
              <a:buNone/>
            </a:pPr>
            <a:r>
              <a:rPr lang="en-US" sz="1600" dirty="0">
                <a:solidFill>
                  <a:srgbClr val="0000FF"/>
                </a:solidFill>
                <a:sym typeface="Symbol" charset="2"/>
              </a:rPr>
              <a:t>        S++;</a:t>
            </a:r>
          </a:p>
          <a:p>
            <a:pPr lvl="1">
              <a:lnSpc>
                <a:spcPct val="90000"/>
              </a:lnSpc>
              <a:buNone/>
            </a:pPr>
            <a:r>
              <a:rPr lang="en-US" sz="1600" dirty="0">
                <a:solidFill>
                  <a:srgbClr val="0000FF"/>
                </a:solidFill>
                <a:sym typeface="Symbol" charset="2"/>
              </a:rPr>
              <a:t>     }</a:t>
            </a:r>
          </a:p>
          <a:p>
            <a:endParaRPr lang="en-IN" dirty="0"/>
          </a:p>
        </p:txBody>
      </p:sp>
    </p:spTree>
    <p:extLst>
      <p:ext uri="{BB962C8B-B14F-4D97-AF65-F5344CB8AC3E}">
        <p14:creationId xmlns:p14="http://schemas.microsoft.com/office/powerpoint/2010/main" val="4995960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61975" y="766233"/>
            <a:ext cx="8534400" cy="406400"/>
          </a:xfrm>
        </p:spPr>
        <p:txBody>
          <a:bodyPr>
            <a:normAutofit fontScale="90000"/>
          </a:bodyPr>
          <a:lstStyle/>
          <a:p>
            <a:pPr eaLnBrk="1" hangingPunct="1"/>
            <a:r>
              <a:rPr lang="en-US" sz="2667"/>
              <a:t>Semaphore as </a:t>
            </a:r>
            <a:br>
              <a:rPr lang="en-US" sz="2667"/>
            </a:br>
            <a:r>
              <a:rPr lang="en-US" sz="2667"/>
              <a:t>General Synchronization Tool</a:t>
            </a:r>
          </a:p>
        </p:txBody>
      </p:sp>
      <p:sp>
        <p:nvSpPr>
          <p:cNvPr id="23555" name="Rectangle 3"/>
          <p:cNvSpPr>
            <a:spLocks noGrp="1" noChangeArrowheads="1"/>
          </p:cNvSpPr>
          <p:nvPr>
            <p:ph idx="1"/>
          </p:nvPr>
        </p:nvSpPr>
        <p:spPr/>
        <p:txBody>
          <a:bodyPr>
            <a:normAutofit/>
          </a:bodyPr>
          <a:lstStyle/>
          <a:p>
            <a:pPr>
              <a:tabLst>
                <a:tab pos="1908271" algn="ctr"/>
                <a:tab pos="4301282" algn="ctr"/>
              </a:tabLst>
            </a:pPr>
            <a:r>
              <a:rPr lang="en-US" sz="1533" b="1">
                <a:solidFill>
                  <a:srgbClr val="3366FF"/>
                </a:solidFill>
              </a:rPr>
              <a:t>Counting</a:t>
            </a:r>
            <a:r>
              <a:rPr lang="en-US" sz="1533">
                <a:solidFill>
                  <a:srgbClr val="3366FF"/>
                </a:solidFill>
              </a:rPr>
              <a:t> </a:t>
            </a:r>
            <a:r>
              <a:rPr lang="en-US" sz="1533"/>
              <a:t>semaphore – integer value can range over an unrestricted domain</a:t>
            </a:r>
          </a:p>
          <a:p>
            <a:pPr>
              <a:tabLst>
                <a:tab pos="1908271" algn="ctr"/>
                <a:tab pos="4301282" algn="ctr"/>
              </a:tabLst>
            </a:pPr>
            <a:r>
              <a:rPr lang="en-US" sz="1533" b="1">
                <a:solidFill>
                  <a:srgbClr val="3366FF"/>
                </a:solidFill>
              </a:rPr>
              <a:t>Binary </a:t>
            </a:r>
            <a:r>
              <a:rPr lang="en-US" sz="1533"/>
              <a:t>semaphore – integer value can range only between 0 </a:t>
            </a:r>
            <a:br>
              <a:rPr lang="en-US" sz="1533"/>
            </a:br>
            <a:r>
              <a:rPr lang="en-US" sz="1533"/>
              <a:t>and 1; can be simpler to implement</a:t>
            </a:r>
          </a:p>
          <a:p>
            <a:pPr lvl="1">
              <a:tabLst>
                <a:tab pos="1908271" algn="ctr"/>
                <a:tab pos="4301282" algn="ctr"/>
              </a:tabLst>
            </a:pPr>
            <a:r>
              <a:rPr lang="en-US" sz="1533">
                <a:sym typeface="MT Extra" charset="0"/>
              </a:rPr>
              <a:t>Also known as </a:t>
            </a:r>
            <a:r>
              <a:rPr lang="en-US" sz="1533" b="1">
                <a:solidFill>
                  <a:srgbClr val="3366FF"/>
                </a:solidFill>
                <a:sym typeface="MT Extra" charset="0"/>
              </a:rPr>
              <a:t>mutex locks</a:t>
            </a:r>
            <a:endParaRPr lang="en-US" sz="1533" b="1">
              <a:solidFill>
                <a:srgbClr val="3366FF"/>
              </a:solidFill>
            </a:endParaRPr>
          </a:p>
          <a:p>
            <a:pPr>
              <a:tabLst>
                <a:tab pos="1908271" algn="ctr"/>
                <a:tab pos="4301282" algn="ctr"/>
              </a:tabLst>
            </a:pPr>
            <a:r>
              <a:rPr lang="en-US" sz="1533"/>
              <a:t>Can implement a counting semaphore </a:t>
            </a:r>
            <a:r>
              <a:rPr lang="en-US" sz="1533">
                <a:solidFill>
                  <a:srgbClr val="0000FF"/>
                </a:solidFill>
              </a:rPr>
              <a:t>S</a:t>
            </a:r>
            <a:r>
              <a:rPr lang="en-US" sz="1533"/>
              <a:t> as a binary semaphore</a:t>
            </a:r>
          </a:p>
          <a:p>
            <a:pPr>
              <a:tabLst>
                <a:tab pos="1908271" algn="ctr"/>
                <a:tab pos="4301282" algn="ctr"/>
              </a:tabLst>
            </a:pPr>
            <a:r>
              <a:rPr lang="en-US" sz="1533">
                <a:sym typeface="MT Extra" charset="0"/>
              </a:rPr>
              <a:t>Provides mutual exclusion</a:t>
            </a:r>
          </a:p>
          <a:p>
            <a:pPr lvl="1">
              <a:buNone/>
              <a:tabLst>
                <a:tab pos="1908271" algn="ctr"/>
                <a:tab pos="4301282" algn="ctr"/>
              </a:tabLst>
            </a:pPr>
            <a:r>
              <a:rPr lang="en-US" sz="1533">
                <a:solidFill>
                  <a:srgbClr val="0000FF"/>
                </a:solidFill>
                <a:sym typeface="MT Extra" charset="0"/>
              </a:rPr>
              <a:t>Semaphore mutex;    //  initialized to 1</a:t>
            </a:r>
          </a:p>
          <a:p>
            <a:pPr lvl="1">
              <a:buNone/>
              <a:tabLst>
                <a:tab pos="1908271" algn="ctr"/>
                <a:tab pos="4301282" algn="ctr"/>
              </a:tabLst>
            </a:pPr>
            <a:r>
              <a:rPr lang="en-US" sz="1533">
                <a:solidFill>
                  <a:srgbClr val="0000FF"/>
                </a:solidFill>
                <a:sym typeface="MT Extra" charset="0"/>
              </a:rPr>
              <a:t>do {</a:t>
            </a:r>
          </a:p>
          <a:p>
            <a:pPr lvl="1">
              <a:buNone/>
              <a:tabLst>
                <a:tab pos="1908271" algn="ctr"/>
                <a:tab pos="4301282" algn="ctr"/>
              </a:tabLst>
            </a:pPr>
            <a:r>
              <a:rPr lang="en-US" sz="1533">
                <a:solidFill>
                  <a:srgbClr val="0000FF"/>
                </a:solidFill>
                <a:sym typeface="MT Extra" charset="0"/>
              </a:rPr>
              <a:t>	wait (mutex);</a:t>
            </a:r>
          </a:p>
          <a:p>
            <a:pPr lvl="1">
              <a:buNone/>
              <a:tabLst>
                <a:tab pos="1908271" algn="ctr"/>
                <a:tab pos="4301282" algn="ctr"/>
              </a:tabLst>
            </a:pPr>
            <a:r>
              <a:rPr lang="en-US" sz="1533">
                <a:solidFill>
                  <a:srgbClr val="0000FF"/>
                </a:solidFill>
                <a:sym typeface="MT Extra" charset="0"/>
              </a:rPr>
              <a:t>         // Critical Section</a:t>
            </a:r>
          </a:p>
          <a:p>
            <a:pPr lvl="1">
              <a:buNone/>
              <a:tabLst>
                <a:tab pos="1908271" algn="ctr"/>
                <a:tab pos="4301282" algn="ctr"/>
              </a:tabLst>
            </a:pPr>
            <a:r>
              <a:rPr lang="en-US" sz="1533">
                <a:solidFill>
                  <a:srgbClr val="0000FF"/>
                </a:solidFill>
                <a:sym typeface="MT Extra" charset="0"/>
              </a:rPr>
              <a:t>     signal (mutex);</a:t>
            </a:r>
          </a:p>
          <a:p>
            <a:pPr lvl="1">
              <a:buNone/>
              <a:tabLst>
                <a:tab pos="1908271" algn="ctr"/>
                <a:tab pos="4301282" algn="ctr"/>
              </a:tabLst>
            </a:pPr>
            <a:r>
              <a:rPr lang="en-US" sz="1533">
                <a:solidFill>
                  <a:srgbClr val="0000FF"/>
                </a:solidFill>
                <a:sym typeface="MT Extra" charset="0"/>
              </a:rPr>
              <a:t>		// remainder section</a:t>
            </a:r>
          </a:p>
          <a:p>
            <a:pPr lvl="1">
              <a:buNone/>
              <a:tabLst>
                <a:tab pos="1908271" algn="ctr"/>
                <a:tab pos="4301282" algn="ctr"/>
              </a:tabLst>
            </a:pPr>
            <a:r>
              <a:rPr lang="en-US" sz="1533">
                <a:solidFill>
                  <a:srgbClr val="0000FF"/>
                </a:solidFill>
                <a:sym typeface="MT Extra" charset="0"/>
              </a:rPr>
              <a:t>} while (TRUE);</a:t>
            </a:r>
          </a:p>
          <a:p>
            <a:pPr>
              <a:buNone/>
              <a:tabLst>
                <a:tab pos="1908271" algn="ctr"/>
                <a:tab pos="4301282" algn="ctr"/>
              </a:tabLst>
            </a:pPr>
            <a:endParaRPr lang="en-US" sz="1333">
              <a:solidFill>
                <a:srgbClr val="0000FF"/>
              </a:solidFill>
              <a:sym typeface="MT Extra" charset="0"/>
            </a:endParaRPr>
          </a:p>
        </p:txBody>
      </p:sp>
    </p:spTree>
    <p:extLst>
      <p:ext uri="{BB962C8B-B14F-4D97-AF65-F5344CB8AC3E}">
        <p14:creationId xmlns:p14="http://schemas.microsoft.com/office/powerpoint/2010/main" val="11311477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Semaphore Implementation</a:t>
            </a:r>
          </a:p>
        </p:txBody>
      </p:sp>
      <p:sp>
        <p:nvSpPr>
          <p:cNvPr id="24579" name="Rectangle 3"/>
          <p:cNvSpPr>
            <a:spLocks noGrp="1" noChangeArrowheads="1"/>
          </p:cNvSpPr>
          <p:nvPr>
            <p:ph idx="1"/>
          </p:nvPr>
        </p:nvSpPr>
        <p:spPr>
          <a:xfrm>
            <a:off x="806451" y="1477433"/>
            <a:ext cx="7750175" cy="4026959"/>
          </a:xfrm>
        </p:spPr>
        <p:txBody>
          <a:bodyPr>
            <a:normAutofit/>
          </a:bodyPr>
          <a:lstStyle/>
          <a:p>
            <a:r>
              <a:rPr lang="en-US" dirty="0" smtClean="0"/>
              <a:t>Must guarantee that no two processes can execute </a:t>
            </a:r>
            <a:r>
              <a:rPr lang="en-US" dirty="0" smtClean="0">
                <a:solidFill>
                  <a:srgbClr val="0000FF"/>
                </a:solidFill>
              </a:rPr>
              <a:t>wait ()</a:t>
            </a:r>
            <a:r>
              <a:rPr lang="en-US" dirty="0" smtClean="0"/>
              <a:t> and </a:t>
            </a:r>
            <a:r>
              <a:rPr lang="en-US" dirty="0" smtClean="0">
                <a:solidFill>
                  <a:srgbClr val="0000FF"/>
                </a:solidFill>
              </a:rPr>
              <a:t>signal ()</a:t>
            </a:r>
            <a:r>
              <a:rPr lang="en-US" dirty="0" smtClean="0"/>
              <a:t> on the same semaphore at the same time</a:t>
            </a:r>
          </a:p>
          <a:p>
            <a:endParaRPr lang="en-US" dirty="0" smtClean="0"/>
          </a:p>
          <a:p>
            <a:r>
              <a:rPr lang="en-US" dirty="0" smtClean="0"/>
              <a:t>Thus, implementation becomes the critical section problem where the wait and signal code are placed in the critical section</a:t>
            </a:r>
          </a:p>
          <a:p>
            <a:pPr lvl="1"/>
            <a:r>
              <a:rPr lang="en-US" dirty="0" smtClean="0"/>
              <a:t>Could now have </a:t>
            </a:r>
            <a:r>
              <a:rPr lang="en-US" b="1" dirty="0" smtClean="0">
                <a:solidFill>
                  <a:srgbClr val="3366FF"/>
                </a:solidFill>
              </a:rPr>
              <a:t>busy waiting</a:t>
            </a:r>
            <a:r>
              <a:rPr lang="en-US" dirty="0" smtClean="0">
                <a:solidFill>
                  <a:srgbClr val="3366FF"/>
                </a:solidFill>
              </a:rPr>
              <a:t> </a:t>
            </a:r>
            <a:r>
              <a:rPr lang="en-US" dirty="0" smtClean="0"/>
              <a:t>in critical section implementation</a:t>
            </a:r>
          </a:p>
          <a:p>
            <a:pPr lvl="2"/>
            <a:r>
              <a:rPr lang="en-US" dirty="0" smtClean="0"/>
              <a:t>But implementation code is short</a:t>
            </a:r>
          </a:p>
          <a:p>
            <a:pPr lvl="2"/>
            <a:r>
              <a:rPr lang="en-US" dirty="0" smtClean="0"/>
              <a:t>Little busy waiting if critical section rarely occupied</a:t>
            </a:r>
          </a:p>
          <a:p>
            <a:pPr lvl="2"/>
            <a:endParaRPr lang="en-US" dirty="0" smtClean="0"/>
          </a:p>
          <a:p>
            <a:r>
              <a:rPr lang="en-US" dirty="0" smtClean="0"/>
              <a:t>Note that applications may spend lots of time in critical sections and therefore this is not a good solution</a:t>
            </a:r>
          </a:p>
          <a:p>
            <a:pPr>
              <a:buFont typeface="Monotype Sorts" charset="2"/>
              <a:buNone/>
            </a:pPr>
            <a:r>
              <a:rPr lang="en-US" dirty="0" smtClean="0"/>
              <a:t> </a:t>
            </a:r>
          </a:p>
          <a:p>
            <a:pPr lvl="1">
              <a:buFont typeface="Monotype Sorts" charset="2"/>
              <a:buNone/>
            </a:pPr>
            <a:endParaRPr lang="en-US" dirty="0" smtClean="0"/>
          </a:p>
        </p:txBody>
      </p:sp>
    </p:spTree>
    <p:extLst>
      <p:ext uri="{BB962C8B-B14F-4D97-AF65-F5344CB8AC3E}">
        <p14:creationId xmlns:p14="http://schemas.microsoft.com/office/powerpoint/2010/main" val="2924244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76275" y="626533"/>
            <a:ext cx="8077200" cy="541867"/>
          </a:xfrm>
        </p:spPr>
        <p:txBody>
          <a:bodyPr>
            <a:normAutofit fontScale="90000"/>
          </a:bodyPr>
          <a:lstStyle/>
          <a:p>
            <a:pPr eaLnBrk="1" hangingPunct="1"/>
            <a:r>
              <a:rPr lang="en-US" sz="2667"/>
              <a:t>Semaphore Implementation </a:t>
            </a:r>
            <a:br>
              <a:rPr lang="en-US" sz="2667"/>
            </a:br>
            <a:r>
              <a:rPr lang="en-US" sz="2667"/>
              <a:t>with no Busy waiting </a:t>
            </a:r>
          </a:p>
        </p:txBody>
      </p:sp>
      <p:sp>
        <p:nvSpPr>
          <p:cNvPr id="25603" name="Rectangle 3"/>
          <p:cNvSpPr>
            <a:spLocks noGrp="1" noChangeArrowheads="1"/>
          </p:cNvSpPr>
          <p:nvPr>
            <p:ph idx="1"/>
          </p:nvPr>
        </p:nvSpPr>
        <p:spPr>
          <a:xfrm>
            <a:off x="844550" y="1647825"/>
            <a:ext cx="7507817" cy="4178300"/>
          </a:xfrm>
        </p:spPr>
        <p:txBody>
          <a:bodyPr/>
          <a:lstStyle/>
          <a:p>
            <a:r>
              <a:rPr lang="en-US" smtClean="0"/>
              <a:t>With each semaphore there is an associated waiting queue</a:t>
            </a:r>
          </a:p>
          <a:p>
            <a:r>
              <a:rPr lang="en-US" smtClean="0"/>
              <a:t>Each entry in a waiting queue has two data items:</a:t>
            </a:r>
          </a:p>
          <a:p>
            <a:pPr lvl="1"/>
            <a:r>
              <a:rPr lang="en-US" smtClean="0"/>
              <a:t> value (of type integer)</a:t>
            </a:r>
          </a:p>
          <a:p>
            <a:pPr lvl="1"/>
            <a:r>
              <a:rPr lang="en-US" smtClean="0"/>
              <a:t> pointer to next record in the list</a:t>
            </a:r>
          </a:p>
          <a:p>
            <a:pPr lvl="1">
              <a:buFont typeface="Monotype Sorts" charset="2"/>
              <a:buNone/>
            </a:pPr>
            <a:endParaRPr lang="en-US" smtClean="0"/>
          </a:p>
          <a:p>
            <a:r>
              <a:rPr lang="en-US" smtClean="0"/>
              <a:t>Two operations:</a:t>
            </a:r>
          </a:p>
          <a:p>
            <a:pPr lvl="1"/>
            <a:r>
              <a:rPr lang="en-US" b="1" smtClean="0">
                <a:solidFill>
                  <a:srgbClr val="3366FF"/>
                </a:solidFill>
              </a:rPr>
              <a:t>block</a:t>
            </a:r>
            <a:r>
              <a:rPr lang="en-US" smtClean="0">
                <a:solidFill>
                  <a:srgbClr val="3366FF"/>
                </a:solidFill>
              </a:rPr>
              <a:t> </a:t>
            </a:r>
            <a:r>
              <a:rPr lang="en-US" smtClean="0"/>
              <a:t>– place the process invoking the operation on the appropriate waiting queue</a:t>
            </a:r>
          </a:p>
          <a:p>
            <a:pPr lvl="1"/>
            <a:r>
              <a:rPr lang="en-US" b="1" smtClean="0">
                <a:solidFill>
                  <a:srgbClr val="3366FF"/>
                </a:solidFill>
              </a:rPr>
              <a:t>wakeup</a:t>
            </a:r>
            <a:r>
              <a:rPr lang="en-US" smtClean="0">
                <a:solidFill>
                  <a:srgbClr val="3366FF"/>
                </a:solidFill>
              </a:rPr>
              <a:t> </a:t>
            </a:r>
            <a:r>
              <a:rPr lang="en-US" smtClean="0"/>
              <a:t>– remove one of processes in the waiting queue and place it in the ready queue</a:t>
            </a:r>
          </a:p>
          <a:p>
            <a:pPr>
              <a:buFont typeface="Monotype Sorts" charset="2"/>
              <a:buNone/>
            </a:pPr>
            <a:r>
              <a:rPr lang="en-US" smtClean="0">
                <a:solidFill>
                  <a:srgbClr val="0000FF"/>
                </a:solidFill>
              </a:rPr>
              <a:t>                        </a:t>
            </a:r>
          </a:p>
        </p:txBody>
      </p:sp>
    </p:spTree>
    <p:extLst>
      <p:ext uri="{BB962C8B-B14F-4D97-AF65-F5344CB8AC3E}">
        <p14:creationId xmlns:p14="http://schemas.microsoft.com/office/powerpoint/2010/main" val="18830521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20725" y="651933"/>
            <a:ext cx="8356600" cy="516467"/>
          </a:xfrm>
        </p:spPr>
        <p:txBody>
          <a:bodyPr>
            <a:normAutofit fontScale="90000"/>
          </a:bodyPr>
          <a:lstStyle/>
          <a:p>
            <a:pPr eaLnBrk="1" hangingPunct="1"/>
            <a:r>
              <a:rPr lang="en-US" sz="2667"/>
              <a:t>Semaphore Implementation with </a:t>
            </a:r>
            <a:br>
              <a:rPr lang="en-US" sz="2667"/>
            </a:br>
            <a:r>
              <a:rPr lang="en-US" sz="2667"/>
              <a:t>no Busy waiting (Cont.)</a:t>
            </a:r>
          </a:p>
        </p:txBody>
      </p:sp>
      <p:sp>
        <p:nvSpPr>
          <p:cNvPr id="26627" name="Rectangle 3"/>
          <p:cNvSpPr>
            <a:spLocks noGrp="1" noChangeArrowheads="1"/>
          </p:cNvSpPr>
          <p:nvPr>
            <p:ph idx="1"/>
          </p:nvPr>
        </p:nvSpPr>
        <p:spPr>
          <a:xfrm>
            <a:off x="827617" y="1520825"/>
            <a:ext cx="7424209" cy="4165600"/>
          </a:xfrm>
        </p:spPr>
        <p:txBody>
          <a:bodyPr>
            <a:normAutofit lnSpcReduction="10000"/>
          </a:bodyPr>
          <a:lstStyle/>
          <a:p>
            <a:pPr>
              <a:lnSpc>
                <a:spcPct val="80000"/>
              </a:lnSpc>
            </a:pPr>
            <a:r>
              <a:rPr lang="en-US" sz="1533"/>
              <a:t>Implementation of wait:</a:t>
            </a:r>
          </a:p>
          <a:p>
            <a:pPr>
              <a:lnSpc>
                <a:spcPct val="80000"/>
              </a:lnSpc>
              <a:buFont typeface="Monotype Sorts" charset="2"/>
              <a:buNone/>
            </a:pPr>
            <a:r>
              <a:rPr lang="en-US" sz="1533">
                <a:solidFill>
                  <a:srgbClr val="0000FF"/>
                </a:solidFill>
              </a:rPr>
              <a:t>            wait(semaphore *S) { </a:t>
            </a:r>
          </a:p>
          <a:p>
            <a:pPr>
              <a:lnSpc>
                <a:spcPct val="80000"/>
              </a:lnSpc>
              <a:buFont typeface="Monotype Sorts" charset="2"/>
              <a:buNone/>
            </a:pPr>
            <a:r>
              <a:rPr lang="en-US" sz="1533">
                <a:solidFill>
                  <a:srgbClr val="0000FF"/>
                </a:solidFill>
              </a:rPr>
              <a:t>			S-&gt;value--; </a:t>
            </a:r>
          </a:p>
          <a:p>
            <a:pPr>
              <a:lnSpc>
                <a:spcPct val="80000"/>
              </a:lnSpc>
              <a:buFont typeface="Monotype Sorts" charset="2"/>
              <a:buNone/>
            </a:pPr>
            <a:r>
              <a:rPr lang="en-US" sz="1533">
                <a:solidFill>
                  <a:srgbClr val="0000FF"/>
                </a:solidFill>
              </a:rPr>
              <a:t>			if (S-&gt;value &lt; 0) { </a:t>
            </a:r>
          </a:p>
          <a:p>
            <a:pPr>
              <a:lnSpc>
                <a:spcPct val="80000"/>
              </a:lnSpc>
              <a:buFont typeface="Monotype Sorts" charset="2"/>
              <a:buNone/>
            </a:pPr>
            <a:r>
              <a:rPr lang="en-US" sz="1533">
                <a:solidFill>
                  <a:srgbClr val="0000FF"/>
                </a:solidFill>
              </a:rPr>
              <a:t>				add this process to S-&gt;list; </a:t>
            </a:r>
          </a:p>
          <a:p>
            <a:pPr>
              <a:lnSpc>
                <a:spcPct val="80000"/>
              </a:lnSpc>
              <a:buFont typeface="Monotype Sorts" charset="2"/>
              <a:buNone/>
            </a:pPr>
            <a:r>
              <a:rPr lang="en-US" sz="1533">
                <a:solidFill>
                  <a:srgbClr val="0000FF"/>
                </a:solidFill>
              </a:rPr>
              <a:t>				block(); </a:t>
            </a:r>
          </a:p>
          <a:p>
            <a:pPr>
              <a:lnSpc>
                <a:spcPct val="80000"/>
              </a:lnSpc>
              <a:buFont typeface="Monotype Sorts" charset="2"/>
              <a:buNone/>
            </a:pPr>
            <a:r>
              <a:rPr lang="en-US" sz="1533">
                <a:solidFill>
                  <a:srgbClr val="0000FF"/>
                </a:solidFill>
              </a:rPr>
              <a:t>			} </a:t>
            </a:r>
          </a:p>
          <a:p>
            <a:pPr>
              <a:lnSpc>
                <a:spcPct val="80000"/>
              </a:lnSpc>
              <a:buFont typeface="Monotype Sorts" charset="2"/>
              <a:buNone/>
            </a:pPr>
            <a:r>
              <a:rPr lang="en-US" sz="1533">
                <a:solidFill>
                  <a:srgbClr val="0000FF"/>
                </a:solidFill>
              </a:rPr>
              <a:t>		}</a:t>
            </a:r>
          </a:p>
          <a:p>
            <a:pPr>
              <a:lnSpc>
                <a:spcPct val="80000"/>
              </a:lnSpc>
            </a:pPr>
            <a:r>
              <a:rPr lang="en-US" sz="1533"/>
              <a:t>Implementation of signal:</a:t>
            </a:r>
          </a:p>
          <a:p>
            <a:pPr>
              <a:lnSpc>
                <a:spcPct val="80000"/>
              </a:lnSpc>
              <a:buFont typeface="Monotype Sorts" charset="2"/>
              <a:buNone/>
            </a:pPr>
            <a:endParaRPr lang="en-US" sz="1533"/>
          </a:p>
          <a:p>
            <a:pPr>
              <a:lnSpc>
                <a:spcPct val="80000"/>
              </a:lnSpc>
              <a:buFont typeface="Monotype Sorts" charset="2"/>
              <a:buNone/>
            </a:pPr>
            <a:r>
              <a:rPr lang="en-US" sz="1533">
                <a:solidFill>
                  <a:srgbClr val="0000FF"/>
                </a:solidFill>
              </a:rPr>
              <a:t>		signal(semaphore *S) { </a:t>
            </a:r>
          </a:p>
          <a:p>
            <a:pPr>
              <a:lnSpc>
                <a:spcPct val="80000"/>
              </a:lnSpc>
              <a:buFont typeface="Monotype Sorts" charset="2"/>
              <a:buNone/>
            </a:pPr>
            <a:r>
              <a:rPr lang="en-US" sz="1533">
                <a:solidFill>
                  <a:srgbClr val="0000FF"/>
                </a:solidFill>
              </a:rPr>
              <a:t>			S-&gt;value++; </a:t>
            </a:r>
          </a:p>
          <a:p>
            <a:pPr>
              <a:lnSpc>
                <a:spcPct val="80000"/>
              </a:lnSpc>
              <a:buFont typeface="Monotype Sorts" charset="2"/>
              <a:buNone/>
            </a:pPr>
            <a:r>
              <a:rPr lang="en-US" sz="1533">
                <a:solidFill>
                  <a:srgbClr val="0000FF"/>
                </a:solidFill>
              </a:rPr>
              <a:t>			if (S-&gt;value &lt;= 0) { </a:t>
            </a:r>
          </a:p>
          <a:p>
            <a:pPr>
              <a:lnSpc>
                <a:spcPct val="80000"/>
              </a:lnSpc>
              <a:buFont typeface="Monotype Sorts" charset="2"/>
              <a:buNone/>
            </a:pPr>
            <a:r>
              <a:rPr lang="en-US" sz="1533">
                <a:solidFill>
                  <a:srgbClr val="0000FF"/>
                </a:solidFill>
              </a:rPr>
              <a:t>				remove a process P from S-&gt;list; </a:t>
            </a:r>
          </a:p>
          <a:p>
            <a:pPr>
              <a:lnSpc>
                <a:spcPct val="80000"/>
              </a:lnSpc>
              <a:buFont typeface="Monotype Sorts" charset="2"/>
              <a:buNone/>
            </a:pPr>
            <a:r>
              <a:rPr lang="en-US" sz="1533">
                <a:solidFill>
                  <a:srgbClr val="0000FF"/>
                </a:solidFill>
              </a:rPr>
              <a:t>				wakeup(P); </a:t>
            </a:r>
          </a:p>
          <a:p>
            <a:pPr>
              <a:lnSpc>
                <a:spcPct val="80000"/>
              </a:lnSpc>
              <a:buFont typeface="Monotype Sorts" charset="2"/>
              <a:buNone/>
            </a:pPr>
            <a:r>
              <a:rPr lang="en-US" sz="1533">
                <a:solidFill>
                  <a:srgbClr val="0000FF"/>
                </a:solidFill>
              </a:rPr>
              <a:t>			}</a:t>
            </a:r>
          </a:p>
          <a:p>
            <a:pPr>
              <a:lnSpc>
                <a:spcPct val="80000"/>
              </a:lnSpc>
              <a:buFont typeface="Monotype Sorts" charset="2"/>
              <a:buNone/>
            </a:pPr>
            <a:r>
              <a:rPr lang="en-US" sz="1533">
                <a:solidFill>
                  <a:srgbClr val="0000FF"/>
                </a:solidFill>
              </a:rPr>
              <a:t>		} </a:t>
            </a:r>
          </a:p>
        </p:txBody>
      </p:sp>
    </p:spTree>
    <p:extLst>
      <p:ext uri="{BB962C8B-B14F-4D97-AF65-F5344CB8AC3E}">
        <p14:creationId xmlns:p14="http://schemas.microsoft.com/office/powerpoint/2010/main" val="16677431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970492" y="627592"/>
            <a:ext cx="7716308" cy="512233"/>
          </a:xfrm>
        </p:spPr>
        <p:txBody>
          <a:bodyPr>
            <a:normAutofit/>
          </a:bodyPr>
          <a:lstStyle/>
          <a:p>
            <a:pPr eaLnBrk="1" hangingPunct="1"/>
            <a:r>
              <a:rPr lang="en-US" smtClean="0"/>
              <a:t>Deadlock and Starvation</a:t>
            </a:r>
          </a:p>
        </p:txBody>
      </p:sp>
      <p:sp>
        <p:nvSpPr>
          <p:cNvPr id="27651" name="Rectangle 3"/>
          <p:cNvSpPr>
            <a:spLocks noGrp="1" noChangeArrowheads="1"/>
          </p:cNvSpPr>
          <p:nvPr>
            <p:ph idx="1"/>
          </p:nvPr>
        </p:nvSpPr>
        <p:spPr>
          <a:xfrm>
            <a:off x="806450" y="1477433"/>
            <a:ext cx="7613650" cy="4148667"/>
          </a:xfrm>
        </p:spPr>
        <p:txBody>
          <a:bodyPr>
            <a:normAutofit fontScale="92500" lnSpcReduction="10000"/>
          </a:bodyPr>
          <a:lstStyle/>
          <a:p>
            <a:pPr>
              <a:lnSpc>
                <a:spcPct val="90000"/>
              </a:lnSpc>
              <a:tabLst>
                <a:tab pos="1796082" algn="ctr"/>
                <a:tab pos="4353143" algn="ctr"/>
              </a:tabLst>
            </a:pPr>
            <a:r>
              <a:rPr lang="en-US" b="1" smtClean="0">
                <a:solidFill>
                  <a:srgbClr val="3366FF"/>
                </a:solidFill>
              </a:rPr>
              <a:t>Deadlock </a:t>
            </a:r>
            <a:r>
              <a:rPr lang="en-US" smtClean="0"/>
              <a:t>– two or more processes are waiting indefinitely for an event that can be caused by only one of the waiting processes</a:t>
            </a:r>
          </a:p>
          <a:p>
            <a:pPr>
              <a:lnSpc>
                <a:spcPct val="90000"/>
              </a:lnSpc>
              <a:tabLst>
                <a:tab pos="1796082" algn="ctr"/>
                <a:tab pos="4353143" algn="ctr"/>
              </a:tabLst>
            </a:pPr>
            <a:r>
              <a:rPr lang="en-US" smtClean="0"/>
              <a:t>Let </a:t>
            </a:r>
            <a:r>
              <a:rPr lang="en-US" sz="1533">
                <a:solidFill>
                  <a:srgbClr val="0000FF"/>
                </a:solidFill>
              </a:rPr>
              <a:t>S</a:t>
            </a:r>
            <a:r>
              <a:rPr lang="en-US" smtClean="0"/>
              <a:t> and </a:t>
            </a:r>
            <a:r>
              <a:rPr lang="en-US" sz="1533">
                <a:solidFill>
                  <a:srgbClr val="0000FF"/>
                </a:solidFill>
              </a:rPr>
              <a:t>Q</a:t>
            </a:r>
            <a:r>
              <a:rPr lang="en-US" smtClean="0"/>
              <a:t> be two semaphores initialized to 1</a:t>
            </a:r>
          </a:p>
          <a:p>
            <a:pPr>
              <a:lnSpc>
                <a:spcPct val="90000"/>
              </a:lnSpc>
              <a:buNone/>
              <a:tabLst>
                <a:tab pos="1796082" algn="ctr"/>
                <a:tab pos="4353143" algn="ctr"/>
              </a:tabLst>
            </a:pPr>
            <a:r>
              <a:rPr lang="en-US" i="1" smtClean="0"/>
              <a:t>		        </a:t>
            </a:r>
            <a:r>
              <a:rPr lang="en-US" i="1" smtClean="0">
                <a:solidFill>
                  <a:srgbClr val="0000FF"/>
                </a:solidFill>
              </a:rPr>
              <a:t>P</a:t>
            </a:r>
            <a:r>
              <a:rPr lang="en-US" baseline="-25000" smtClean="0">
                <a:solidFill>
                  <a:srgbClr val="0000FF"/>
                </a:solidFill>
              </a:rPr>
              <a:t>0</a:t>
            </a:r>
            <a:r>
              <a:rPr lang="en-US" smtClean="0">
                <a:solidFill>
                  <a:srgbClr val="0000FF"/>
                </a:solidFill>
              </a:rPr>
              <a:t>	                            </a:t>
            </a:r>
            <a:r>
              <a:rPr lang="en-US" i="1" smtClean="0">
                <a:solidFill>
                  <a:srgbClr val="0000FF"/>
                </a:solidFill>
              </a:rPr>
              <a:t>P</a:t>
            </a:r>
            <a:r>
              <a:rPr lang="en-US" baseline="-25000" smtClean="0">
                <a:solidFill>
                  <a:srgbClr val="0000FF"/>
                </a:solidFill>
              </a:rPr>
              <a:t>1</a:t>
            </a:r>
          </a:p>
          <a:p>
            <a:pPr>
              <a:lnSpc>
                <a:spcPct val="90000"/>
              </a:lnSpc>
              <a:buNone/>
              <a:tabLst>
                <a:tab pos="1796082" algn="ctr"/>
                <a:tab pos="4353143" algn="ctr"/>
              </a:tabLst>
            </a:pPr>
            <a:r>
              <a:rPr lang="en-US" smtClean="0">
                <a:solidFill>
                  <a:srgbClr val="0000FF"/>
                </a:solidFill>
              </a:rPr>
              <a:t>		     </a:t>
            </a:r>
            <a:r>
              <a:rPr lang="en-US" sz="1533">
                <a:solidFill>
                  <a:srgbClr val="0000FF"/>
                </a:solidFill>
              </a:rPr>
              <a:t>wait (S); 	                                   wait (Q);</a:t>
            </a:r>
          </a:p>
          <a:p>
            <a:pPr>
              <a:lnSpc>
                <a:spcPct val="90000"/>
              </a:lnSpc>
              <a:buNone/>
              <a:tabLst>
                <a:tab pos="1796082" algn="ctr"/>
                <a:tab pos="4353143" algn="ctr"/>
              </a:tabLst>
            </a:pPr>
            <a:r>
              <a:rPr lang="en-US" sz="1533">
                <a:solidFill>
                  <a:srgbClr val="0000FF"/>
                </a:solidFill>
              </a:rPr>
              <a:t>		    wait (Q); 	                                   wait (S);</a:t>
            </a:r>
          </a:p>
          <a:p>
            <a:pPr>
              <a:lnSpc>
                <a:spcPct val="90000"/>
              </a:lnSpc>
              <a:buNone/>
              <a:tabLst>
                <a:tab pos="1796082" algn="ctr"/>
                <a:tab pos="4353143" algn="ctr"/>
              </a:tabLst>
            </a:pPr>
            <a:r>
              <a:rPr lang="en-US" sz="1533">
                <a:solidFill>
                  <a:srgbClr val="0000FF"/>
                </a:solidFill>
              </a:rPr>
              <a:t>		. 		.</a:t>
            </a:r>
          </a:p>
          <a:p>
            <a:pPr>
              <a:lnSpc>
                <a:spcPct val="90000"/>
              </a:lnSpc>
              <a:buNone/>
              <a:tabLst>
                <a:tab pos="1796082" algn="ctr"/>
                <a:tab pos="4353143" algn="ctr"/>
              </a:tabLst>
            </a:pPr>
            <a:r>
              <a:rPr lang="en-US" sz="1533">
                <a:solidFill>
                  <a:srgbClr val="0000FF"/>
                </a:solidFill>
              </a:rPr>
              <a:t>		. 		.</a:t>
            </a:r>
          </a:p>
          <a:p>
            <a:pPr>
              <a:lnSpc>
                <a:spcPct val="90000"/>
              </a:lnSpc>
              <a:buNone/>
              <a:tabLst>
                <a:tab pos="1796082" algn="ctr"/>
                <a:tab pos="4353143" algn="ctr"/>
              </a:tabLst>
            </a:pPr>
            <a:r>
              <a:rPr lang="en-US" sz="1533">
                <a:solidFill>
                  <a:srgbClr val="0000FF"/>
                </a:solidFill>
              </a:rPr>
              <a:t>		. 		.</a:t>
            </a:r>
          </a:p>
          <a:p>
            <a:pPr>
              <a:lnSpc>
                <a:spcPct val="90000"/>
              </a:lnSpc>
              <a:buNone/>
              <a:tabLst>
                <a:tab pos="1796082" algn="ctr"/>
                <a:tab pos="4353143" algn="ctr"/>
              </a:tabLst>
            </a:pPr>
            <a:r>
              <a:rPr lang="en-US" sz="1533">
                <a:solidFill>
                  <a:srgbClr val="0000FF"/>
                </a:solidFill>
              </a:rPr>
              <a:t>		     signal (S); 	                                  signal (Q);</a:t>
            </a:r>
          </a:p>
          <a:p>
            <a:pPr>
              <a:lnSpc>
                <a:spcPct val="90000"/>
              </a:lnSpc>
              <a:buNone/>
              <a:tabLst>
                <a:tab pos="1796082" algn="ctr"/>
                <a:tab pos="4353143" algn="ctr"/>
              </a:tabLst>
            </a:pPr>
            <a:r>
              <a:rPr lang="en-US" sz="1533">
                <a:solidFill>
                  <a:srgbClr val="0000FF"/>
                </a:solidFill>
              </a:rPr>
              <a:t>		     signal (Q); 	                                  signal (S);</a:t>
            </a:r>
          </a:p>
          <a:p>
            <a:pPr>
              <a:lnSpc>
                <a:spcPct val="90000"/>
              </a:lnSpc>
              <a:tabLst>
                <a:tab pos="1796082" algn="ctr"/>
                <a:tab pos="4353143" algn="ctr"/>
              </a:tabLst>
            </a:pPr>
            <a:r>
              <a:rPr lang="en-US" b="1" smtClean="0">
                <a:solidFill>
                  <a:srgbClr val="3366FF"/>
                </a:solidFill>
                <a:sym typeface="MT Extra" charset="0"/>
              </a:rPr>
              <a:t>Starvation</a:t>
            </a:r>
            <a:r>
              <a:rPr lang="en-US" smtClean="0">
                <a:solidFill>
                  <a:srgbClr val="3366FF"/>
                </a:solidFill>
                <a:sym typeface="MT Extra" charset="0"/>
              </a:rPr>
              <a:t> </a:t>
            </a:r>
            <a:r>
              <a:rPr lang="en-US" smtClean="0"/>
              <a:t>– indefinite blocking  </a:t>
            </a:r>
          </a:p>
          <a:p>
            <a:pPr lvl="1">
              <a:lnSpc>
                <a:spcPct val="90000"/>
              </a:lnSpc>
              <a:tabLst>
                <a:tab pos="1796082" algn="ctr"/>
                <a:tab pos="4353143" algn="ctr"/>
              </a:tabLst>
            </a:pPr>
            <a:r>
              <a:rPr lang="en-US" smtClean="0"/>
              <a:t>A process may never be removed from the semaphore queue in which it is suspended</a:t>
            </a:r>
          </a:p>
          <a:p>
            <a:pPr>
              <a:lnSpc>
                <a:spcPct val="90000"/>
              </a:lnSpc>
              <a:tabLst>
                <a:tab pos="1796082" algn="ctr"/>
                <a:tab pos="4353143" algn="ctr"/>
              </a:tabLst>
            </a:pPr>
            <a:r>
              <a:rPr lang="en-US" b="1" smtClean="0">
                <a:solidFill>
                  <a:srgbClr val="3366FF"/>
                </a:solidFill>
              </a:rPr>
              <a:t>Priority Inversion</a:t>
            </a:r>
            <a:r>
              <a:rPr lang="en-US" smtClean="0">
                <a:solidFill>
                  <a:srgbClr val="3366FF"/>
                </a:solidFill>
              </a:rPr>
              <a:t> </a:t>
            </a:r>
            <a:r>
              <a:rPr lang="en-US" smtClean="0"/>
              <a:t>– Scheduling problem when lower-priority process holds a lock needed by higher-priority process</a:t>
            </a:r>
          </a:p>
          <a:p>
            <a:pPr lvl="1">
              <a:lnSpc>
                <a:spcPct val="90000"/>
              </a:lnSpc>
              <a:tabLst>
                <a:tab pos="1796082" algn="ctr"/>
                <a:tab pos="4353143" algn="ctr"/>
              </a:tabLst>
            </a:pPr>
            <a:r>
              <a:rPr lang="en-US" smtClean="0"/>
              <a:t>Solved via </a:t>
            </a:r>
            <a:r>
              <a:rPr lang="en-US" b="1" smtClean="0">
                <a:solidFill>
                  <a:srgbClr val="3366FF"/>
                </a:solidFill>
              </a:rPr>
              <a:t>priority-inheritance protocol</a:t>
            </a:r>
          </a:p>
        </p:txBody>
      </p:sp>
    </p:spTree>
    <p:extLst>
      <p:ext uri="{BB962C8B-B14F-4D97-AF65-F5344CB8AC3E}">
        <p14:creationId xmlns:p14="http://schemas.microsoft.com/office/powerpoint/2010/main" val="28271093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14400" y="584200"/>
            <a:ext cx="8077200" cy="541867"/>
          </a:xfrm>
        </p:spPr>
        <p:txBody>
          <a:bodyPr>
            <a:normAutofit/>
          </a:bodyPr>
          <a:lstStyle/>
          <a:p>
            <a:pPr eaLnBrk="1" hangingPunct="1"/>
            <a:r>
              <a:rPr lang="en-US" smtClean="0"/>
              <a:t>Classical Problems of Synchronization</a:t>
            </a:r>
          </a:p>
        </p:txBody>
      </p:sp>
      <p:sp>
        <p:nvSpPr>
          <p:cNvPr id="28675" name="Rectangle 3"/>
          <p:cNvSpPr>
            <a:spLocks noGrp="1" noChangeArrowheads="1"/>
          </p:cNvSpPr>
          <p:nvPr>
            <p:ph idx="1"/>
          </p:nvPr>
        </p:nvSpPr>
        <p:spPr/>
        <p:txBody>
          <a:bodyPr/>
          <a:lstStyle/>
          <a:p>
            <a:r>
              <a:rPr lang="en-US" smtClean="0"/>
              <a:t>Classical problems used to test newly-proposed synchronization schemes</a:t>
            </a:r>
          </a:p>
          <a:p>
            <a:endParaRPr lang="en-US" smtClean="0"/>
          </a:p>
          <a:p>
            <a:pPr lvl="1"/>
            <a:r>
              <a:rPr lang="en-US" smtClean="0"/>
              <a:t>Bounded-Buffer Problem</a:t>
            </a:r>
          </a:p>
          <a:p>
            <a:endParaRPr lang="en-US" smtClean="0"/>
          </a:p>
          <a:p>
            <a:pPr lvl="1"/>
            <a:r>
              <a:rPr lang="en-US" smtClean="0"/>
              <a:t>Readers and Writers Problem</a:t>
            </a:r>
          </a:p>
          <a:p>
            <a:endParaRPr lang="en-US" smtClean="0"/>
          </a:p>
          <a:p>
            <a:pPr lvl="1"/>
            <a:r>
              <a:rPr lang="en-US" smtClean="0"/>
              <a:t>Dining-Philosophers Problem</a:t>
            </a:r>
          </a:p>
        </p:txBody>
      </p:sp>
    </p:spTree>
    <p:extLst>
      <p:ext uri="{BB962C8B-B14F-4D97-AF65-F5344CB8AC3E}">
        <p14:creationId xmlns:p14="http://schemas.microsoft.com/office/powerpoint/2010/main" val="41443576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279525" y="627592"/>
            <a:ext cx="7407275" cy="512233"/>
          </a:xfrm>
        </p:spPr>
        <p:txBody>
          <a:bodyPr>
            <a:normAutofit/>
          </a:bodyPr>
          <a:lstStyle/>
          <a:p>
            <a:pPr eaLnBrk="1" hangingPunct="1"/>
            <a:r>
              <a:rPr lang="en-US" smtClean="0"/>
              <a:t>Bounded-Buffer Problem</a:t>
            </a:r>
          </a:p>
        </p:txBody>
      </p:sp>
      <p:sp>
        <p:nvSpPr>
          <p:cNvPr id="29699" name="Rectangle 3"/>
          <p:cNvSpPr>
            <a:spLocks noGrp="1" noChangeArrowheads="1"/>
          </p:cNvSpPr>
          <p:nvPr>
            <p:ph idx="1"/>
          </p:nvPr>
        </p:nvSpPr>
        <p:spPr>
          <a:xfrm>
            <a:off x="914400" y="1531409"/>
            <a:ext cx="7210425" cy="3311525"/>
          </a:xfrm>
        </p:spPr>
        <p:txBody>
          <a:bodyPr/>
          <a:lstStyle/>
          <a:p>
            <a:r>
              <a:rPr lang="en-US" i="1" smtClean="0"/>
              <a:t>N</a:t>
            </a:r>
            <a:r>
              <a:rPr lang="en-US" smtClean="0"/>
              <a:t> buffers, each can hold one item</a:t>
            </a:r>
          </a:p>
          <a:p>
            <a:endParaRPr lang="en-US" smtClean="0"/>
          </a:p>
          <a:p>
            <a:r>
              <a:rPr lang="en-US" smtClean="0"/>
              <a:t>Semaphore </a:t>
            </a:r>
            <a:r>
              <a:rPr lang="en-US" smtClean="0">
                <a:solidFill>
                  <a:srgbClr val="FF0000"/>
                </a:solidFill>
              </a:rPr>
              <a:t>mutex</a:t>
            </a:r>
            <a:r>
              <a:rPr lang="en-US" smtClean="0"/>
              <a:t> initialized to the value 1</a:t>
            </a:r>
          </a:p>
          <a:p>
            <a:endParaRPr lang="en-US" smtClean="0"/>
          </a:p>
          <a:p>
            <a:r>
              <a:rPr lang="en-US" smtClean="0"/>
              <a:t>Semaphore </a:t>
            </a:r>
            <a:r>
              <a:rPr lang="en-US" smtClean="0">
                <a:solidFill>
                  <a:srgbClr val="FF0000"/>
                </a:solidFill>
              </a:rPr>
              <a:t>full </a:t>
            </a:r>
            <a:r>
              <a:rPr lang="en-US" smtClean="0"/>
              <a:t>initialized to the value 0</a:t>
            </a:r>
          </a:p>
          <a:p>
            <a:endParaRPr lang="en-US" smtClean="0"/>
          </a:p>
          <a:p>
            <a:r>
              <a:rPr lang="en-US" smtClean="0"/>
              <a:t>Semaphore </a:t>
            </a:r>
            <a:r>
              <a:rPr lang="en-US" smtClean="0">
                <a:solidFill>
                  <a:srgbClr val="FF0000"/>
                </a:solidFill>
              </a:rPr>
              <a:t>empty</a:t>
            </a:r>
            <a:r>
              <a:rPr lang="en-US" smtClean="0"/>
              <a:t> initialized to the value N</a:t>
            </a:r>
          </a:p>
          <a:p>
            <a:endParaRPr lang="en-US" smtClean="0"/>
          </a:p>
        </p:txBody>
      </p:sp>
      <p:sp>
        <p:nvSpPr>
          <p:cNvPr id="29700" name="Rectangle 5"/>
          <p:cNvSpPr>
            <a:spLocks noChangeArrowheads="1"/>
          </p:cNvSpPr>
          <p:nvPr/>
        </p:nvSpPr>
        <p:spPr bwMode="auto">
          <a:xfrm>
            <a:off x="2492376" y="3267076"/>
            <a:ext cx="175919" cy="272594"/>
          </a:xfrm>
          <a:prstGeom prst="rect">
            <a:avLst/>
          </a:prstGeom>
          <a:noFill/>
          <a:ln w="9525">
            <a:noFill/>
            <a:miter lim="800000"/>
            <a:headEnd/>
            <a:tailEnd/>
          </a:ln>
        </p:spPr>
        <p:txBody>
          <a:bodyPr wrap="none" lIns="87077" tIns="43539" rIns="87077" bIns="43539">
            <a:spAutoFit/>
          </a:bodyPr>
          <a:lstStyle/>
          <a:p>
            <a:endParaRPr kumimoji="1" lang="en-US" sz="1200">
              <a:latin typeface="Helvetica" charset="0"/>
            </a:endParaRPr>
          </a:p>
        </p:txBody>
      </p:sp>
    </p:spTree>
    <p:extLst>
      <p:ext uri="{BB962C8B-B14F-4D97-AF65-F5344CB8AC3E}">
        <p14:creationId xmlns:p14="http://schemas.microsoft.com/office/powerpoint/2010/main" val="35211829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111250" y="627592"/>
            <a:ext cx="7575550" cy="512233"/>
          </a:xfrm>
        </p:spPr>
        <p:txBody>
          <a:bodyPr>
            <a:normAutofit/>
          </a:bodyPr>
          <a:lstStyle/>
          <a:p>
            <a:pPr eaLnBrk="1" hangingPunct="1"/>
            <a:r>
              <a:rPr lang="en-US" smtClean="0"/>
              <a:t>Bounded Buffer Problem (Cont.)</a:t>
            </a:r>
          </a:p>
        </p:txBody>
      </p:sp>
      <p:sp>
        <p:nvSpPr>
          <p:cNvPr id="30723" name="Rectangle 3"/>
          <p:cNvSpPr>
            <a:spLocks noGrp="1" noChangeArrowheads="1"/>
          </p:cNvSpPr>
          <p:nvPr>
            <p:ph idx="1"/>
          </p:nvPr>
        </p:nvSpPr>
        <p:spPr>
          <a:xfrm>
            <a:off x="827617" y="1518709"/>
            <a:ext cx="7848600" cy="4334933"/>
          </a:xfrm>
        </p:spPr>
        <p:txBody>
          <a:bodyPr>
            <a:normAutofit/>
          </a:bodyPr>
          <a:lstStyle/>
          <a:p>
            <a:r>
              <a:rPr lang="en-US" sz="1533"/>
              <a:t>The structure of the producer process</a:t>
            </a:r>
          </a:p>
          <a:p>
            <a:pPr>
              <a:buFont typeface="Monotype Sorts" charset="2"/>
              <a:buNone/>
            </a:pPr>
            <a:endParaRPr lang="en-US" sz="1533"/>
          </a:p>
          <a:p>
            <a:pPr>
              <a:buFont typeface="Monotype Sorts" charset="2"/>
              <a:buNone/>
            </a:pPr>
            <a:r>
              <a:rPr lang="en-US" sz="1533">
                <a:solidFill>
                  <a:srgbClr val="0000FF"/>
                </a:solidFill>
              </a:rPr>
              <a:t>	do  {</a:t>
            </a:r>
            <a:br>
              <a:rPr lang="en-US" sz="1533">
                <a:solidFill>
                  <a:srgbClr val="0000FF"/>
                </a:solidFill>
              </a:rPr>
            </a:br>
            <a:endParaRPr lang="en-US" sz="1533">
              <a:solidFill>
                <a:srgbClr val="0000FF"/>
              </a:solidFill>
            </a:endParaRPr>
          </a:p>
          <a:p>
            <a:pPr>
              <a:buFont typeface="Monotype Sorts" charset="2"/>
              <a:buNone/>
            </a:pPr>
            <a:r>
              <a:rPr lang="en-US" sz="1533">
                <a:solidFill>
                  <a:srgbClr val="0000FF"/>
                </a:solidFill>
              </a:rPr>
              <a:t>                         //   produce an item in nextp</a:t>
            </a:r>
          </a:p>
          <a:p>
            <a:pPr>
              <a:buFont typeface="Monotype Sorts" charset="2"/>
              <a:buNone/>
            </a:pPr>
            <a:endParaRPr lang="en-US" sz="1533">
              <a:solidFill>
                <a:srgbClr val="0000FF"/>
              </a:solidFill>
            </a:endParaRPr>
          </a:p>
          <a:p>
            <a:pPr>
              <a:buFont typeface="Monotype Sorts" charset="2"/>
              <a:buNone/>
            </a:pPr>
            <a:r>
              <a:rPr lang="en-US" sz="1533">
                <a:solidFill>
                  <a:srgbClr val="0000FF"/>
                </a:solidFill>
              </a:rPr>
              <a:t>                               wait (empty);</a:t>
            </a:r>
          </a:p>
          <a:p>
            <a:pPr>
              <a:buFont typeface="Monotype Sorts" charset="2"/>
              <a:buNone/>
            </a:pPr>
            <a:r>
              <a:rPr lang="en-US" sz="1533">
                <a:solidFill>
                  <a:srgbClr val="0000FF"/>
                </a:solidFill>
              </a:rPr>
              <a:t>                               wait (mutex);</a:t>
            </a:r>
          </a:p>
          <a:p>
            <a:pPr>
              <a:buFont typeface="Monotype Sorts" charset="2"/>
              <a:buNone/>
            </a:pPr>
            <a:endParaRPr lang="en-US" sz="1533">
              <a:solidFill>
                <a:srgbClr val="0000FF"/>
              </a:solidFill>
            </a:endParaRPr>
          </a:p>
          <a:p>
            <a:pPr>
              <a:buFont typeface="Monotype Sorts" charset="2"/>
              <a:buNone/>
            </a:pPr>
            <a:r>
              <a:rPr lang="en-US" sz="1533">
                <a:solidFill>
                  <a:srgbClr val="0000FF"/>
                </a:solidFill>
              </a:rPr>
              <a:t>                         //  add the item to the  buffer</a:t>
            </a:r>
          </a:p>
          <a:p>
            <a:pPr>
              <a:buFont typeface="Monotype Sorts" charset="2"/>
              <a:buNone/>
            </a:pPr>
            <a:endParaRPr lang="en-US" sz="1533">
              <a:solidFill>
                <a:srgbClr val="0000FF"/>
              </a:solidFill>
            </a:endParaRPr>
          </a:p>
          <a:p>
            <a:pPr>
              <a:buFont typeface="Monotype Sorts" charset="2"/>
              <a:buNone/>
            </a:pPr>
            <a:r>
              <a:rPr lang="en-US" sz="1533">
                <a:solidFill>
                  <a:srgbClr val="0000FF"/>
                </a:solidFill>
              </a:rPr>
              <a:t>                    signal (mutex);</a:t>
            </a:r>
          </a:p>
          <a:p>
            <a:pPr>
              <a:buFont typeface="Monotype Sorts" charset="2"/>
              <a:buNone/>
            </a:pPr>
            <a:r>
              <a:rPr lang="en-US" sz="1533">
                <a:solidFill>
                  <a:srgbClr val="0000FF"/>
                </a:solidFill>
              </a:rPr>
              <a:t>                    signal (full);</a:t>
            </a:r>
          </a:p>
          <a:p>
            <a:pPr>
              <a:buFont typeface="Monotype Sorts" charset="2"/>
              <a:buNone/>
            </a:pPr>
            <a:r>
              <a:rPr lang="en-US" sz="1533">
                <a:solidFill>
                  <a:srgbClr val="0000FF"/>
                </a:solidFill>
              </a:rPr>
              <a:t>           } while (TRUE);</a:t>
            </a:r>
            <a:endParaRPr lang="en-US" sz="1533" dirty="0">
              <a:solidFill>
                <a:srgbClr val="0000FF"/>
              </a:solidFill>
            </a:endParaRPr>
          </a:p>
        </p:txBody>
      </p:sp>
      <p:sp>
        <p:nvSpPr>
          <p:cNvPr id="4" name="Text Box 2"/>
          <p:cNvSpPr txBox="1">
            <a:spLocks noChangeArrowheads="1"/>
          </p:cNvSpPr>
          <p:nvPr/>
        </p:nvSpPr>
        <p:spPr bwMode="auto">
          <a:xfrm>
            <a:off x="5659038" y="2913549"/>
            <a:ext cx="1954741" cy="6170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200" b="1" dirty="0">
                <a:solidFill>
                  <a:srgbClr val="CC6600"/>
                </a:solidFill>
                <a:latin typeface="Helvetica" charset="0"/>
              </a:rPr>
              <a:t>The producer must wait for an empty space in the buffer</a:t>
            </a:r>
          </a:p>
        </p:txBody>
      </p:sp>
      <p:sp>
        <p:nvSpPr>
          <p:cNvPr id="5" name="Text Box 4"/>
          <p:cNvSpPr txBox="1">
            <a:spLocks noChangeArrowheads="1"/>
          </p:cNvSpPr>
          <p:nvPr/>
        </p:nvSpPr>
        <p:spPr bwMode="auto">
          <a:xfrm>
            <a:off x="236376" y="3219407"/>
            <a:ext cx="1954742" cy="11710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200" b="1" dirty="0">
                <a:solidFill>
                  <a:srgbClr val="CC6600"/>
                </a:solidFill>
                <a:latin typeface="Helvetica" charset="0"/>
              </a:rPr>
              <a:t>We must make sure that the producer and the consumer make changes to the shared buffer in a mutually exclusive manner</a:t>
            </a:r>
          </a:p>
        </p:txBody>
      </p:sp>
      <p:sp>
        <p:nvSpPr>
          <p:cNvPr id="6" name="Line 3"/>
          <p:cNvSpPr>
            <a:spLocks noChangeShapeType="1"/>
          </p:cNvSpPr>
          <p:nvPr/>
        </p:nvSpPr>
        <p:spPr bwMode="auto">
          <a:xfrm flipH="1">
            <a:off x="3782008" y="2977049"/>
            <a:ext cx="1877030" cy="548217"/>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defRPr/>
            </a:pPr>
            <a:endParaRPr lang="en-US" sz="1200"/>
          </a:p>
        </p:txBody>
      </p:sp>
      <p:sp>
        <p:nvSpPr>
          <p:cNvPr id="7" name="Line 5"/>
          <p:cNvSpPr>
            <a:spLocks noChangeShapeType="1"/>
          </p:cNvSpPr>
          <p:nvPr/>
        </p:nvSpPr>
        <p:spPr bwMode="auto">
          <a:xfrm>
            <a:off x="2019106" y="3412024"/>
            <a:ext cx="541867" cy="38735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a:defRPr/>
            </a:pPr>
            <a:endParaRPr lang="en-US" sz="1200"/>
          </a:p>
        </p:txBody>
      </p:sp>
    </p:spTree>
    <p:extLst>
      <p:ext uri="{BB962C8B-B14F-4D97-AF65-F5344CB8AC3E}">
        <p14:creationId xmlns:p14="http://schemas.microsoft.com/office/powerpoint/2010/main" val="160331010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307042" y="627592"/>
            <a:ext cx="7156450" cy="512233"/>
          </a:xfrm>
        </p:spPr>
        <p:txBody>
          <a:bodyPr>
            <a:normAutofit/>
          </a:bodyPr>
          <a:lstStyle/>
          <a:p>
            <a:pPr eaLnBrk="1" hangingPunct="1"/>
            <a:r>
              <a:rPr lang="en-US" smtClean="0"/>
              <a:t>Bounded Buffer Problem (Cont.)</a:t>
            </a:r>
          </a:p>
        </p:txBody>
      </p:sp>
      <p:sp>
        <p:nvSpPr>
          <p:cNvPr id="31747" name="Rectangle 3"/>
          <p:cNvSpPr>
            <a:spLocks noGrp="1" noChangeArrowheads="1"/>
          </p:cNvSpPr>
          <p:nvPr>
            <p:ph idx="1"/>
          </p:nvPr>
        </p:nvSpPr>
        <p:spPr>
          <a:xfrm>
            <a:off x="827617" y="1518709"/>
            <a:ext cx="7848600" cy="4334933"/>
          </a:xfrm>
        </p:spPr>
        <p:txBody>
          <a:bodyPr>
            <a:normAutofit/>
          </a:bodyPr>
          <a:lstStyle/>
          <a:p>
            <a:r>
              <a:rPr lang="en-US" sz="1533" dirty="0"/>
              <a:t>The structure of the consumer process</a:t>
            </a:r>
          </a:p>
          <a:p>
            <a:pPr>
              <a:buFont typeface="Monotype Sorts" charset="2"/>
              <a:buNone/>
            </a:pPr>
            <a:endParaRPr lang="en-US" sz="1533" dirty="0"/>
          </a:p>
          <a:p>
            <a:pPr>
              <a:buFont typeface="Monotype Sorts" charset="2"/>
              <a:buNone/>
            </a:pPr>
            <a:r>
              <a:rPr lang="en-US" sz="1533" dirty="0">
                <a:solidFill>
                  <a:srgbClr val="0000FF"/>
                </a:solidFill>
              </a:rPr>
              <a:t>           do {</a:t>
            </a:r>
          </a:p>
          <a:p>
            <a:pPr>
              <a:buFont typeface="Monotype Sorts" charset="2"/>
              <a:buNone/>
            </a:pPr>
            <a:r>
              <a:rPr lang="en-US" sz="1533" dirty="0">
                <a:solidFill>
                  <a:srgbClr val="0000FF"/>
                </a:solidFill>
              </a:rPr>
              <a:t>                      wait (full);</a:t>
            </a:r>
          </a:p>
          <a:p>
            <a:pPr>
              <a:buFont typeface="Monotype Sorts" charset="2"/>
              <a:buNone/>
            </a:pPr>
            <a:r>
              <a:rPr lang="en-US" sz="1533" dirty="0">
                <a:solidFill>
                  <a:srgbClr val="0000FF"/>
                </a:solidFill>
              </a:rPr>
              <a:t>                      wait (</a:t>
            </a:r>
            <a:r>
              <a:rPr lang="en-US" sz="1533" dirty="0" err="1">
                <a:solidFill>
                  <a:srgbClr val="0000FF"/>
                </a:solidFill>
              </a:rPr>
              <a:t>mutex</a:t>
            </a:r>
            <a:r>
              <a:rPr lang="en-US" sz="1533" dirty="0">
                <a:solidFill>
                  <a:srgbClr val="0000FF"/>
                </a:solidFill>
              </a:rPr>
              <a:t>);</a:t>
            </a:r>
          </a:p>
          <a:p>
            <a:pPr>
              <a:buFont typeface="Monotype Sorts" charset="2"/>
              <a:buNone/>
            </a:pPr>
            <a:endParaRPr lang="en-US" sz="1533" dirty="0">
              <a:solidFill>
                <a:srgbClr val="0000FF"/>
              </a:solidFill>
            </a:endParaRPr>
          </a:p>
          <a:p>
            <a:pPr>
              <a:buFont typeface="Monotype Sorts" charset="2"/>
              <a:buNone/>
            </a:pPr>
            <a:r>
              <a:rPr lang="en-US" sz="1533" dirty="0">
                <a:solidFill>
                  <a:srgbClr val="0000FF"/>
                </a:solidFill>
              </a:rPr>
              <a:t>                             //  remove an item from  buffer to </a:t>
            </a:r>
            <a:r>
              <a:rPr lang="en-US" sz="1533" dirty="0" err="1">
                <a:solidFill>
                  <a:srgbClr val="0000FF"/>
                </a:solidFill>
              </a:rPr>
              <a:t>nextc</a:t>
            </a:r>
            <a:endParaRPr lang="en-US" sz="1533" dirty="0">
              <a:solidFill>
                <a:srgbClr val="0000FF"/>
              </a:solidFill>
            </a:endParaRPr>
          </a:p>
          <a:p>
            <a:pPr>
              <a:buFont typeface="Monotype Sorts" charset="2"/>
              <a:buNone/>
            </a:pPr>
            <a:endParaRPr lang="en-US" sz="1533" dirty="0">
              <a:solidFill>
                <a:srgbClr val="0000FF"/>
              </a:solidFill>
            </a:endParaRPr>
          </a:p>
          <a:p>
            <a:pPr>
              <a:buFont typeface="Monotype Sorts" charset="2"/>
              <a:buNone/>
            </a:pPr>
            <a:r>
              <a:rPr lang="en-US" sz="1533" dirty="0">
                <a:solidFill>
                  <a:srgbClr val="0000FF"/>
                </a:solidFill>
              </a:rPr>
              <a:t>                    signal (</a:t>
            </a:r>
            <a:r>
              <a:rPr lang="en-US" sz="1533" dirty="0" err="1">
                <a:solidFill>
                  <a:srgbClr val="0000FF"/>
                </a:solidFill>
              </a:rPr>
              <a:t>mutex</a:t>
            </a:r>
            <a:r>
              <a:rPr lang="en-US" sz="1533" dirty="0">
                <a:solidFill>
                  <a:srgbClr val="0000FF"/>
                </a:solidFill>
              </a:rPr>
              <a:t>);</a:t>
            </a:r>
          </a:p>
          <a:p>
            <a:pPr>
              <a:buFont typeface="Monotype Sorts" charset="2"/>
              <a:buNone/>
            </a:pPr>
            <a:r>
              <a:rPr lang="en-US" sz="1533" dirty="0">
                <a:solidFill>
                  <a:srgbClr val="0000FF"/>
                </a:solidFill>
              </a:rPr>
              <a:t>                    signal (empty);</a:t>
            </a:r>
          </a:p>
          <a:p>
            <a:pPr>
              <a:buFont typeface="Monotype Sorts" charset="2"/>
              <a:buNone/>
            </a:pPr>
            <a:r>
              <a:rPr lang="en-US" sz="1533" dirty="0">
                <a:solidFill>
                  <a:srgbClr val="0000FF"/>
                </a:solidFill>
              </a:rPr>
              <a:t>             </a:t>
            </a:r>
          </a:p>
          <a:p>
            <a:pPr>
              <a:buFont typeface="Monotype Sorts" charset="2"/>
              <a:buNone/>
            </a:pPr>
            <a:r>
              <a:rPr lang="en-US" sz="1533" dirty="0">
                <a:solidFill>
                  <a:srgbClr val="0000FF"/>
                </a:solidFill>
              </a:rPr>
              <a:t>                            //  consume the item in </a:t>
            </a:r>
            <a:r>
              <a:rPr lang="en-US" sz="1533" dirty="0" err="1">
                <a:solidFill>
                  <a:srgbClr val="0000FF"/>
                </a:solidFill>
              </a:rPr>
              <a:t>nextc</a:t>
            </a:r>
            <a:endParaRPr lang="en-US" sz="1533" dirty="0">
              <a:solidFill>
                <a:srgbClr val="0000FF"/>
              </a:solidFill>
            </a:endParaRPr>
          </a:p>
          <a:p>
            <a:pPr>
              <a:buFont typeface="Monotype Sorts" charset="2"/>
              <a:buNone/>
            </a:pPr>
            <a:endParaRPr lang="en-US" sz="1533" dirty="0">
              <a:solidFill>
                <a:srgbClr val="0000FF"/>
              </a:solidFill>
            </a:endParaRPr>
          </a:p>
          <a:p>
            <a:pPr>
              <a:buFont typeface="Monotype Sorts" charset="2"/>
              <a:buNone/>
            </a:pPr>
            <a:r>
              <a:rPr lang="en-US" sz="1533" dirty="0">
                <a:solidFill>
                  <a:srgbClr val="0000FF"/>
                </a:solidFill>
              </a:rPr>
              <a:t>           } while (TRUE);</a:t>
            </a:r>
          </a:p>
        </p:txBody>
      </p:sp>
      <p:sp>
        <p:nvSpPr>
          <p:cNvPr id="4" name="Text Box 4"/>
          <p:cNvSpPr txBox="1">
            <a:spLocks noChangeArrowheads="1"/>
          </p:cNvSpPr>
          <p:nvPr/>
        </p:nvSpPr>
        <p:spPr bwMode="auto">
          <a:xfrm>
            <a:off x="5223610" y="1940401"/>
            <a:ext cx="1954741" cy="6170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200" b="1" dirty="0">
                <a:solidFill>
                  <a:srgbClr val="CC6600"/>
                </a:solidFill>
                <a:latin typeface="Helvetica" charset="0"/>
              </a:rPr>
              <a:t>The consumer must wait for a filled space in the buffer</a:t>
            </a:r>
          </a:p>
        </p:txBody>
      </p:sp>
      <p:sp>
        <p:nvSpPr>
          <p:cNvPr id="5" name="Text Box 2"/>
          <p:cNvSpPr txBox="1">
            <a:spLocks noChangeArrowheads="1"/>
          </p:cNvSpPr>
          <p:nvPr/>
        </p:nvSpPr>
        <p:spPr bwMode="auto">
          <a:xfrm>
            <a:off x="213568" y="2570779"/>
            <a:ext cx="1393825" cy="17250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200" b="1" dirty="0">
                <a:solidFill>
                  <a:srgbClr val="CC6600"/>
                </a:solidFill>
                <a:latin typeface="Helvetica" charset="0"/>
              </a:rPr>
              <a:t>We must make sure that the producer and the consumer make changes to the shared buffer in a mutually exclusive manner</a:t>
            </a:r>
          </a:p>
        </p:txBody>
      </p:sp>
      <p:sp>
        <p:nvSpPr>
          <p:cNvPr id="6" name="Line 9"/>
          <p:cNvSpPr>
            <a:spLocks noChangeShapeType="1"/>
          </p:cNvSpPr>
          <p:nvPr/>
        </p:nvSpPr>
        <p:spPr bwMode="auto">
          <a:xfrm flipH="1">
            <a:off x="2937610" y="2021461"/>
            <a:ext cx="22860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
        <p:nvSpPr>
          <p:cNvPr id="7" name="Line 10"/>
          <p:cNvSpPr>
            <a:spLocks noChangeShapeType="1"/>
          </p:cNvSpPr>
          <p:nvPr/>
        </p:nvSpPr>
        <p:spPr bwMode="auto">
          <a:xfrm>
            <a:off x="1306286" y="2742904"/>
            <a:ext cx="734958" cy="2147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Tree>
    <p:extLst>
      <p:ext uri="{BB962C8B-B14F-4D97-AF65-F5344CB8AC3E}">
        <p14:creationId xmlns:p14="http://schemas.microsoft.com/office/powerpoint/2010/main" val="2765663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2"/>
          <p:cNvSpPr>
            <a:spLocks noGrp="1" noChangeArrowheads="1"/>
          </p:cNvSpPr>
          <p:nvPr>
            <p:ph type="title"/>
          </p:nvPr>
        </p:nvSpPr>
        <p:spPr/>
        <p:txBody>
          <a:bodyPr/>
          <a:lstStyle/>
          <a:p>
            <a:pPr eaLnBrk="1" hangingPunct="1"/>
            <a:r>
              <a:rPr lang="en-US" smtClean="0"/>
              <a:t>Readers/Writers Problem</a:t>
            </a:r>
          </a:p>
        </p:txBody>
      </p:sp>
      <p:sp>
        <p:nvSpPr>
          <p:cNvPr id="13314" name="Rectangle 2"/>
          <p:cNvSpPr>
            <a:spLocks noGrp="1" noChangeArrowheads="1"/>
          </p:cNvSpPr>
          <p:nvPr>
            <p:ph idx="1"/>
          </p:nvPr>
        </p:nvSpPr>
        <p:spPr>
          <a:xfrm>
            <a:off x="482081" y="3462572"/>
            <a:ext cx="8496300" cy="28448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vert="horz" lIns="86053" tIns="42169" rIns="86053" bIns="42169">
            <a:normAutofit/>
          </a:bodyPr>
          <a:lstStyle/>
          <a:p>
            <a:pPr>
              <a:spcBef>
                <a:spcPts val="857"/>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2267" dirty="0"/>
              <a:t>Motivation: Consider a shared database</a:t>
            </a:r>
          </a:p>
          <a:p>
            <a:pPr lvl="1">
              <a:spcBef>
                <a:spcPts val="786"/>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1933" dirty="0"/>
              <a:t>Two classes of users:</a:t>
            </a:r>
          </a:p>
          <a:p>
            <a:pPr lvl="2">
              <a:spcBef>
                <a:spcPts val="714"/>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1733" dirty="0"/>
              <a:t>Readers – never modify database</a:t>
            </a:r>
          </a:p>
          <a:p>
            <a:pPr lvl="2">
              <a:spcBef>
                <a:spcPts val="714"/>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1733" dirty="0"/>
              <a:t>Writers – read and modify database</a:t>
            </a:r>
          </a:p>
          <a:p>
            <a:pPr lvl="1">
              <a:spcBef>
                <a:spcPts val="786"/>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1933" dirty="0"/>
              <a:t>Is using a single lock on the whole database sufficient?</a:t>
            </a:r>
          </a:p>
          <a:p>
            <a:pPr lvl="2">
              <a:spcBef>
                <a:spcPts val="714"/>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1733" dirty="0"/>
              <a:t>Like to have many readers at the same time</a:t>
            </a:r>
          </a:p>
          <a:p>
            <a:pPr lvl="2">
              <a:spcBef>
                <a:spcPts val="714"/>
              </a:spcBef>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pPr>
            <a:r>
              <a:rPr lang="en-GB" sz="1733" dirty="0"/>
              <a:t>Only one writer at a time</a:t>
            </a:r>
          </a:p>
        </p:txBody>
      </p:sp>
      <p:grpSp>
        <p:nvGrpSpPr>
          <p:cNvPr id="33794" name="Group 3"/>
          <p:cNvGrpSpPr>
            <a:grpSpLocks/>
          </p:cNvGrpSpPr>
          <p:nvPr/>
        </p:nvGrpSpPr>
        <p:grpSpPr bwMode="auto">
          <a:xfrm>
            <a:off x="2747964" y="1557868"/>
            <a:ext cx="3260725" cy="1713089"/>
            <a:chOff x="1704" y="1042"/>
            <a:chExt cx="2054" cy="1214"/>
          </a:xfrm>
        </p:grpSpPr>
        <p:pic>
          <p:nvPicPr>
            <p:cNvPr id="1331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 y="1074"/>
              <a:ext cx="766" cy="10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321" name="Freeform 9"/>
            <p:cNvSpPr>
              <a:spLocks/>
            </p:cNvSpPr>
            <p:nvPr/>
          </p:nvSpPr>
          <p:spPr bwMode="auto">
            <a:xfrm>
              <a:off x="1741" y="1265"/>
              <a:ext cx="685" cy="172"/>
            </a:xfrm>
            <a:custGeom>
              <a:avLst/>
              <a:gdLst>
                <a:gd name="T0" fmla="*/ 0 w 864"/>
                <a:gd name="T1" fmla="*/ 93 h 208"/>
                <a:gd name="T2" fmla="*/ 304 w 864"/>
                <a:gd name="T3" fmla="*/ 13 h 208"/>
                <a:gd name="T4" fmla="*/ 685 w 864"/>
                <a:gd name="T5" fmla="*/ 172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2" name="Freeform 10"/>
            <p:cNvSpPr>
              <a:spLocks/>
            </p:cNvSpPr>
            <p:nvPr/>
          </p:nvSpPr>
          <p:spPr bwMode="auto">
            <a:xfrm rot="10800000">
              <a:off x="1704" y="1476"/>
              <a:ext cx="685" cy="172"/>
            </a:xfrm>
            <a:custGeom>
              <a:avLst/>
              <a:gdLst>
                <a:gd name="T0" fmla="*/ 0 w 864"/>
                <a:gd name="T1" fmla="*/ 93 h 208"/>
                <a:gd name="T2" fmla="*/ 304 w 864"/>
                <a:gd name="T3" fmla="*/ 13 h 208"/>
                <a:gd name="T4" fmla="*/ 685 w 864"/>
                <a:gd name="T5" fmla="*/ 172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3" name="Freeform 11"/>
            <p:cNvSpPr>
              <a:spLocks/>
            </p:cNvSpPr>
            <p:nvPr/>
          </p:nvSpPr>
          <p:spPr bwMode="auto">
            <a:xfrm>
              <a:off x="3073" y="1199"/>
              <a:ext cx="685" cy="171"/>
            </a:xfrm>
            <a:custGeom>
              <a:avLst/>
              <a:gdLst>
                <a:gd name="T0" fmla="*/ 0 w 864"/>
                <a:gd name="T1" fmla="*/ 92 h 208"/>
                <a:gd name="T2" fmla="*/ 304 w 864"/>
                <a:gd name="T3" fmla="*/ 13 h 208"/>
                <a:gd name="T4" fmla="*/ 685 w 864"/>
                <a:gd name="T5" fmla="*/ 171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4" name="Freeform 12"/>
            <p:cNvSpPr>
              <a:spLocks/>
            </p:cNvSpPr>
            <p:nvPr/>
          </p:nvSpPr>
          <p:spPr bwMode="auto">
            <a:xfrm rot="10800000">
              <a:off x="3035" y="1412"/>
              <a:ext cx="685" cy="171"/>
            </a:xfrm>
            <a:custGeom>
              <a:avLst/>
              <a:gdLst>
                <a:gd name="T0" fmla="*/ 0 w 864"/>
                <a:gd name="T1" fmla="*/ 92 h 208"/>
                <a:gd name="T2" fmla="*/ 304 w 864"/>
                <a:gd name="T3" fmla="*/ 13 h 208"/>
                <a:gd name="T4" fmla="*/ 685 w 864"/>
                <a:gd name="T5" fmla="*/ 171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5" name="Freeform 13"/>
            <p:cNvSpPr>
              <a:spLocks/>
            </p:cNvSpPr>
            <p:nvPr/>
          </p:nvSpPr>
          <p:spPr bwMode="auto">
            <a:xfrm rot="1800000">
              <a:off x="3073" y="1871"/>
              <a:ext cx="685" cy="171"/>
            </a:xfrm>
            <a:custGeom>
              <a:avLst/>
              <a:gdLst>
                <a:gd name="T0" fmla="*/ 0 w 864"/>
                <a:gd name="T1" fmla="*/ 92 h 208"/>
                <a:gd name="T2" fmla="*/ 304 w 864"/>
                <a:gd name="T3" fmla="*/ 13 h 208"/>
                <a:gd name="T4" fmla="*/ 685 w 864"/>
                <a:gd name="T5" fmla="*/ 171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6" name="Freeform 14"/>
            <p:cNvSpPr>
              <a:spLocks/>
            </p:cNvSpPr>
            <p:nvPr/>
          </p:nvSpPr>
          <p:spPr bwMode="auto">
            <a:xfrm rot="-9000000">
              <a:off x="3035" y="2085"/>
              <a:ext cx="685" cy="171"/>
            </a:xfrm>
            <a:custGeom>
              <a:avLst/>
              <a:gdLst>
                <a:gd name="T0" fmla="*/ 0 w 864"/>
                <a:gd name="T1" fmla="*/ 92 h 208"/>
                <a:gd name="T2" fmla="*/ 304 w 864"/>
                <a:gd name="T3" fmla="*/ 13 h 208"/>
                <a:gd name="T4" fmla="*/ 685 w 864"/>
                <a:gd name="T5" fmla="*/ 171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7" name="Freeform 15"/>
            <p:cNvSpPr>
              <a:spLocks/>
            </p:cNvSpPr>
            <p:nvPr/>
          </p:nvSpPr>
          <p:spPr bwMode="auto">
            <a:xfrm rot="8880000">
              <a:off x="1933" y="2031"/>
              <a:ext cx="685" cy="171"/>
            </a:xfrm>
            <a:custGeom>
              <a:avLst/>
              <a:gdLst>
                <a:gd name="T0" fmla="*/ 0 w 864"/>
                <a:gd name="T1" fmla="*/ 92 h 208"/>
                <a:gd name="T2" fmla="*/ 304 w 864"/>
                <a:gd name="T3" fmla="*/ 13 h 208"/>
                <a:gd name="T4" fmla="*/ 685 w 864"/>
                <a:gd name="T5" fmla="*/ 171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8" name="Freeform 16"/>
            <p:cNvSpPr>
              <a:spLocks/>
            </p:cNvSpPr>
            <p:nvPr/>
          </p:nvSpPr>
          <p:spPr bwMode="auto">
            <a:xfrm rot="-1920000">
              <a:off x="1856" y="1912"/>
              <a:ext cx="685" cy="172"/>
            </a:xfrm>
            <a:custGeom>
              <a:avLst/>
              <a:gdLst>
                <a:gd name="T0" fmla="*/ 0 w 864"/>
                <a:gd name="T1" fmla="*/ 93 h 208"/>
                <a:gd name="T2" fmla="*/ 304 w 864"/>
                <a:gd name="T3" fmla="*/ 13 h 208"/>
                <a:gd name="T4" fmla="*/ 685 w 864"/>
                <a:gd name="T5" fmla="*/ 172 h 208"/>
                <a:gd name="T6" fmla="*/ 0 60000 65536"/>
                <a:gd name="T7" fmla="*/ 0 60000 65536"/>
                <a:gd name="T8" fmla="*/ 0 60000 65536"/>
              </a:gdLst>
              <a:ahLst/>
              <a:cxnLst>
                <a:cxn ang="T6">
                  <a:pos x="T0" y="T1"/>
                </a:cxn>
                <a:cxn ang="T7">
                  <a:pos x="T2" y="T3"/>
                </a:cxn>
                <a:cxn ang="T8">
                  <a:pos x="T4" y="T5"/>
                </a:cxn>
              </a:cxnLst>
              <a:rect l="0" t="0" r="r" b="b"/>
              <a:pathLst>
                <a:path w="864" h="208">
                  <a:moveTo>
                    <a:pt x="0" y="112"/>
                  </a:moveTo>
                  <a:cubicBezTo>
                    <a:pt x="120" y="56"/>
                    <a:pt x="240" y="0"/>
                    <a:pt x="384" y="16"/>
                  </a:cubicBezTo>
                  <a:cubicBezTo>
                    <a:pt x="528" y="32"/>
                    <a:pt x="696" y="120"/>
                    <a:pt x="864" y="208"/>
                  </a:cubicBezTo>
                </a:path>
              </a:pathLst>
            </a:custGeom>
            <a:noFill/>
            <a:ln w="38160">
              <a:solidFill>
                <a:srgbClr val="00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IN" sz="1200"/>
            </a:p>
          </p:txBody>
        </p:sp>
        <p:sp>
          <p:nvSpPr>
            <p:cNvPr id="13329" name="Text Box 17"/>
            <p:cNvSpPr txBox="1">
              <a:spLocks noChangeArrowheads="1"/>
            </p:cNvSpPr>
            <p:nvPr/>
          </p:nvSpPr>
          <p:spPr bwMode="auto">
            <a:xfrm>
              <a:off x="2007" y="1713"/>
              <a:ext cx="21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lgn="ctr">
                <a:spcBef>
                  <a:spcPts val="1667"/>
                </a:spcBef>
                <a:defRPr/>
              </a:pPr>
              <a:r>
                <a:rPr lang="en-GB" sz="2667" b="1">
                  <a:latin typeface="Comic Sans MS" charset="0"/>
                </a:rPr>
                <a:t>R</a:t>
              </a:r>
            </a:p>
          </p:txBody>
        </p:sp>
        <p:sp>
          <p:nvSpPr>
            <p:cNvPr id="13330" name="Text Box 18"/>
            <p:cNvSpPr txBox="1">
              <a:spLocks noChangeArrowheads="1"/>
            </p:cNvSpPr>
            <p:nvPr/>
          </p:nvSpPr>
          <p:spPr bwMode="auto">
            <a:xfrm>
              <a:off x="3453" y="1516"/>
              <a:ext cx="21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lgn="ctr">
                <a:spcBef>
                  <a:spcPts val="1667"/>
                </a:spcBef>
                <a:defRPr/>
              </a:pPr>
              <a:r>
                <a:rPr lang="en-GB" sz="2667" b="1">
                  <a:latin typeface="Comic Sans MS" charset="0"/>
                </a:rPr>
                <a:t>R</a:t>
              </a:r>
            </a:p>
          </p:txBody>
        </p:sp>
        <p:sp>
          <p:nvSpPr>
            <p:cNvPr id="13331" name="Text Box 19"/>
            <p:cNvSpPr txBox="1">
              <a:spLocks noChangeArrowheads="1"/>
            </p:cNvSpPr>
            <p:nvPr/>
          </p:nvSpPr>
          <p:spPr bwMode="auto">
            <a:xfrm>
              <a:off x="3301" y="1872"/>
              <a:ext cx="21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lgn="ctr">
                <a:spcBef>
                  <a:spcPts val="1667"/>
                </a:spcBef>
                <a:defRPr/>
              </a:pPr>
              <a:r>
                <a:rPr lang="en-GB" sz="2667" b="1">
                  <a:latin typeface="Comic Sans MS" charset="0"/>
                </a:rPr>
                <a:t>R</a:t>
              </a:r>
            </a:p>
          </p:txBody>
        </p:sp>
        <p:sp>
          <p:nvSpPr>
            <p:cNvPr id="13332" name="Text Box 20"/>
            <p:cNvSpPr txBox="1">
              <a:spLocks noChangeArrowheads="1"/>
            </p:cNvSpPr>
            <p:nvPr/>
          </p:nvSpPr>
          <p:spPr bwMode="auto">
            <a:xfrm>
              <a:off x="1892" y="1042"/>
              <a:ext cx="26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lgn="ctr">
                <a:spcBef>
                  <a:spcPts val="1667"/>
                </a:spcBef>
                <a:defRPr/>
              </a:pPr>
              <a:r>
                <a:rPr lang="en-GB" sz="2667" b="1">
                  <a:latin typeface="Comic Sans MS" charset="0"/>
                </a:rPr>
                <a:t>W</a:t>
              </a:r>
            </a:p>
          </p:txBody>
        </p:sp>
      </p:grpSp>
    </p:spTree>
    <p:extLst>
      <p:ext uri="{BB962C8B-B14F-4D97-AF65-F5344CB8AC3E}">
        <p14:creationId xmlns:p14="http://schemas.microsoft.com/office/powerpoint/2010/main" val="812734420"/>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a:xfrm>
            <a:off x="457201" y="656168"/>
            <a:ext cx="8220075" cy="1025877"/>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vert="horz" lIns="0" tIns="0" rIns="0" bIns="0" anchor="b">
            <a:normAutofit/>
          </a:bodyPr>
          <a:lstStyle/>
          <a:p>
            <a:pPr>
              <a:tabLst>
                <a:tab pos="0" algn="l"/>
                <a:tab pos="435428" algn="l"/>
                <a:tab pos="870857" algn="l"/>
                <a:tab pos="1306286" algn="l"/>
                <a:tab pos="1741714" algn="l"/>
                <a:tab pos="2177143" algn="l"/>
                <a:tab pos="2612571" algn="l"/>
                <a:tab pos="3048000" algn="l"/>
                <a:tab pos="3483429" algn="l"/>
                <a:tab pos="3918857" algn="l"/>
                <a:tab pos="4354286" algn="l"/>
                <a:tab pos="4789714" algn="l"/>
                <a:tab pos="5225143" algn="l"/>
                <a:tab pos="5660572" algn="l"/>
                <a:tab pos="6096000" algn="l"/>
                <a:tab pos="6531429" algn="l"/>
                <a:tab pos="6966857" algn="l"/>
                <a:tab pos="7402285" algn="l"/>
                <a:tab pos="7837715" algn="l"/>
                <a:tab pos="8273143" algn="l"/>
                <a:tab pos="8708571" algn="l"/>
              </a:tabLst>
              <a:defRPr/>
            </a:pPr>
            <a:r>
              <a:rPr lang="en-GB" smtClean="0">
                <a:ea typeface="+mj-ea"/>
                <a:cs typeface="+mj-cs"/>
              </a:rPr>
              <a:t>Readers/Writers Problem</a:t>
            </a:r>
          </a:p>
        </p:txBody>
      </p:sp>
      <p:sp>
        <p:nvSpPr>
          <p:cNvPr id="14338" name="Rectangle 2"/>
          <p:cNvSpPr>
            <a:spLocks noGrp="1" noChangeArrowheads="1"/>
          </p:cNvSpPr>
          <p:nvPr>
            <p:ph idx="1"/>
          </p:nvPr>
        </p:nvSpPr>
        <p:spPr>
          <a:xfrm>
            <a:off x="457201" y="1803400"/>
            <a:ext cx="8220075" cy="52324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vert="horz" lIns="0" tIns="0" rIns="0" bIns="0">
            <a:normAutofit/>
          </a:bodyPr>
          <a:lstStyle/>
          <a:p>
            <a:pPr>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933"/>
              <a:t>A database is to be shared among several concurrent processes. Some of these processes may want only to read the database, whereas others may want to update the database</a:t>
            </a:r>
          </a:p>
          <a:p>
            <a:pPr>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933"/>
              <a:t>We distinguish between these two types of processes by referring to the former as</a:t>
            </a:r>
            <a:r>
              <a:rPr lang="en-GB" sz="1933" b="1">
                <a:solidFill>
                  <a:srgbClr val="0000FF"/>
                </a:solidFill>
              </a:rPr>
              <a:t> </a:t>
            </a:r>
            <a:r>
              <a:rPr lang="en-GB" sz="1933">
                <a:solidFill>
                  <a:srgbClr val="0000FF"/>
                </a:solidFill>
              </a:rPr>
              <a:t>readers</a:t>
            </a:r>
            <a:r>
              <a:rPr lang="en-GB" sz="1933"/>
              <a:t> and to the latter as </a:t>
            </a:r>
            <a:r>
              <a:rPr lang="en-GB" sz="1933">
                <a:solidFill>
                  <a:srgbClr val="0000FF"/>
                </a:solidFill>
              </a:rPr>
              <a:t>writers</a:t>
            </a:r>
          </a:p>
          <a:p>
            <a:pPr>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933"/>
              <a:t>Obviously, if two readers access the shared data simultaneously, nothing bad will happen</a:t>
            </a:r>
          </a:p>
          <a:p>
            <a:pPr>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933"/>
              <a:t>However, if a writer and some other process (either a reader or a writer) access the database simultaneously, chaos may ensue</a:t>
            </a:r>
          </a:p>
        </p:txBody>
      </p:sp>
    </p:spTree>
    <p:extLst>
      <p:ext uri="{BB962C8B-B14F-4D97-AF65-F5344CB8AC3E}">
        <p14:creationId xmlns:p14="http://schemas.microsoft.com/office/powerpoint/2010/main" val="41888322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457201" y="656168"/>
            <a:ext cx="8220075" cy="1025877"/>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vert="horz" lIns="0" tIns="0" rIns="0" bIns="0" anchor="b">
            <a:normAutofit/>
          </a:bodyPr>
          <a:lstStyle/>
          <a:p>
            <a:pPr>
              <a:tabLst>
                <a:tab pos="0" algn="l"/>
                <a:tab pos="435428" algn="l"/>
                <a:tab pos="870857" algn="l"/>
                <a:tab pos="1306286" algn="l"/>
                <a:tab pos="1741714" algn="l"/>
                <a:tab pos="2177143" algn="l"/>
                <a:tab pos="2612571" algn="l"/>
                <a:tab pos="3048000" algn="l"/>
                <a:tab pos="3483429" algn="l"/>
                <a:tab pos="3918857" algn="l"/>
                <a:tab pos="4354286" algn="l"/>
                <a:tab pos="4789714" algn="l"/>
                <a:tab pos="5225143" algn="l"/>
                <a:tab pos="5660572" algn="l"/>
                <a:tab pos="6096000" algn="l"/>
                <a:tab pos="6531429" algn="l"/>
                <a:tab pos="6966857" algn="l"/>
                <a:tab pos="7402285" algn="l"/>
                <a:tab pos="7837715" algn="l"/>
                <a:tab pos="8273143" algn="l"/>
                <a:tab pos="8708571" algn="l"/>
              </a:tabLst>
              <a:defRPr/>
            </a:pPr>
            <a:r>
              <a:rPr lang="en-GB" smtClean="0">
                <a:ea typeface="+mj-ea"/>
                <a:cs typeface="+mj-cs"/>
              </a:rPr>
              <a:t>Readers/Writers Problem</a:t>
            </a:r>
          </a:p>
        </p:txBody>
      </p:sp>
      <p:sp>
        <p:nvSpPr>
          <p:cNvPr id="15362" name="Rectangle 2"/>
          <p:cNvSpPr>
            <a:spLocks noGrp="1" noChangeArrowheads="1"/>
          </p:cNvSpPr>
          <p:nvPr>
            <p:ph idx="1"/>
          </p:nvPr>
        </p:nvSpPr>
        <p:spPr>
          <a:xfrm>
            <a:off x="457201" y="1803400"/>
            <a:ext cx="8220075" cy="52324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vert="horz" lIns="0" tIns="0" rIns="0" bIns="0">
            <a:normAutofit/>
          </a:bodyPr>
          <a:lstStyle/>
          <a:p>
            <a:pPr>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933" dirty="0"/>
              <a:t>To ensure that these difficulties do not arise, we </a:t>
            </a:r>
            <a:r>
              <a:rPr lang="en-GB" sz="1933" dirty="0">
                <a:solidFill>
                  <a:srgbClr val="CC3300"/>
                </a:solidFill>
              </a:rPr>
              <a:t>require that the</a:t>
            </a:r>
            <a:r>
              <a:rPr lang="en-GB" sz="1933" dirty="0"/>
              <a:t> </a:t>
            </a:r>
            <a:r>
              <a:rPr lang="en-GB" sz="1933" dirty="0">
                <a:solidFill>
                  <a:srgbClr val="CC3300"/>
                </a:solidFill>
              </a:rPr>
              <a:t>writers have exclusive access</a:t>
            </a:r>
            <a:r>
              <a:rPr lang="en-GB" sz="1933" dirty="0"/>
              <a:t> to the shared database</a:t>
            </a:r>
          </a:p>
          <a:p>
            <a:pPr>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933" dirty="0"/>
              <a:t>There </a:t>
            </a:r>
            <a:r>
              <a:rPr lang="en-GB" sz="1933" dirty="0"/>
              <a:t>are several variations of this problem, all involving priorities</a:t>
            </a:r>
          </a:p>
          <a:p>
            <a:pPr lvl="1">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600" dirty="0"/>
              <a:t>The first and simplest one, referred to as the </a:t>
            </a:r>
            <a:r>
              <a:rPr lang="en-GB" sz="1600" dirty="0">
                <a:solidFill>
                  <a:srgbClr val="0000FF"/>
                </a:solidFill>
              </a:rPr>
              <a:t>first readers/writers problem</a:t>
            </a:r>
            <a:r>
              <a:rPr lang="en-GB" sz="1600" dirty="0"/>
              <a:t>, requires that no reader will be kept waiting unless a writer has already obtained permission to use the shared object (i.e., no reader should wait for other readers to finish simply because a writer is waiting) </a:t>
            </a:r>
            <a:r>
              <a:rPr lang="en-GB" sz="1600" u="sng" dirty="0"/>
              <a:t>NOTE:</a:t>
            </a:r>
            <a:r>
              <a:rPr lang="en-GB" sz="1600" dirty="0"/>
              <a:t> </a:t>
            </a:r>
            <a:r>
              <a:rPr lang="en-GB" sz="1600" dirty="0">
                <a:solidFill>
                  <a:srgbClr val="CC3300"/>
                </a:solidFill>
              </a:rPr>
              <a:t>writers may starve</a:t>
            </a:r>
          </a:p>
          <a:p>
            <a:pPr lvl="1">
              <a:lnSpc>
                <a:spcPct val="126000"/>
              </a:lnSpc>
              <a:spcBef>
                <a:spcPts val="751"/>
              </a:spcBef>
              <a:buFont typeface="Arial"/>
              <a:buChar char="–"/>
              <a:tabLst>
                <a:tab pos="432405" algn="l"/>
                <a:tab pos="867833" algn="l"/>
                <a:tab pos="1303262" algn="l"/>
                <a:tab pos="1738690" algn="l"/>
                <a:tab pos="2174119" algn="l"/>
                <a:tab pos="2609548" algn="l"/>
                <a:tab pos="3044976" algn="l"/>
                <a:tab pos="3480405" algn="l"/>
                <a:tab pos="3915833" algn="l"/>
                <a:tab pos="4351262" algn="l"/>
                <a:tab pos="4786691" algn="l"/>
                <a:tab pos="5222119" algn="l"/>
                <a:tab pos="5657548" algn="l"/>
                <a:tab pos="6092976" algn="l"/>
                <a:tab pos="6528405" algn="l"/>
                <a:tab pos="6963834" algn="l"/>
                <a:tab pos="7399262" algn="l"/>
                <a:tab pos="7834690" algn="l"/>
                <a:tab pos="8270119" algn="l"/>
                <a:tab pos="8705548" algn="l"/>
              </a:tabLst>
              <a:defRPr/>
            </a:pPr>
            <a:r>
              <a:rPr lang="en-GB" sz="1600" dirty="0"/>
              <a:t>The </a:t>
            </a:r>
            <a:r>
              <a:rPr lang="en-GB" sz="1600" dirty="0">
                <a:solidFill>
                  <a:srgbClr val="0000FF"/>
                </a:solidFill>
              </a:rPr>
              <a:t>second readers/writers problem</a:t>
            </a:r>
            <a:r>
              <a:rPr lang="en-GB" sz="1600" dirty="0"/>
              <a:t> requires that, once a writer is ready, that writer performs its write as soon as possible (i.e., if a writer is waiting, no new readers may start reading) </a:t>
            </a:r>
            <a:r>
              <a:rPr lang="en-GB" sz="1600" u="sng" dirty="0"/>
              <a:t>NOTE:</a:t>
            </a:r>
            <a:r>
              <a:rPr lang="en-GB" sz="1600" dirty="0"/>
              <a:t> </a:t>
            </a:r>
            <a:r>
              <a:rPr lang="en-GB" sz="1600" dirty="0">
                <a:solidFill>
                  <a:srgbClr val="CC3300"/>
                </a:solidFill>
              </a:rPr>
              <a:t>readers may starve</a:t>
            </a:r>
          </a:p>
        </p:txBody>
      </p:sp>
    </p:spTree>
    <p:extLst>
      <p:ext uri="{BB962C8B-B14F-4D97-AF65-F5344CB8AC3E}">
        <p14:creationId xmlns:p14="http://schemas.microsoft.com/office/powerpoint/2010/main" val="37471906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025525" y="627592"/>
            <a:ext cx="7661275" cy="512233"/>
          </a:xfrm>
        </p:spPr>
        <p:txBody>
          <a:bodyPr>
            <a:normAutofit/>
          </a:bodyPr>
          <a:lstStyle/>
          <a:p>
            <a:pPr eaLnBrk="1" hangingPunct="1"/>
            <a:r>
              <a:rPr lang="en-US" smtClean="0"/>
              <a:t>Readers-Writers Problem (Cont.)</a:t>
            </a:r>
          </a:p>
        </p:txBody>
      </p:sp>
      <p:sp>
        <p:nvSpPr>
          <p:cNvPr id="33795" name="Rectangle 3"/>
          <p:cNvSpPr>
            <a:spLocks noGrp="1" noChangeArrowheads="1"/>
          </p:cNvSpPr>
          <p:nvPr>
            <p:ph idx="1"/>
          </p:nvPr>
        </p:nvSpPr>
        <p:spPr>
          <a:xfrm>
            <a:off x="827617" y="1518709"/>
            <a:ext cx="7848600" cy="4334933"/>
          </a:xfrm>
        </p:spPr>
        <p:txBody>
          <a:bodyPr>
            <a:normAutofit/>
          </a:bodyPr>
          <a:lstStyle/>
          <a:p>
            <a:r>
              <a:rPr lang="en-US" dirty="0" smtClean="0"/>
              <a:t>The structure of a writer process</a:t>
            </a:r>
          </a:p>
          <a:p>
            <a:pPr>
              <a:buFont typeface="Monotype Sorts" charset="2"/>
              <a:buNone/>
            </a:pPr>
            <a:r>
              <a:rPr lang="en-US" dirty="0" smtClean="0">
                <a:solidFill>
                  <a:srgbClr val="0000FF"/>
                </a:solidFill>
              </a:rPr>
              <a:t>        </a:t>
            </a:r>
          </a:p>
          <a:p>
            <a:pPr>
              <a:buFont typeface="Monotype Sorts" charset="2"/>
              <a:buNone/>
            </a:pPr>
            <a:r>
              <a:rPr lang="en-US" sz="1600" dirty="0">
                <a:solidFill>
                  <a:srgbClr val="0000FF"/>
                </a:solidFill>
              </a:rPr>
              <a:t>              do {</a:t>
            </a:r>
          </a:p>
          <a:p>
            <a:pPr>
              <a:buFont typeface="Monotype Sorts" charset="2"/>
              <a:buNone/>
            </a:pPr>
            <a:r>
              <a:rPr lang="en-US" sz="1600" dirty="0">
                <a:solidFill>
                  <a:srgbClr val="0000FF"/>
                </a:solidFill>
              </a:rPr>
              <a:t>                        wait (</a:t>
            </a:r>
            <a:r>
              <a:rPr lang="en-US" sz="1600" dirty="0" err="1">
                <a:solidFill>
                  <a:srgbClr val="0000FF"/>
                </a:solidFill>
              </a:rPr>
              <a:t>wrt</a:t>
            </a:r>
            <a:r>
              <a:rPr lang="en-US" sz="1600" dirty="0">
                <a:solidFill>
                  <a:srgbClr val="0000FF"/>
                </a:solidFill>
              </a:rPr>
              <a:t>) ;</a:t>
            </a:r>
          </a:p>
          <a:p>
            <a:pPr>
              <a:buFont typeface="Monotype Sorts" charset="2"/>
              <a:buNone/>
            </a:pPr>
            <a:r>
              <a:rPr lang="en-US" sz="1600" dirty="0">
                <a:solidFill>
                  <a:srgbClr val="0000FF"/>
                </a:solidFill>
              </a:rPr>
              <a:t>                </a:t>
            </a:r>
          </a:p>
          <a:p>
            <a:pPr>
              <a:buFont typeface="Monotype Sorts" charset="2"/>
              <a:buNone/>
            </a:pPr>
            <a:r>
              <a:rPr lang="en-US" sz="1600" dirty="0">
                <a:solidFill>
                  <a:srgbClr val="0000FF"/>
                </a:solidFill>
              </a:rPr>
              <a:t>                             //    writing is performed</a:t>
            </a:r>
          </a:p>
          <a:p>
            <a:pPr>
              <a:buFont typeface="Monotype Sorts" charset="2"/>
              <a:buNone/>
            </a:pPr>
            <a:endParaRPr lang="en-US" sz="1600" dirty="0">
              <a:solidFill>
                <a:srgbClr val="0000FF"/>
              </a:solidFill>
            </a:endParaRPr>
          </a:p>
          <a:p>
            <a:pPr>
              <a:buFont typeface="Monotype Sorts" charset="2"/>
              <a:buNone/>
            </a:pPr>
            <a:r>
              <a:rPr lang="en-US" sz="1600" dirty="0">
                <a:solidFill>
                  <a:srgbClr val="0000FF"/>
                </a:solidFill>
              </a:rPr>
              <a:t>                        signal (</a:t>
            </a:r>
            <a:r>
              <a:rPr lang="en-US" sz="1600" dirty="0" err="1">
                <a:solidFill>
                  <a:srgbClr val="0000FF"/>
                </a:solidFill>
              </a:rPr>
              <a:t>wrt</a:t>
            </a:r>
            <a:r>
              <a:rPr lang="en-US" sz="1600" dirty="0">
                <a:solidFill>
                  <a:srgbClr val="0000FF"/>
                </a:solidFill>
              </a:rPr>
              <a:t>) ;</a:t>
            </a:r>
          </a:p>
          <a:p>
            <a:pPr>
              <a:buFont typeface="Monotype Sorts" charset="2"/>
              <a:buNone/>
            </a:pPr>
            <a:r>
              <a:rPr lang="en-US" sz="1600" dirty="0">
                <a:solidFill>
                  <a:srgbClr val="0000FF"/>
                </a:solidFill>
              </a:rPr>
              <a:t>             } while (TRUE);</a:t>
            </a:r>
          </a:p>
          <a:p>
            <a:pPr>
              <a:buFont typeface="Monotype Sorts" charset="2"/>
              <a:buNone/>
            </a:pPr>
            <a:endParaRPr lang="en-US" dirty="0" smtClean="0">
              <a:solidFill>
                <a:srgbClr val="0000FF"/>
              </a:solidFill>
            </a:endParaRPr>
          </a:p>
          <a:p>
            <a:pPr>
              <a:buFont typeface="Monotype Sorts" charset="2"/>
              <a:buNone/>
            </a:pPr>
            <a:endParaRPr lang="en-US" dirty="0" smtClean="0">
              <a:solidFill>
                <a:srgbClr val="0000FF"/>
              </a:solidFill>
            </a:endParaRPr>
          </a:p>
          <a:p>
            <a:pPr>
              <a:buFont typeface="Monotype Sorts" charset="2"/>
              <a:buNone/>
            </a:pPr>
            <a:r>
              <a:rPr lang="en-US" dirty="0" smtClean="0">
                <a:solidFill>
                  <a:srgbClr val="0000FF"/>
                </a:solidFill>
              </a:rPr>
              <a:t>       </a:t>
            </a:r>
          </a:p>
        </p:txBody>
      </p:sp>
      <p:sp>
        <p:nvSpPr>
          <p:cNvPr id="4" name="Text Box 3"/>
          <p:cNvSpPr txBox="1">
            <a:spLocks noChangeArrowheads="1"/>
          </p:cNvSpPr>
          <p:nvPr/>
        </p:nvSpPr>
        <p:spPr bwMode="auto">
          <a:xfrm>
            <a:off x="4885094" y="1673808"/>
            <a:ext cx="1954742" cy="986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200" b="1" dirty="0">
                <a:solidFill>
                  <a:srgbClr val="CC6600"/>
                </a:solidFill>
                <a:latin typeface="Helvetica" charset="0"/>
              </a:rPr>
              <a:t>A writer will wait if either another writer is currently writing or one or more readers are currently reading</a:t>
            </a:r>
          </a:p>
        </p:txBody>
      </p:sp>
      <p:sp>
        <p:nvSpPr>
          <p:cNvPr id="5" name="Line 7"/>
          <p:cNvSpPr>
            <a:spLocks noChangeShapeType="1"/>
          </p:cNvSpPr>
          <p:nvPr/>
        </p:nvSpPr>
        <p:spPr bwMode="auto">
          <a:xfrm flipH="1">
            <a:off x="3200400" y="2102098"/>
            <a:ext cx="1625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Tree>
    <p:extLst>
      <p:ext uri="{BB962C8B-B14F-4D97-AF65-F5344CB8AC3E}">
        <p14:creationId xmlns:p14="http://schemas.microsoft.com/office/powerpoint/2010/main" val="32764706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35050" y="627592"/>
            <a:ext cx="7651750" cy="512233"/>
          </a:xfrm>
        </p:spPr>
        <p:txBody>
          <a:bodyPr>
            <a:normAutofit/>
          </a:bodyPr>
          <a:lstStyle/>
          <a:p>
            <a:pPr eaLnBrk="1" hangingPunct="1"/>
            <a:r>
              <a:rPr lang="en-US" smtClean="0"/>
              <a:t>Readers-Writers Problem (Cont.)</a:t>
            </a:r>
          </a:p>
        </p:txBody>
      </p:sp>
      <p:sp>
        <p:nvSpPr>
          <p:cNvPr id="34819" name="Rectangle 3"/>
          <p:cNvSpPr>
            <a:spLocks noGrp="1" noChangeArrowheads="1"/>
          </p:cNvSpPr>
          <p:nvPr>
            <p:ph idx="1"/>
          </p:nvPr>
        </p:nvSpPr>
        <p:spPr>
          <a:xfrm>
            <a:off x="827617" y="1518709"/>
            <a:ext cx="7747000" cy="4502150"/>
          </a:xfrm>
        </p:spPr>
        <p:txBody>
          <a:bodyPr>
            <a:normAutofit fontScale="92500" lnSpcReduction="10000"/>
          </a:bodyPr>
          <a:lstStyle/>
          <a:p>
            <a:pPr>
              <a:lnSpc>
                <a:spcPct val="80000"/>
              </a:lnSpc>
            </a:pPr>
            <a:r>
              <a:rPr lang="en-US" sz="1533" dirty="0"/>
              <a:t>The structure of a reader process</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r>
              <a:rPr lang="en-US" sz="1533" dirty="0">
                <a:solidFill>
                  <a:srgbClr val="0000FF"/>
                </a:solidFill>
              </a:rPr>
              <a:t>	do {</a:t>
            </a:r>
          </a:p>
          <a:p>
            <a:pPr>
              <a:lnSpc>
                <a:spcPct val="80000"/>
              </a:lnSpc>
              <a:buFont typeface="Monotype Sorts" charset="2"/>
              <a:buNone/>
            </a:pPr>
            <a:r>
              <a:rPr lang="en-US" sz="1533" dirty="0">
                <a:solidFill>
                  <a:srgbClr val="0000FF"/>
                </a:solidFill>
              </a:rPr>
              <a:t>                       wait (</a:t>
            </a:r>
            <a:r>
              <a:rPr lang="en-US" sz="1533" dirty="0" err="1">
                <a:solidFill>
                  <a:srgbClr val="0000FF"/>
                </a:solidFill>
              </a:rPr>
              <a:t>mutex</a:t>
            </a:r>
            <a:r>
              <a:rPr lang="en-US" sz="1533" dirty="0">
                <a:solidFill>
                  <a:srgbClr val="0000FF"/>
                </a:solidFill>
              </a:rPr>
              <a:t>) ;</a:t>
            </a:r>
          </a:p>
          <a:p>
            <a:pPr>
              <a:lnSpc>
                <a:spcPct val="80000"/>
              </a:lnSpc>
              <a:buFont typeface="Monotype Sorts" charset="2"/>
              <a:buNone/>
            </a:pPr>
            <a:r>
              <a:rPr lang="en-US" sz="1533" dirty="0">
                <a:solidFill>
                  <a:srgbClr val="0000FF"/>
                </a:solidFill>
              </a:rPr>
              <a:t>                       </a:t>
            </a:r>
            <a:r>
              <a:rPr lang="en-US" sz="1533" dirty="0" err="1">
                <a:solidFill>
                  <a:srgbClr val="0000FF"/>
                </a:solidFill>
              </a:rPr>
              <a:t>readcount</a:t>
            </a:r>
            <a:r>
              <a:rPr lang="en-US" sz="1533" dirty="0">
                <a:solidFill>
                  <a:srgbClr val="0000FF"/>
                </a:solidFill>
              </a:rPr>
              <a:t> ++ ;</a:t>
            </a:r>
          </a:p>
          <a:p>
            <a:pPr>
              <a:lnSpc>
                <a:spcPct val="80000"/>
              </a:lnSpc>
              <a:buFont typeface="Monotype Sorts" charset="2"/>
              <a:buNone/>
            </a:pPr>
            <a:r>
              <a:rPr lang="en-US" sz="1533" dirty="0">
                <a:solidFill>
                  <a:srgbClr val="0000FF"/>
                </a:solidFill>
              </a:rPr>
              <a:t>                       if (</a:t>
            </a:r>
            <a:r>
              <a:rPr lang="en-US" sz="1533" dirty="0" err="1">
                <a:solidFill>
                  <a:srgbClr val="0000FF"/>
                </a:solidFill>
              </a:rPr>
              <a:t>readcount</a:t>
            </a:r>
            <a:r>
              <a:rPr lang="en-US" sz="1533" dirty="0">
                <a:solidFill>
                  <a:srgbClr val="0000FF"/>
                </a:solidFill>
              </a:rPr>
              <a:t> == 1)  </a:t>
            </a:r>
          </a:p>
          <a:p>
            <a:pPr>
              <a:lnSpc>
                <a:spcPct val="80000"/>
              </a:lnSpc>
              <a:buFont typeface="Monotype Sorts" charset="2"/>
              <a:buNone/>
            </a:pPr>
            <a:r>
              <a:rPr lang="en-US" sz="1533" dirty="0">
                <a:solidFill>
                  <a:srgbClr val="0000FF"/>
                </a:solidFill>
              </a:rPr>
              <a:t>			          wait (</a:t>
            </a:r>
            <a:r>
              <a:rPr lang="en-US" sz="1533" dirty="0" err="1">
                <a:solidFill>
                  <a:srgbClr val="0000FF"/>
                </a:solidFill>
              </a:rPr>
              <a:t>wrt</a:t>
            </a:r>
            <a:r>
              <a:rPr lang="en-US" sz="1533" dirty="0">
                <a:solidFill>
                  <a:srgbClr val="0000FF"/>
                </a:solidFill>
              </a:rPr>
              <a:t>) ;</a:t>
            </a:r>
          </a:p>
          <a:p>
            <a:pPr>
              <a:lnSpc>
                <a:spcPct val="80000"/>
              </a:lnSpc>
              <a:buFont typeface="Monotype Sorts" charset="2"/>
              <a:buNone/>
            </a:pPr>
            <a:r>
              <a:rPr lang="en-US" sz="1533" dirty="0">
                <a:solidFill>
                  <a:srgbClr val="0000FF"/>
                </a:solidFill>
              </a:rPr>
              <a:t>                       signal (</a:t>
            </a:r>
            <a:r>
              <a:rPr lang="en-US" sz="1533" dirty="0" err="1">
                <a:solidFill>
                  <a:srgbClr val="0000FF"/>
                </a:solidFill>
              </a:rPr>
              <a:t>mutex</a:t>
            </a:r>
            <a:r>
              <a:rPr lang="en-US" sz="1533" dirty="0">
                <a:solidFill>
                  <a:srgbClr val="0000FF"/>
                </a:solidFill>
              </a:rPr>
              <a:t>)</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r>
              <a:rPr lang="en-US" sz="1533" dirty="0">
                <a:solidFill>
                  <a:srgbClr val="0000FF"/>
                </a:solidFill>
              </a:rPr>
              <a:t>                               // reading is performed</a:t>
            </a:r>
          </a:p>
          <a:p>
            <a:pPr>
              <a:lnSpc>
                <a:spcPct val="80000"/>
              </a:lnSpc>
              <a:buFont typeface="Monotype Sorts" charset="2"/>
              <a:buNone/>
            </a:pPr>
            <a:endParaRPr lang="en-US" sz="1533" dirty="0">
              <a:solidFill>
                <a:srgbClr val="0000FF"/>
              </a:solidFill>
            </a:endParaRPr>
          </a:p>
          <a:p>
            <a:pPr>
              <a:lnSpc>
                <a:spcPct val="80000"/>
              </a:lnSpc>
              <a:buFont typeface="Monotype Sorts" charset="2"/>
              <a:buNone/>
            </a:pPr>
            <a:r>
              <a:rPr lang="en-US" sz="1533" dirty="0">
                <a:solidFill>
                  <a:srgbClr val="0000FF"/>
                </a:solidFill>
              </a:rPr>
              <a:t>                        wait (</a:t>
            </a:r>
            <a:r>
              <a:rPr lang="en-US" sz="1533" dirty="0" err="1">
                <a:solidFill>
                  <a:srgbClr val="0000FF"/>
                </a:solidFill>
              </a:rPr>
              <a:t>mutex</a:t>
            </a:r>
            <a:r>
              <a:rPr lang="en-US" sz="1533" dirty="0">
                <a:solidFill>
                  <a:srgbClr val="0000FF"/>
                </a:solidFill>
              </a:rPr>
              <a:t>) ;</a:t>
            </a:r>
          </a:p>
          <a:p>
            <a:pPr>
              <a:lnSpc>
                <a:spcPct val="80000"/>
              </a:lnSpc>
              <a:buFont typeface="Monotype Sorts" charset="2"/>
              <a:buNone/>
            </a:pPr>
            <a:r>
              <a:rPr lang="en-US" sz="1533" dirty="0">
                <a:solidFill>
                  <a:srgbClr val="0000FF"/>
                </a:solidFill>
              </a:rPr>
              <a:t>                        </a:t>
            </a:r>
            <a:r>
              <a:rPr lang="en-US" sz="1533" dirty="0" err="1">
                <a:solidFill>
                  <a:srgbClr val="0000FF"/>
                </a:solidFill>
              </a:rPr>
              <a:t>readcount</a:t>
            </a:r>
            <a:r>
              <a:rPr lang="en-US" sz="1533" dirty="0">
                <a:solidFill>
                  <a:srgbClr val="0000FF"/>
                </a:solidFill>
              </a:rPr>
              <a:t>  - - ;</a:t>
            </a:r>
          </a:p>
          <a:p>
            <a:pPr>
              <a:lnSpc>
                <a:spcPct val="80000"/>
              </a:lnSpc>
              <a:buFont typeface="Monotype Sorts" charset="2"/>
              <a:buNone/>
            </a:pPr>
            <a:r>
              <a:rPr lang="en-US" sz="1533" dirty="0">
                <a:solidFill>
                  <a:srgbClr val="0000FF"/>
                </a:solidFill>
              </a:rPr>
              <a:t>                        if (</a:t>
            </a:r>
            <a:r>
              <a:rPr lang="en-US" sz="1533" dirty="0" err="1">
                <a:solidFill>
                  <a:srgbClr val="0000FF"/>
                </a:solidFill>
              </a:rPr>
              <a:t>readcount</a:t>
            </a:r>
            <a:r>
              <a:rPr lang="en-US" sz="1533" dirty="0">
                <a:solidFill>
                  <a:srgbClr val="0000FF"/>
                </a:solidFill>
              </a:rPr>
              <a:t>  == 0)  </a:t>
            </a:r>
          </a:p>
          <a:p>
            <a:pPr>
              <a:lnSpc>
                <a:spcPct val="80000"/>
              </a:lnSpc>
              <a:buFont typeface="Monotype Sorts" charset="2"/>
              <a:buNone/>
            </a:pPr>
            <a:r>
              <a:rPr lang="en-US" sz="1533" dirty="0">
                <a:solidFill>
                  <a:srgbClr val="0000FF"/>
                </a:solidFill>
              </a:rPr>
              <a:t>			         signal (</a:t>
            </a:r>
            <a:r>
              <a:rPr lang="en-US" sz="1533" dirty="0" err="1">
                <a:solidFill>
                  <a:srgbClr val="0000FF"/>
                </a:solidFill>
              </a:rPr>
              <a:t>wrt</a:t>
            </a:r>
            <a:r>
              <a:rPr lang="en-US" sz="1533" dirty="0">
                <a:solidFill>
                  <a:srgbClr val="0000FF"/>
                </a:solidFill>
              </a:rPr>
              <a:t>) ;</a:t>
            </a:r>
          </a:p>
          <a:p>
            <a:pPr>
              <a:lnSpc>
                <a:spcPct val="80000"/>
              </a:lnSpc>
              <a:buFont typeface="Monotype Sorts" charset="2"/>
              <a:buNone/>
            </a:pPr>
            <a:r>
              <a:rPr lang="en-US" sz="1533" dirty="0">
                <a:solidFill>
                  <a:srgbClr val="0000FF"/>
                </a:solidFill>
              </a:rPr>
              <a:t>                        signal (</a:t>
            </a:r>
            <a:r>
              <a:rPr lang="en-US" sz="1533" dirty="0" err="1">
                <a:solidFill>
                  <a:srgbClr val="0000FF"/>
                </a:solidFill>
              </a:rPr>
              <a:t>mutex</a:t>
            </a:r>
            <a:r>
              <a:rPr lang="en-US" sz="1533" dirty="0">
                <a:solidFill>
                  <a:srgbClr val="0000FF"/>
                </a:solidFill>
              </a:rPr>
              <a:t>) ;</a:t>
            </a:r>
          </a:p>
          <a:p>
            <a:pPr>
              <a:lnSpc>
                <a:spcPct val="80000"/>
              </a:lnSpc>
              <a:buFont typeface="Monotype Sorts" charset="2"/>
              <a:buNone/>
            </a:pPr>
            <a:r>
              <a:rPr lang="en-US" sz="1533" dirty="0">
                <a:solidFill>
                  <a:srgbClr val="0000FF"/>
                </a:solidFill>
              </a:rPr>
              <a:t>              } while (TRUE);</a:t>
            </a:r>
          </a:p>
          <a:p>
            <a:pPr>
              <a:lnSpc>
                <a:spcPct val="80000"/>
              </a:lnSpc>
              <a:buFont typeface="Monotype Sorts" charset="2"/>
              <a:buNone/>
            </a:pPr>
            <a:endParaRPr lang="en-US" sz="1533" dirty="0">
              <a:solidFill>
                <a:srgbClr val="0000FF"/>
              </a:solidFill>
            </a:endParaRPr>
          </a:p>
          <a:p>
            <a:pPr>
              <a:lnSpc>
                <a:spcPct val="80000"/>
              </a:lnSpc>
              <a:buFont typeface="Monotype Sorts" charset="2"/>
              <a:buNone/>
            </a:pPr>
            <a:endParaRPr lang="en-US" sz="1533" dirty="0">
              <a:solidFill>
                <a:srgbClr val="0000FF"/>
              </a:solidFill>
            </a:endParaRPr>
          </a:p>
          <a:p>
            <a:pPr>
              <a:lnSpc>
                <a:spcPct val="80000"/>
              </a:lnSpc>
              <a:buFont typeface="Monotype Sorts" charset="2"/>
              <a:buNone/>
            </a:pPr>
            <a:r>
              <a:rPr lang="en-US" sz="1533" dirty="0">
                <a:solidFill>
                  <a:srgbClr val="0000FF"/>
                </a:solidFill>
              </a:rPr>
              <a:t>       </a:t>
            </a:r>
          </a:p>
        </p:txBody>
      </p:sp>
      <p:sp>
        <p:nvSpPr>
          <p:cNvPr id="4" name="Text Box 7"/>
          <p:cNvSpPr txBox="1">
            <a:spLocks noChangeArrowheads="1"/>
          </p:cNvSpPr>
          <p:nvPr/>
        </p:nvSpPr>
        <p:spPr bwMode="auto">
          <a:xfrm>
            <a:off x="5735215" y="1881155"/>
            <a:ext cx="3135087" cy="211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333" b="1" dirty="0">
                <a:solidFill>
                  <a:srgbClr val="CC6600"/>
                </a:solidFill>
                <a:latin typeface="Helvetica" charset="0"/>
              </a:rPr>
              <a:t>A reader will wait only if a writer is currently writing. Note that</a:t>
            </a:r>
            <a:r>
              <a:rPr lang="en-GB" sz="1333" b="1" dirty="0">
                <a:solidFill>
                  <a:srgbClr val="008000"/>
                </a:solidFill>
                <a:latin typeface="Helvetica" charset="0"/>
              </a:rPr>
              <a:t> </a:t>
            </a:r>
            <a:r>
              <a:rPr lang="en-GB" sz="1333" b="1" dirty="0">
                <a:solidFill>
                  <a:srgbClr val="CC6600"/>
                </a:solidFill>
                <a:latin typeface="Helvetica" charset="0"/>
              </a:rPr>
              <a:t>if </a:t>
            </a:r>
            <a:r>
              <a:rPr lang="en-GB" sz="1333" b="1" dirty="0" err="1">
                <a:latin typeface="Helvetica" charset="0"/>
              </a:rPr>
              <a:t>readcount</a:t>
            </a:r>
            <a:r>
              <a:rPr lang="en-GB" sz="1333" b="1" dirty="0">
                <a:latin typeface="Helvetica" charset="0"/>
              </a:rPr>
              <a:t> == 1</a:t>
            </a:r>
            <a:r>
              <a:rPr lang="en-GB" sz="1333" b="1" dirty="0">
                <a:solidFill>
                  <a:srgbClr val="008000"/>
                </a:solidFill>
                <a:latin typeface="Helvetica" charset="0"/>
              </a:rPr>
              <a:t>, </a:t>
            </a:r>
            <a:r>
              <a:rPr lang="en-GB" sz="1333" b="1" dirty="0">
                <a:solidFill>
                  <a:srgbClr val="CC6600"/>
                </a:solidFill>
                <a:latin typeface="Helvetica" charset="0"/>
              </a:rPr>
              <a:t>no reader is currently reading and thus that is the only time that a reader has to make sure that no writer is currently writing (i.e., if</a:t>
            </a:r>
            <a:r>
              <a:rPr lang="en-GB" sz="1333" b="1" dirty="0">
                <a:solidFill>
                  <a:srgbClr val="008000"/>
                </a:solidFill>
                <a:latin typeface="Helvetica" charset="0"/>
              </a:rPr>
              <a:t> </a:t>
            </a:r>
            <a:r>
              <a:rPr lang="en-GB" sz="1333" b="1" dirty="0" err="1">
                <a:latin typeface="Helvetica" charset="0"/>
              </a:rPr>
              <a:t>readcount</a:t>
            </a:r>
            <a:r>
              <a:rPr lang="en-GB" sz="1333" b="1" dirty="0">
                <a:latin typeface="Helvetica" charset="0"/>
              </a:rPr>
              <a:t> &gt; 1</a:t>
            </a:r>
            <a:r>
              <a:rPr lang="en-GB" sz="1333" b="1" dirty="0">
                <a:solidFill>
                  <a:srgbClr val="CC6600"/>
                </a:solidFill>
                <a:latin typeface="Helvetica" charset="0"/>
              </a:rPr>
              <a:t>, there is at least one reader reading and thus the new reader does not have to wait)</a:t>
            </a:r>
          </a:p>
        </p:txBody>
      </p:sp>
      <p:sp>
        <p:nvSpPr>
          <p:cNvPr id="5" name="Line 8"/>
          <p:cNvSpPr>
            <a:spLocks noChangeShapeType="1"/>
          </p:cNvSpPr>
          <p:nvPr/>
        </p:nvSpPr>
        <p:spPr bwMode="auto">
          <a:xfrm flipH="1" flipV="1">
            <a:off x="3788228" y="3257938"/>
            <a:ext cx="1810139" cy="64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
        <p:nvSpPr>
          <p:cNvPr id="6" name="Text Box 4"/>
          <p:cNvSpPr txBox="1">
            <a:spLocks noChangeArrowheads="1"/>
          </p:cNvSpPr>
          <p:nvPr/>
        </p:nvSpPr>
        <p:spPr bwMode="auto">
          <a:xfrm>
            <a:off x="373225" y="3264397"/>
            <a:ext cx="1625600" cy="1293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333" b="1" dirty="0">
                <a:solidFill>
                  <a:srgbClr val="CC6600"/>
                </a:solidFill>
                <a:latin typeface="Helvetica" charset="0"/>
              </a:rPr>
              <a:t>We must make sure that readers update the shared variable</a:t>
            </a:r>
            <a:r>
              <a:rPr lang="en-GB" sz="1333" b="1" dirty="0">
                <a:solidFill>
                  <a:srgbClr val="008000"/>
                </a:solidFill>
                <a:latin typeface="Helvetica" charset="0"/>
              </a:rPr>
              <a:t> </a:t>
            </a:r>
            <a:r>
              <a:rPr lang="en-GB" sz="1333" b="1" dirty="0" err="1">
                <a:latin typeface="Helvetica" charset="0"/>
              </a:rPr>
              <a:t>readcount</a:t>
            </a:r>
            <a:r>
              <a:rPr lang="en-GB" sz="1333" b="1" dirty="0">
                <a:solidFill>
                  <a:srgbClr val="008000"/>
                </a:solidFill>
                <a:latin typeface="Helvetica" charset="0"/>
              </a:rPr>
              <a:t> </a:t>
            </a:r>
            <a:r>
              <a:rPr lang="en-GB" sz="1333" b="1" dirty="0">
                <a:solidFill>
                  <a:srgbClr val="CC6600"/>
                </a:solidFill>
                <a:latin typeface="Helvetica" charset="0"/>
              </a:rPr>
              <a:t>in a mutually exclusive manner</a:t>
            </a:r>
          </a:p>
        </p:txBody>
      </p:sp>
      <p:sp>
        <p:nvSpPr>
          <p:cNvPr id="7" name="Line 5"/>
          <p:cNvSpPr>
            <a:spLocks noChangeShapeType="1"/>
          </p:cNvSpPr>
          <p:nvPr/>
        </p:nvSpPr>
        <p:spPr bwMode="auto">
          <a:xfrm flipV="1">
            <a:off x="1186025" y="2451597"/>
            <a:ext cx="914400" cy="812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Tree>
    <p:extLst>
      <p:ext uri="{BB962C8B-B14F-4D97-AF65-F5344CB8AC3E}">
        <p14:creationId xmlns:p14="http://schemas.microsoft.com/office/powerpoint/2010/main" val="3034568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016000" y="627592"/>
            <a:ext cx="7670800" cy="512233"/>
          </a:xfrm>
        </p:spPr>
        <p:txBody>
          <a:bodyPr>
            <a:normAutofit/>
          </a:bodyPr>
          <a:lstStyle/>
          <a:p>
            <a:pPr eaLnBrk="1" hangingPunct="1"/>
            <a:r>
              <a:rPr lang="en-US" smtClean="0"/>
              <a:t>Dining-Philosophers Problem</a:t>
            </a:r>
          </a:p>
        </p:txBody>
      </p:sp>
      <p:sp>
        <p:nvSpPr>
          <p:cNvPr id="36867" name="Rectangle 3"/>
          <p:cNvSpPr>
            <a:spLocks noGrp="1" noChangeArrowheads="1"/>
          </p:cNvSpPr>
          <p:nvPr>
            <p:ph idx="1"/>
          </p:nvPr>
        </p:nvSpPr>
        <p:spPr>
          <a:xfrm>
            <a:off x="914400" y="4086226"/>
            <a:ext cx="7029450" cy="1426633"/>
          </a:xfrm>
        </p:spPr>
        <p:txBody>
          <a:bodyPr>
            <a:normAutofit fontScale="62500" lnSpcReduction="20000"/>
          </a:bodyPr>
          <a:lstStyle/>
          <a:p>
            <a:pPr>
              <a:tabLst>
                <a:tab pos="1302874" algn="l"/>
                <a:tab pos="1466923" algn="l"/>
              </a:tabLst>
            </a:pPr>
            <a:r>
              <a:rPr lang="en-US" dirty="0" smtClean="0"/>
              <a:t>Philosophers spend their lives thinking and eating</a:t>
            </a:r>
          </a:p>
          <a:p>
            <a:pPr>
              <a:tabLst>
                <a:tab pos="1302874" algn="l"/>
                <a:tab pos="1466923" algn="l"/>
              </a:tabLst>
            </a:pPr>
            <a:r>
              <a:rPr lang="en-US" dirty="0" smtClean="0"/>
              <a:t>Don’t interact with their neighbors, occasionally try to pick up 2 chopsticks (one at a time) to eat from bowl</a:t>
            </a:r>
          </a:p>
          <a:p>
            <a:pPr lvl="1">
              <a:tabLst>
                <a:tab pos="1302874" algn="l"/>
                <a:tab pos="1466923" algn="l"/>
              </a:tabLst>
            </a:pPr>
            <a:r>
              <a:rPr lang="en-US" dirty="0" smtClean="0"/>
              <a:t>Need both to eat, then release both when done</a:t>
            </a:r>
          </a:p>
          <a:p>
            <a:pPr>
              <a:tabLst>
                <a:tab pos="1302874" algn="l"/>
                <a:tab pos="1466923" algn="l"/>
              </a:tabLst>
            </a:pPr>
            <a:r>
              <a:rPr lang="en-US" dirty="0" smtClean="0"/>
              <a:t>In the case of 5 philosophers</a:t>
            </a:r>
          </a:p>
          <a:p>
            <a:pPr lvl="1">
              <a:tabLst>
                <a:tab pos="1302874" algn="l"/>
                <a:tab pos="1466923" algn="l"/>
              </a:tabLst>
            </a:pPr>
            <a:r>
              <a:rPr lang="en-US" dirty="0" smtClean="0"/>
              <a:t>Shared data </a:t>
            </a:r>
          </a:p>
          <a:p>
            <a:pPr lvl="2">
              <a:tabLst>
                <a:tab pos="1302874" algn="l"/>
                <a:tab pos="1466923" algn="l"/>
              </a:tabLst>
            </a:pPr>
            <a:r>
              <a:rPr lang="en-US" dirty="0" smtClean="0"/>
              <a:t>Bowl of rice (data set)</a:t>
            </a:r>
          </a:p>
          <a:p>
            <a:pPr lvl="2">
              <a:tabLst>
                <a:tab pos="1302874" algn="l"/>
                <a:tab pos="1466923" algn="l"/>
              </a:tabLst>
            </a:pPr>
            <a:r>
              <a:rPr lang="en-US" dirty="0" smtClean="0"/>
              <a:t>Semaphore </a:t>
            </a:r>
            <a:r>
              <a:rPr lang="en-US" dirty="0" smtClean="0">
                <a:solidFill>
                  <a:srgbClr val="FF0000"/>
                </a:solidFill>
              </a:rPr>
              <a:t>chopstick [5]</a:t>
            </a:r>
            <a:r>
              <a:rPr lang="en-US" dirty="0" smtClean="0"/>
              <a:t> initialized to 1</a:t>
            </a:r>
          </a:p>
        </p:txBody>
      </p:sp>
      <p:pic>
        <p:nvPicPr>
          <p:cNvPr id="36868" name="Picture 5" descr="6"/>
          <p:cNvPicPr>
            <a:picLocks noChangeAspect="1" noChangeArrowheads="1"/>
          </p:cNvPicPr>
          <p:nvPr/>
        </p:nvPicPr>
        <p:blipFill>
          <a:blip r:embed="rId3"/>
          <a:srcRect/>
          <a:stretch>
            <a:fillRect/>
          </a:stretch>
        </p:blipFill>
        <p:spPr bwMode="auto">
          <a:xfrm>
            <a:off x="2843743" y="1472142"/>
            <a:ext cx="2773891" cy="2369608"/>
          </a:xfrm>
          <a:prstGeom prst="rect">
            <a:avLst/>
          </a:prstGeom>
          <a:noFill/>
          <a:ln w="9525">
            <a:noFill/>
            <a:miter lim="800000"/>
            <a:headEnd/>
            <a:tailEnd/>
          </a:ln>
        </p:spPr>
      </p:pic>
    </p:spTree>
    <p:extLst>
      <p:ext uri="{BB962C8B-B14F-4D97-AF65-F5344CB8AC3E}">
        <p14:creationId xmlns:p14="http://schemas.microsoft.com/office/powerpoint/2010/main" val="236763073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038226" y="627592"/>
            <a:ext cx="7865533" cy="512233"/>
          </a:xfrm>
        </p:spPr>
        <p:txBody>
          <a:bodyPr>
            <a:normAutofit/>
          </a:bodyPr>
          <a:lstStyle/>
          <a:p>
            <a:pPr eaLnBrk="1" hangingPunct="1"/>
            <a:r>
              <a:rPr lang="en-US" smtClean="0"/>
              <a:t>  Dining-Philosophers Problem Algorithm</a:t>
            </a:r>
          </a:p>
        </p:txBody>
      </p:sp>
      <p:sp>
        <p:nvSpPr>
          <p:cNvPr id="37891" name="Rectangle 3"/>
          <p:cNvSpPr>
            <a:spLocks noGrp="1" noChangeArrowheads="1"/>
          </p:cNvSpPr>
          <p:nvPr>
            <p:ph idx="1"/>
          </p:nvPr>
        </p:nvSpPr>
        <p:spPr>
          <a:xfrm>
            <a:off x="827617" y="1518709"/>
            <a:ext cx="7106709" cy="4252383"/>
          </a:xfrm>
        </p:spPr>
        <p:txBody>
          <a:bodyPr>
            <a:normAutofit lnSpcReduction="10000"/>
          </a:bodyPr>
          <a:lstStyle/>
          <a:p>
            <a:pPr marL="360910" indent="-360910">
              <a:lnSpc>
                <a:spcPct val="90000"/>
              </a:lnSpc>
              <a:tabLst>
                <a:tab pos="1629915" algn="l"/>
                <a:tab pos="1908271" algn="l"/>
                <a:tab pos="2124182" algn="l"/>
                <a:tab pos="2340092" algn="l"/>
              </a:tabLst>
            </a:pPr>
            <a:r>
              <a:rPr lang="en-US" dirty="0" smtClean="0"/>
              <a:t>The structure of Philosopher</a:t>
            </a:r>
            <a:r>
              <a:rPr lang="en-US" i="1" dirty="0" smtClean="0">
                <a:solidFill>
                  <a:srgbClr val="0000FF"/>
                </a:solidFill>
              </a:rPr>
              <a:t> i</a:t>
            </a:r>
            <a:r>
              <a:rPr lang="en-US" dirty="0" smtClean="0"/>
              <a:t>:</a:t>
            </a:r>
          </a:p>
          <a:p>
            <a:pPr marL="360910" indent="-360910">
              <a:lnSpc>
                <a:spcPct val="90000"/>
              </a:lnSpc>
              <a:buNone/>
              <a:tabLst>
                <a:tab pos="1629915" algn="l"/>
                <a:tab pos="1908271" algn="l"/>
                <a:tab pos="2124182" algn="l"/>
                <a:tab pos="2340092" algn="l"/>
              </a:tabLst>
            </a:pPr>
            <a:endParaRPr lang="en-US" dirty="0" smtClean="0"/>
          </a:p>
          <a:p>
            <a:pPr marL="1140940" lvl="2" indent="-324925">
              <a:lnSpc>
                <a:spcPct val="90000"/>
              </a:lnSpc>
              <a:buNone/>
              <a:tabLst>
                <a:tab pos="1629915" algn="l"/>
                <a:tab pos="1908271" algn="l"/>
                <a:tab pos="2124182" algn="l"/>
                <a:tab pos="2340092" algn="l"/>
              </a:tabLst>
            </a:pPr>
            <a:r>
              <a:rPr lang="en-US" dirty="0" smtClean="0">
                <a:solidFill>
                  <a:srgbClr val="0000FF"/>
                </a:solidFill>
              </a:rPr>
              <a:t>do  { </a:t>
            </a:r>
          </a:p>
          <a:p>
            <a:pPr marL="1140940" lvl="2" indent="-324925">
              <a:lnSpc>
                <a:spcPct val="90000"/>
              </a:lnSpc>
              <a:buNone/>
              <a:tabLst>
                <a:tab pos="1629915" algn="l"/>
                <a:tab pos="1908271" algn="l"/>
                <a:tab pos="2124182" algn="l"/>
                <a:tab pos="2340092" algn="l"/>
              </a:tabLst>
            </a:pPr>
            <a:r>
              <a:rPr lang="en-US" dirty="0" smtClean="0">
                <a:solidFill>
                  <a:srgbClr val="0000FF"/>
                </a:solidFill>
              </a:rPr>
              <a:t>          wait ( chopstick[i] );</a:t>
            </a:r>
          </a:p>
          <a:p>
            <a:pPr marL="1140940" lvl="2" indent="-324925">
              <a:lnSpc>
                <a:spcPct val="90000"/>
              </a:lnSpc>
              <a:buNone/>
              <a:tabLst>
                <a:tab pos="1629915" algn="l"/>
                <a:tab pos="1908271" algn="l"/>
                <a:tab pos="2124182" algn="l"/>
                <a:tab pos="2340092" algn="l"/>
              </a:tabLst>
            </a:pPr>
            <a:r>
              <a:rPr lang="en-US" dirty="0" smtClean="0">
                <a:solidFill>
                  <a:srgbClr val="0000FF"/>
                </a:solidFill>
              </a:rPr>
              <a:t>	     wait ( </a:t>
            </a:r>
            <a:r>
              <a:rPr lang="en-US" dirty="0" err="1" smtClean="0">
                <a:solidFill>
                  <a:srgbClr val="0000FF"/>
                </a:solidFill>
              </a:rPr>
              <a:t>chopStick</a:t>
            </a:r>
            <a:r>
              <a:rPr lang="en-US" dirty="0" smtClean="0">
                <a:solidFill>
                  <a:srgbClr val="0000FF"/>
                </a:solidFill>
              </a:rPr>
              <a:t>[ (i + 1) % 5] );</a:t>
            </a:r>
          </a:p>
          <a:p>
            <a:pPr marL="1140940" lvl="2" indent="-324925">
              <a:lnSpc>
                <a:spcPct val="90000"/>
              </a:lnSpc>
              <a:buNone/>
              <a:tabLst>
                <a:tab pos="1629915" algn="l"/>
                <a:tab pos="1908271" algn="l"/>
                <a:tab pos="2124182" algn="l"/>
                <a:tab pos="2340092" algn="l"/>
              </a:tabLst>
            </a:pPr>
            <a:r>
              <a:rPr lang="en-US" dirty="0" smtClean="0">
                <a:solidFill>
                  <a:srgbClr val="0000FF"/>
                </a:solidFill>
              </a:rPr>
              <a:t>	</a:t>
            </a:r>
          </a:p>
          <a:p>
            <a:pPr marL="1140940" lvl="2" indent="-324925">
              <a:lnSpc>
                <a:spcPct val="90000"/>
              </a:lnSpc>
              <a:buNone/>
              <a:tabLst>
                <a:tab pos="1629915" algn="l"/>
                <a:tab pos="1908271" algn="l"/>
                <a:tab pos="2124182" algn="l"/>
                <a:tab pos="2340092" algn="l"/>
              </a:tabLst>
            </a:pPr>
            <a:r>
              <a:rPr lang="en-US" dirty="0" smtClean="0">
                <a:solidFill>
                  <a:srgbClr val="0000FF"/>
                </a:solidFill>
              </a:rPr>
              <a:t>	             //  eat</a:t>
            </a:r>
          </a:p>
          <a:p>
            <a:pPr marL="1140940" lvl="2" indent="-324925">
              <a:lnSpc>
                <a:spcPct val="90000"/>
              </a:lnSpc>
              <a:buNone/>
              <a:tabLst>
                <a:tab pos="1629915" algn="l"/>
                <a:tab pos="1908271" algn="l"/>
                <a:tab pos="2124182" algn="l"/>
                <a:tab pos="2340092" algn="l"/>
              </a:tabLst>
            </a:pPr>
            <a:endParaRPr lang="en-US" dirty="0" smtClean="0">
              <a:solidFill>
                <a:srgbClr val="0000FF"/>
              </a:solidFill>
            </a:endParaRPr>
          </a:p>
          <a:p>
            <a:pPr marL="1140940" lvl="2" indent="-324925">
              <a:lnSpc>
                <a:spcPct val="90000"/>
              </a:lnSpc>
              <a:buNone/>
              <a:tabLst>
                <a:tab pos="1629915" algn="l"/>
                <a:tab pos="1908271" algn="l"/>
                <a:tab pos="2124182" algn="l"/>
                <a:tab pos="2340092" algn="l"/>
              </a:tabLst>
            </a:pPr>
            <a:r>
              <a:rPr lang="en-US" dirty="0" smtClean="0">
                <a:solidFill>
                  <a:srgbClr val="0000FF"/>
                </a:solidFill>
              </a:rPr>
              <a:t>	     signal ( chopstick[i] );</a:t>
            </a:r>
          </a:p>
          <a:p>
            <a:pPr marL="1140940" lvl="2" indent="-324925">
              <a:lnSpc>
                <a:spcPct val="90000"/>
              </a:lnSpc>
              <a:buNone/>
              <a:tabLst>
                <a:tab pos="1629915" algn="l"/>
                <a:tab pos="1908271" algn="l"/>
                <a:tab pos="2124182" algn="l"/>
                <a:tab pos="2340092" algn="l"/>
              </a:tabLst>
            </a:pPr>
            <a:r>
              <a:rPr lang="en-US" dirty="0" smtClean="0">
                <a:solidFill>
                  <a:srgbClr val="0000FF"/>
                </a:solidFill>
              </a:rPr>
              <a:t>	     signal (chopstick[ (i + 1) % 5] );</a:t>
            </a:r>
          </a:p>
          <a:p>
            <a:pPr marL="1140940" lvl="2" indent="-324925">
              <a:lnSpc>
                <a:spcPct val="90000"/>
              </a:lnSpc>
              <a:buNone/>
              <a:tabLst>
                <a:tab pos="1629915" algn="l"/>
                <a:tab pos="1908271" algn="l"/>
                <a:tab pos="2124182" algn="l"/>
                <a:tab pos="2340092" algn="l"/>
              </a:tabLst>
            </a:pPr>
            <a:r>
              <a:rPr lang="en-US" dirty="0" smtClean="0">
                <a:solidFill>
                  <a:srgbClr val="0000FF"/>
                </a:solidFill>
              </a:rPr>
              <a:t>	</a:t>
            </a:r>
          </a:p>
          <a:p>
            <a:pPr marL="1140940" lvl="2" indent="-324925">
              <a:lnSpc>
                <a:spcPct val="90000"/>
              </a:lnSpc>
              <a:buNone/>
              <a:tabLst>
                <a:tab pos="1629915" algn="l"/>
                <a:tab pos="1908271" algn="l"/>
                <a:tab pos="2124182" algn="l"/>
                <a:tab pos="2340092" algn="l"/>
              </a:tabLst>
            </a:pPr>
            <a:r>
              <a:rPr lang="en-US" dirty="0" smtClean="0">
                <a:solidFill>
                  <a:srgbClr val="0000FF"/>
                </a:solidFill>
              </a:rPr>
              <a:t>                 //  think</a:t>
            </a:r>
          </a:p>
          <a:p>
            <a:pPr marL="1140940" lvl="2" indent="-324925">
              <a:lnSpc>
                <a:spcPct val="90000"/>
              </a:lnSpc>
              <a:buNone/>
              <a:tabLst>
                <a:tab pos="1629915" algn="l"/>
                <a:tab pos="1908271" algn="l"/>
                <a:tab pos="2124182" algn="l"/>
                <a:tab pos="2340092" algn="l"/>
              </a:tabLst>
            </a:pPr>
            <a:endParaRPr lang="en-US" dirty="0" smtClean="0">
              <a:solidFill>
                <a:srgbClr val="0000FF"/>
              </a:solidFill>
            </a:endParaRPr>
          </a:p>
          <a:p>
            <a:pPr marL="1140940" lvl="2" indent="-324925">
              <a:lnSpc>
                <a:spcPct val="90000"/>
              </a:lnSpc>
              <a:buNone/>
              <a:tabLst>
                <a:tab pos="1629915" algn="l"/>
                <a:tab pos="1908271" algn="l"/>
                <a:tab pos="2124182" algn="l"/>
                <a:tab pos="2340092" algn="l"/>
              </a:tabLst>
            </a:pPr>
            <a:r>
              <a:rPr lang="en-US" dirty="0" smtClean="0">
                <a:solidFill>
                  <a:srgbClr val="0000FF"/>
                </a:solidFill>
              </a:rPr>
              <a:t>} while (TRUE);</a:t>
            </a:r>
          </a:p>
          <a:p>
            <a:pPr marL="1140940" lvl="2" indent="-324925">
              <a:lnSpc>
                <a:spcPct val="90000"/>
              </a:lnSpc>
              <a:buNone/>
              <a:tabLst>
                <a:tab pos="1629915" algn="l"/>
                <a:tab pos="1908271" algn="l"/>
                <a:tab pos="2124182" algn="l"/>
                <a:tab pos="2340092" algn="l"/>
              </a:tabLst>
            </a:pPr>
            <a:endParaRPr lang="en-US" dirty="0" smtClean="0">
              <a:solidFill>
                <a:srgbClr val="0000FF"/>
              </a:solidFill>
            </a:endParaRPr>
          </a:p>
          <a:p>
            <a:pPr marL="432880">
              <a:lnSpc>
                <a:spcPct val="90000"/>
              </a:lnSpc>
              <a:buNone/>
              <a:tabLst>
                <a:tab pos="1629915" algn="l"/>
                <a:tab pos="1908271" algn="l"/>
                <a:tab pos="2124182" algn="l"/>
                <a:tab pos="2340092" algn="l"/>
              </a:tabLst>
            </a:pPr>
            <a:r>
              <a:rPr lang="en-GB" sz="1333" dirty="0"/>
              <a:t>This </a:t>
            </a:r>
            <a:r>
              <a:rPr lang="en-GB" sz="1333" dirty="0"/>
              <a:t>solution guarantees that no two </a:t>
            </a:r>
            <a:r>
              <a:rPr lang="en-GB" sz="1333" dirty="0" err="1"/>
              <a:t>neighbors</a:t>
            </a:r>
            <a:r>
              <a:rPr lang="en-GB" sz="1333" dirty="0"/>
              <a:t> can be eating simultaneously (i.e., mutual exclusion)</a:t>
            </a:r>
          </a:p>
          <a:p>
            <a:pPr marL="360910" indent="-360910">
              <a:lnSpc>
                <a:spcPct val="90000"/>
              </a:lnSpc>
              <a:tabLst>
                <a:tab pos="1629915" algn="l"/>
                <a:tab pos="1908271" algn="l"/>
                <a:tab pos="2124182" algn="l"/>
                <a:tab pos="2340092" algn="l"/>
              </a:tabLst>
            </a:pPr>
            <a:r>
              <a:rPr lang="en-US" sz="1333" dirty="0"/>
              <a:t>What is the problem with this algorithm?</a:t>
            </a:r>
          </a:p>
          <a:p>
            <a:pPr marL="0" lvl="1" indent="0">
              <a:lnSpc>
                <a:spcPct val="90000"/>
              </a:lnSpc>
              <a:buClr>
                <a:srgbClr val="993300"/>
              </a:buClr>
              <a:buSzPct val="90000"/>
              <a:buNone/>
              <a:tabLst>
                <a:tab pos="1629915" algn="l"/>
                <a:tab pos="1908271" algn="l"/>
                <a:tab pos="2124182" algn="l"/>
                <a:tab pos="2340092" algn="l"/>
              </a:tabLst>
            </a:pPr>
            <a:r>
              <a:rPr lang="en-GB" sz="1333" dirty="0"/>
              <a:t>                       This </a:t>
            </a:r>
            <a:r>
              <a:rPr lang="en-GB" sz="1333" dirty="0"/>
              <a:t>solution could create a deadlock. How?</a:t>
            </a:r>
          </a:p>
          <a:p>
            <a:pPr marL="360910" indent="-360910">
              <a:lnSpc>
                <a:spcPct val="90000"/>
              </a:lnSpc>
              <a:tabLst>
                <a:tab pos="1629915" algn="l"/>
                <a:tab pos="1908271" algn="l"/>
                <a:tab pos="2124182" algn="l"/>
                <a:tab pos="2340092" algn="l"/>
              </a:tabLst>
            </a:pPr>
            <a:endParaRPr lang="en-US" dirty="0" smtClean="0"/>
          </a:p>
          <a:p>
            <a:pPr marL="1140940" lvl="2" indent="-324925">
              <a:lnSpc>
                <a:spcPct val="90000"/>
              </a:lnSpc>
              <a:buNone/>
              <a:tabLst>
                <a:tab pos="1629915" algn="l"/>
                <a:tab pos="1908271" algn="l"/>
                <a:tab pos="2124182" algn="l"/>
                <a:tab pos="2340092" algn="l"/>
              </a:tabLst>
            </a:pPr>
            <a:endParaRPr lang="en-US" dirty="0" smtClean="0">
              <a:solidFill>
                <a:srgbClr val="0000FF"/>
              </a:solidFill>
            </a:endParaRPr>
          </a:p>
        </p:txBody>
      </p:sp>
      <p:sp>
        <p:nvSpPr>
          <p:cNvPr id="4" name="Text Box 4"/>
          <p:cNvSpPr txBox="1">
            <a:spLocks noChangeArrowheads="1"/>
          </p:cNvSpPr>
          <p:nvPr/>
        </p:nvSpPr>
        <p:spPr bwMode="auto">
          <a:xfrm>
            <a:off x="5310695" y="1709057"/>
            <a:ext cx="2191117" cy="986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60000" tIns="31200" rIns="60000" bIns="312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5pPr>
            <a:lvl6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6pPr>
            <a:lvl7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7pPr>
            <a:lvl8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8pPr>
            <a:lvl9pPr eaLnBrk="0" fontAlgn="base" hangingPunct="0">
              <a:lnSpc>
                <a:spcPts val="4975"/>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charset="0"/>
                <a:ea typeface="ＭＳ Ｐゴシック" charset="0"/>
              </a:defRPr>
            </a:lvl9pPr>
          </a:lstStyle>
          <a:p>
            <a:pPr>
              <a:spcBef>
                <a:spcPts val="750"/>
              </a:spcBef>
              <a:buClr>
                <a:srgbClr val="CC6600"/>
              </a:buClr>
              <a:defRPr/>
            </a:pPr>
            <a:r>
              <a:rPr lang="en-GB" sz="1200" b="1" dirty="0">
                <a:solidFill>
                  <a:srgbClr val="CC6600"/>
                </a:solidFill>
                <a:latin typeface="Helvetica" charset="0"/>
              </a:rPr>
              <a:t>A philosopher must wait for his/her left and right chopsticks to be available before he/she can start eating</a:t>
            </a:r>
          </a:p>
        </p:txBody>
      </p:sp>
      <p:sp>
        <p:nvSpPr>
          <p:cNvPr id="5" name="Line 5"/>
          <p:cNvSpPr>
            <a:spLocks noChangeShapeType="1"/>
          </p:cNvSpPr>
          <p:nvPr/>
        </p:nvSpPr>
        <p:spPr bwMode="auto">
          <a:xfrm flipH="1">
            <a:off x="3658681" y="1943477"/>
            <a:ext cx="1625600" cy="254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
        <p:nvSpPr>
          <p:cNvPr id="6" name="Line 5"/>
          <p:cNvSpPr>
            <a:spLocks noChangeShapeType="1"/>
          </p:cNvSpPr>
          <p:nvPr/>
        </p:nvSpPr>
        <p:spPr bwMode="auto">
          <a:xfrm flipH="1">
            <a:off x="4321110" y="2452115"/>
            <a:ext cx="989586" cy="127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1200"/>
          </a:p>
        </p:txBody>
      </p:sp>
    </p:spTree>
    <p:extLst>
      <p:ext uri="{BB962C8B-B14F-4D97-AF65-F5344CB8AC3E}">
        <p14:creationId xmlns:p14="http://schemas.microsoft.com/office/powerpoint/2010/main" val="366732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23925" y="627592"/>
            <a:ext cx="7762875" cy="512233"/>
          </a:xfrm>
        </p:spPr>
        <p:txBody>
          <a:bodyPr>
            <a:normAutofit/>
          </a:bodyPr>
          <a:lstStyle/>
          <a:p>
            <a:pPr eaLnBrk="1" hangingPunct="1"/>
            <a:r>
              <a:rPr lang="en-US" smtClean="0"/>
              <a:t>Problems with Semaphores</a:t>
            </a:r>
          </a:p>
        </p:txBody>
      </p:sp>
      <p:sp>
        <p:nvSpPr>
          <p:cNvPr id="38915" name="Rectangle 3"/>
          <p:cNvSpPr>
            <a:spLocks noGrp="1" noChangeArrowheads="1"/>
          </p:cNvSpPr>
          <p:nvPr>
            <p:ph idx="1"/>
          </p:nvPr>
        </p:nvSpPr>
        <p:spPr>
          <a:xfrm>
            <a:off x="827617" y="1520825"/>
            <a:ext cx="6959600" cy="4321175"/>
          </a:xfrm>
        </p:spPr>
        <p:txBody>
          <a:bodyPr/>
          <a:lstStyle/>
          <a:p>
            <a:r>
              <a:rPr lang="en-US" dirty="0" smtClean="0"/>
              <a:t> Incorrect use of semaphore operations:</a:t>
            </a:r>
            <a:br>
              <a:rPr lang="en-US" dirty="0" smtClean="0"/>
            </a:br>
            <a:endParaRPr lang="en-US" dirty="0" smtClean="0"/>
          </a:p>
          <a:p>
            <a:pPr lvl="1"/>
            <a:r>
              <a:rPr lang="en-US" dirty="0" smtClean="0"/>
              <a:t> signal (</a:t>
            </a:r>
            <a:r>
              <a:rPr lang="en-US" dirty="0" err="1" smtClean="0"/>
              <a:t>mutex</a:t>
            </a:r>
            <a:r>
              <a:rPr lang="en-US" dirty="0" smtClean="0"/>
              <a:t>)  ….  wait (</a:t>
            </a:r>
            <a:r>
              <a:rPr lang="en-US" dirty="0" err="1" smtClean="0"/>
              <a:t>mutex</a:t>
            </a:r>
            <a:r>
              <a:rPr lang="en-US" dirty="0" smtClean="0"/>
              <a:t>)</a:t>
            </a:r>
            <a:br>
              <a:rPr lang="en-US" dirty="0" smtClean="0"/>
            </a:br>
            <a:endParaRPr lang="en-US" dirty="0" smtClean="0"/>
          </a:p>
          <a:p>
            <a:pPr lvl="1"/>
            <a:r>
              <a:rPr lang="en-US" dirty="0" smtClean="0"/>
              <a:t> wait (</a:t>
            </a:r>
            <a:r>
              <a:rPr lang="en-US" dirty="0" err="1" smtClean="0"/>
              <a:t>mutex</a:t>
            </a:r>
            <a:r>
              <a:rPr lang="en-US" dirty="0" smtClean="0"/>
              <a:t>)  …  wait (</a:t>
            </a:r>
            <a:r>
              <a:rPr lang="en-US" dirty="0" err="1" smtClean="0"/>
              <a:t>mutex</a:t>
            </a:r>
            <a:r>
              <a:rPr lang="en-US" dirty="0" smtClean="0"/>
              <a:t>)</a:t>
            </a:r>
          </a:p>
          <a:p>
            <a:pPr lvl="1"/>
            <a:endParaRPr lang="en-US" dirty="0" smtClean="0"/>
          </a:p>
          <a:p>
            <a:pPr lvl="1"/>
            <a:r>
              <a:rPr lang="en-US" dirty="0" smtClean="0"/>
              <a:t> Omitting  of wait (</a:t>
            </a:r>
            <a:r>
              <a:rPr lang="en-US" dirty="0" err="1" smtClean="0"/>
              <a:t>mutex</a:t>
            </a:r>
            <a:r>
              <a:rPr lang="en-US" dirty="0" smtClean="0"/>
              <a:t>) or signal (</a:t>
            </a:r>
            <a:r>
              <a:rPr lang="en-US" dirty="0" err="1" smtClean="0"/>
              <a:t>mutex</a:t>
            </a:r>
            <a:r>
              <a:rPr lang="en-US" dirty="0" smtClean="0"/>
              <a:t>) (or both)</a:t>
            </a:r>
          </a:p>
          <a:p>
            <a:pPr lvl="1"/>
            <a:endParaRPr lang="en-US" dirty="0" smtClean="0"/>
          </a:p>
          <a:p>
            <a:r>
              <a:rPr lang="en-US" dirty="0" smtClean="0"/>
              <a:t>Deadlock and starvation</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val="353352478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smtClean="0"/>
              <a:t>Monitors</a:t>
            </a:r>
          </a:p>
        </p:txBody>
      </p:sp>
      <p:sp>
        <p:nvSpPr>
          <p:cNvPr id="39939" name="Rectangle 3"/>
          <p:cNvSpPr>
            <a:spLocks noGrp="1" noChangeArrowheads="1"/>
          </p:cNvSpPr>
          <p:nvPr>
            <p:ph idx="1"/>
          </p:nvPr>
        </p:nvSpPr>
        <p:spPr>
          <a:xfrm>
            <a:off x="802735" y="1421299"/>
            <a:ext cx="7649633" cy="4321175"/>
          </a:xfrm>
        </p:spPr>
        <p:txBody>
          <a:bodyPr>
            <a:normAutofit/>
          </a:bodyPr>
          <a:lstStyle/>
          <a:p>
            <a:pPr>
              <a:lnSpc>
                <a:spcPct val="80000"/>
              </a:lnSpc>
            </a:pPr>
            <a:r>
              <a:rPr lang="en-US" sz="1533" dirty="0"/>
              <a:t>A high-level abstraction that provides a convenient and effective mechanism for process synchronization</a:t>
            </a:r>
          </a:p>
          <a:p>
            <a:r>
              <a:rPr lang="en-IN" sz="1600" dirty="0"/>
              <a:t>Goal of OS is to share resources amongst many programs.</a:t>
            </a:r>
          </a:p>
          <a:p>
            <a:r>
              <a:rPr lang="en-IN" sz="1600" dirty="0"/>
              <a:t>Separate schedulers should be created for each class of resource.</a:t>
            </a:r>
          </a:p>
          <a:p>
            <a:r>
              <a:rPr lang="en-IN" sz="1600" dirty="0"/>
              <a:t>Each scheduler contains local data + procedures that programs may use to acquire and release resources</a:t>
            </a:r>
            <a:r>
              <a:rPr lang="en-IN" sz="1600" dirty="0"/>
              <a:t>.</a:t>
            </a:r>
            <a:r>
              <a:rPr lang="en-IN" sz="1600" dirty="0"/>
              <a:t> Such a collection of data + procedures is a monitor</a:t>
            </a:r>
            <a:r>
              <a:rPr lang="en-IN" sz="1600" dirty="0"/>
              <a:t>.</a:t>
            </a:r>
            <a:r>
              <a:rPr lang="en-IN" sz="1600" dirty="0"/>
              <a:t> </a:t>
            </a:r>
            <a:endParaRPr lang="en-IN" sz="1600" dirty="0"/>
          </a:p>
          <a:p>
            <a:endParaRPr lang="en-US" sz="1533" dirty="0"/>
          </a:p>
          <a:p>
            <a:pPr>
              <a:lnSpc>
                <a:spcPct val="80000"/>
              </a:lnSpc>
            </a:pPr>
            <a:r>
              <a:rPr lang="en-US" sz="1533" i="1" dirty="0"/>
              <a:t>Abstract data type</a:t>
            </a:r>
            <a:r>
              <a:rPr lang="en-US" sz="1533" dirty="0"/>
              <a:t>, internal variables only accessible by code within the procedure</a:t>
            </a:r>
          </a:p>
          <a:p>
            <a:r>
              <a:rPr lang="en-US" sz="1533" dirty="0"/>
              <a:t>Only one process may be active within the monitor at a time </a:t>
            </a:r>
            <a:r>
              <a:rPr lang="en-IN" sz="1600" dirty="0"/>
              <a:t>If more than one program attempts to enter at the same time, only one will succeed, and the remaining programs will remain on a queue.</a:t>
            </a:r>
          </a:p>
          <a:p>
            <a:r>
              <a:rPr lang="en-IN" sz="1600" dirty="0"/>
              <a:t> </a:t>
            </a:r>
          </a:p>
          <a:p>
            <a:pPr>
              <a:lnSpc>
                <a:spcPct val="80000"/>
              </a:lnSpc>
            </a:pPr>
            <a:endParaRPr lang="en-US" sz="1533" dirty="0"/>
          </a:p>
          <a:p>
            <a:pPr>
              <a:lnSpc>
                <a:spcPct val="80000"/>
              </a:lnSpc>
            </a:pPr>
            <a:r>
              <a:rPr lang="en-US" sz="1533" dirty="0"/>
              <a:t>But not powerful enough to model some synchronization schemes</a:t>
            </a:r>
          </a:p>
          <a:p>
            <a:pPr lvl="2">
              <a:lnSpc>
                <a:spcPct val="80000"/>
              </a:lnSpc>
              <a:buFont typeface="Webdings" charset="2"/>
              <a:buNone/>
            </a:pPr>
            <a:endParaRPr lang="en-US" sz="1333" dirty="0">
              <a:solidFill>
                <a:srgbClr val="0000FF"/>
              </a:solidFill>
            </a:endParaRPr>
          </a:p>
        </p:txBody>
      </p:sp>
    </p:spTree>
    <p:extLst>
      <p:ext uri="{BB962C8B-B14F-4D97-AF65-F5344CB8AC3E}">
        <p14:creationId xmlns:p14="http://schemas.microsoft.com/office/powerpoint/2010/main" val="176823179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2">
              <a:lnSpc>
                <a:spcPct val="80000"/>
              </a:lnSpc>
              <a:buNone/>
            </a:pPr>
            <a:r>
              <a:rPr lang="en-US" sz="1533" dirty="0">
                <a:solidFill>
                  <a:srgbClr val="0000FF"/>
                </a:solidFill>
              </a:rPr>
              <a:t>monitor monitor-name</a:t>
            </a:r>
          </a:p>
          <a:p>
            <a:pPr lvl="2">
              <a:lnSpc>
                <a:spcPct val="80000"/>
              </a:lnSpc>
              <a:buNone/>
            </a:pPr>
            <a:r>
              <a:rPr lang="en-US" sz="1533" dirty="0">
                <a:solidFill>
                  <a:srgbClr val="0000FF"/>
                </a:solidFill>
              </a:rPr>
              <a:t>{</a:t>
            </a:r>
          </a:p>
          <a:p>
            <a:pPr lvl="2">
              <a:lnSpc>
                <a:spcPct val="80000"/>
              </a:lnSpc>
              <a:buNone/>
            </a:pPr>
            <a:r>
              <a:rPr lang="en-US" sz="1533" dirty="0">
                <a:solidFill>
                  <a:srgbClr val="0000FF"/>
                </a:solidFill>
              </a:rPr>
              <a:t>	// shared variable declarations</a:t>
            </a:r>
          </a:p>
          <a:p>
            <a:pPr lvl="2">
              <a:lnSpc>
                <a:spcPct val="80000"/>
              </a:lnSpc>
              <a:buNone/>
            </a:pPr>
            <a:r>
              <a:rPr lang="en-US" sz="1533" dirty="0">
                <a:solidFill>
                  <a:srgbClr val="0000FF"/>
                </a:solidFill>
              </a:rPr>
              <a:t>	procedure P1 (…) { …. }</a:t>
            </a:r>
          </a:p>
          <a:p>
            <a:pPr lvl="2">
              <a:lnSpc>
                <a:spcPct val="80000"/>
              </a:lnSpc>
              <a:buNone/>
            </a:pPr>
            <a:endParaRPr lang="en-US" sz="1533" dirty="0">
              <a:solidFill>
                <a:srgbClr val="0000FF"/>
              </a:solidFill>
            </a:endParaRPr>
          </a:p>
          <a:p>
            <a:pPr lvl="2">
              <a:lnSpc>
                <a:spcPct val="80000"/>
              </a:lnSpc>
              <a:buNone/>
            </a:pPr>
            <a:r>
              <a:rPr lang="en-US" sz="1533" dirty="0">
                <a:solidFill>
                  <a:srgbClr val="0000FF"/>
                </a:solidFill>
              </a:rPr>
              <a:t>	procedure </a:t>
            </a:r>
            <a:r>
              <a:rPr lang="en-US" sz="1533" dirty="0" err="1">
                <a:solidFill>
                  <a:srgbClr val="0000FF"/>
                </a:solidFill>
              </a:rPr>
              <a:t>Pn</a:t>
            </a:r>
            <a:r>
              <a:rPr lang="en-US" sz="1533" dirty="0">
                <a:solidFill>
                  <a:srgbClr val="0000FF"/>
                </a:solidFill>
              </a:rPr>
              <a:t> (…) {……}</a:t>
            </a:r>
          </a:p>
          <a:p>
            <a:pPr lvl="2">
              <a:lnSpc>
                <a:spcPct val="80000"/>
              </a:lnSpc>
              <a:buNone/>
            </a:pPr>
            <a:endParaRPr lang="en-US" sz="1533" dirty="0">
              <a:solidFill>
                <a:srgbClr val="0000FF"/>
              </a:solidFill>
            </a:endParaRPr>
          </a:p>
          <a:p>
            <a:pPr lvl="2">
              <a:lnSpc>
                <a:spcPct val="80000"/>
              </a:lnSpc>
              <a:buNone/>
            </a:pPr>
            <a:r>
              <a:rPr lang="en-US" sz="1533" dirty="0">
                <a:solidFill>
                  <a:srgbClr val="0000FF"/>
                </a:solidFill>
              </a:rPr>
              <a:t>    Initialization code (…) { … }</a:t>
            </a:r>
          </a:p>
          <a:p>
            <a:pPr lvl="2">
              <a:lnSpc>
                <a:spcPct val="80000"/>
              </a:lnSpc>
              <a:buNone/>
            </a:pPr>
            <a:r>
              <a:rPr lang="en-US" sz="1533" dirty="0">
                <a:solidFill>
                  <a:srgbClr val="0000FF"/>
                </a:solidFill>
              </a:rPr>
              <a:t>	}</a:t>
            </a:r>
          </a:p>
          <a:p>
            <a:pPr lvl="2">
              <a:lnSpc>
                <a:spcPct val="80000"/>
              </a:lnSpc>
              <a:buNone/>
            </a:pPr>
            <a:r>
              <a:rPr lang="en-US" sz="1533" dirty="0">
                <a:solidFill>
                  <a:srgbClr val="0000FF"/>
                </a:solidFill>
              </a:rPr>
              <a:t>}</a:t>
            </a:r>
          </a:p>
          <a:p>
            <a:endParaRPr lang="en-IN" dirty="0"/>
          </a:p>
        </p:txBody>
      </p:sp>
    </p:spTree>
    <p:extLst>
      <p:ext uri="{BB962C8B-B14F-4D97-AF65-F5344CB8AC3E}">
        <p14:creationId xmlns:p14="http://schemas.microsoft.com/office/powerpoint/2010/main" val="35371382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22376" y="627592"/>
            <a:ext cx="7464425" cy="512233"/>
          </a:xfrm>
        </p:spPr>
        <p:txBody>
          <a:bodyPr>
            <a:normAutofit/>
          </a:bodyPr>
          <a:lstStyle/>
          <a:p>
            <a:pPr eaLnBrk="1" hangingPunct="1"/>
            <a:r>
              <a:rPr lang="en-US" smtClean="0"/>
              <a:t>Schematic view of a Monitor</a:t>
            </a:r>
          </a:p>
        </p:txBody>
      </p:sp>
      <p:pic>
        <p:nvPicPr>
          <p:cNvPr id="40963" name="Picture 4" descr="6"/>
          <p:cNvPicPr>
            <a:picLocks noChangeAspect="1" noChangeArrowheads="1"/>
          </p:cNvPicPr>
          <p:nvPr/>
        </p:nvPicPr>
        <p:blipFill>
          <a:blip r:embed="rId3"/>
          <a:srcRect/>
          <a:stretch>
            <a:fillRect/>
          </a:stretch>
        </p:blipFill>
        <p:spPr bwMode="auto">
          <a:xfrm>
            <a:off x="973494" y="1223110"/>
            <a:ext cx="5412317" cy="4574117"/>
          </a:xfrm>
          <a:prstGeom prst="rect">
            <a:avLst/>
          </a:prstGeom>
          <a:noFill/>
          <a:ln w="9525">
            <a:noFill/>
            <a:miter lim="800000"/>
            <a:headEnd/>
            <a:tailEnd/>
          </a:ln>
        </p:spPr>
      </p:pic>
      <p:sp>
        <p:nvSpPr>
          <p:cNvPr id="2" name="TextBox 1"/>
          <p:cNvSpPr txBox="1"/>
          <p:nvPr/>
        </p:nvSpPr>
        <p:spPr>
          <a:xfrm>
            <a:off x="4528457" y="2632788"/>
            <a:ext cx="4316963" cy="1754326"/>
          </a:xfrm>
          <a:prstGeom prst="rect">
            <a:avLst/>
          </a:prstGeom>
          <a:noFill/>
        </p:spPr>
        <p:txBody>
          <a:bodyPr wrap="square" rtlCol="0">
            <a:spAutoFit/>
          </a:bodyPr>
          <a:lstStyle/>
          <a:p>
            <a:pPr marL="228611" indent="-228611">
              <a:buFont typeface="+mj-lt"/>
              <a:buAutoNum type="arabicPeriod"/>
            </a:pPr>
            <a:r>
              <a:rPr lang="en-IN" sz="1200" dirty="0"/>
              <a:t>The </a:t>
            </a:r>
            <a:r>
              <a:rPr lang="en-IN" sz="1200" b="1" i="1" dirty="0"/>
              <a:t>initialization</a:t>
            </a:r>
            <a:r>
              <a:rPr lang="en-IN" sz="1200" dirty="0"/>
              <a:t> component contains the code that is used exactly once when the monitor is created</a:t>
            </a:r>
            <a:endParaRPr lang="en-US" sz="1200" dirty="0">
              <a:solidFill>
                <a:srgbClr val="0000FF"/>
              </a:solidFill>
            </a:endParaRPr>
          </a:p>
          <a:p>
            <a:pPr marL="228611" indent="-228611">
              <a:buFont typeface="+mj-lt"/>
              <a:buAutoNum type="arabicPeriod"/>
            </a:pPr>
            <a:r>
              <a:rPr lang="en-IN" sz="1200" dirty="0"/>
              <a:t>The</a:t>
            </a:r>
            <a:r>
              <a:rPr lang="en-IN" sz="1200" dirty="0"/>
              <a:t> </a:t>
            </a:r>
            <a:r>
              <a:rPr lang="en-IN" sz="1200" b="1" i="1" dirty="0"/>
              <a:t>monitor procedures</a:t>
            </a:r>
            <a:r>
              <a:rPr lang="en-IN" sz="1200" dirty="0"/>
              <a:t> are procedures that can be called from outside of the monitor. </a:t>
            </a:r>
          </a:p>
          <a:p>
            <a:pPr marL="228611" indent="-228611">
              <a:buFont typeface="+mj-lt"/>
              <a:buAutoNum type="arabicPeriod"/>
            </a:pPr>
            <a:r>
              <a:rPr lang="en-IN" sz="1200" dirty="0"/>
              <a:t>The </a:t>
            </a:r>
            <a:r>
              <a:rPr lang="en-IN" sz="1200" b="1" i="1" dirty="0"/>
              <a:t>monitor entry queue</a:t>
            </a:r>
            <a:r>
              <a:rPr lang="en-IN" sz="1200" dirty="0"/>
              <a:t> contains all threads that called monitor procedures but have not been granted permissions. </a:t>
            </a:r>
            <a:endParaRPr lang="en-IN" sz="1200" dirty="0"/>
          </a:p>
          <a:p>
            <a:pPr marL="228611" indent="-228611">
              <a:buFont typeface="+mj-lt"/>
              <a:buAutoNum type="arabicPeriod"/>
            </a:pPr>
            <a:r>
              <a:rPr lang="en-IN" sz="1200" dirty="0">
                <a:solidFill>
                  <a:srgbClr val="0000FF"/>
                </a:solidFill>
              </a:rPr>
              <a:t>Shared Data</a:t>
            </a:r>
            <a:endParaRPr lang="en-US" sz="1200" dirty="0">
              <a:solidFill>
                <a:srgbClr val="0000FF"/>
              </a:solidFill>
            </a:endParaRPr>
          </a:p>
          <a:p>
            <a:endParaRPr lang="en-IN" sz="1200" dirty="0"/>
          </a:p>
        </p:txBody>
      </p:sp>
    </p:spTree>
    <p:extLst>
      <p:ext uri="{BB962C8B-B14F-4D97-AF65-F5344CB8AC3E}">
        <p14:creationId xmlns:p14="http://schemas.microsoft.com/office/powerpoint/2010/main" val="23832810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a:xfrm>
            <a:off x="1027642" y="627592"/>
            <a:ext cx="7659158" cy="512233"/>
          </a:xfrm>
        </p:spPr>
        <p:txBody>
          <a:bodyPr>
            <a:normAutofit/>
          </a:bodyPr>
          <a:lstStyle/>
          <a:p>
            <a:pPr eaLnBrk="1" hangingPunct="1"/>
            <a:r>
              <a:rPr lang="en-US" smtClean="0"/>
              <a:t>Condition Variables</a:t>
            </a:r>
          </a:p>
        </p:txBody>
      </p:sp>
      <p:sp>
        <p:nvSpPr>
          <p:cNvPr id="41987" name="Rectangle 5"/>
          <p:cNvSpPr>
            <a:spLocks noGrp="1" noChangeArrowheads="1"/>
          </p:cNvSpPr>
          <p:nvPr>
            <p:ph idx="1"/>
          </p:nvPr>
        </p:nvSpPr>
        <p:spPr>
          <a:xfrm>
            <a:off x="827617" y="1609725"/>
            <a:ext cx="7665509" cy="3906308"/>
          </a:xfrm>
        </p:spPr>
        <p:txBody>
          <a:bodyPr/>
          <a:lstStyle/>
          <a:p>
            <a:r>
              <a:rPr lang="en-US" sz="1467" dirty="0">
                <a:solidFill>
                  <a:srgbClr val="0000FF"/>
                </a:solidFill>
              </a:rPr>
              <a:t>condition x, y;</a:t>
            </a:r>
          </a:p>
          <a:p>
            <a:endParaRPr lang="en-US" sz="1467" dirty="0">
              <a:solidFill>
                <a:srgbClr val="0000FF"/>
              </a:solidFill>
            </a:endParaRPr>
          </a:p>
          <a:p>
            <a:r>
              <a:rPr lang="en-US" sz="1467" dirty="0"/>
              <a:t>Two operations on a condition variable:</a:t>
            </a:r>
          </a:p>
          <a:p>
            <a:pPr lvl="1"/>
            <a:r>
              <a:rPr lang="en-US" sz="1467" dirty="0" err="1">
                <a:solidFill>
                  <a:srgbClr val="0000FF"/>
                </a:solidFill>
              </a:rPr>
              <a:t>x.wait</a:t>
            </a:r>
            <a:r>
              <a:rPr lang="en-US" sz="1467" dirty="0">
                <a:solidFill>
                  <a:srgbClr val="0000FF"/>
                </a:solidFill>
              </a:rPr>
              <a:t> () </a:t>
            </a:r>
            <a:r>
              <a:rPr lang="en-US" sz="1467" dirty="0"/>
              <a:t> – a process that invokes the operation is suspended until </a:t>
            </a:r>
            <a:r>
              <a:rPr lang="en-US" sz="1467" dirty="0" err="1">
                <a:solidFill>
                  <a:srgbClr val="0000FF"/>
                </a:solidFill>
              </a:rPr>
              <a:t>x.signal</a:t>
            </a:r>
            <a:r>
              <a:rPr lang="en-US" sz="1467" dirty="0">
                <a:solidFill>
                  <a:srgbClr val="0000FF"/>
                </a:solidFill>
              </a:rPr>
              <a:t> () </a:t>
            </a:r>
          </a:p>
          <a:p>
            <a:pPr marL="434997" lvl="1" indent="0">
              <a:buNone/>
            </a:pPr>
            <a:r>
              <a:rPr lang="en-IN" sz="1600" dirty="0"/>
              <a:t>If a procedure calls wait, the calling program will block until some other procedure calls signal</a:t>
            </a:r>
            <a:r>
              <a:rPr lang="en-IN" sz="1600" dirty="0"/>
              <a:t>.</a:t>
            </a:r>
          </a:p>
          <a:p>
            <a:pPr marL="434997" lvl="1" indent="0">
              <a:buNone/>
            </a:pPr>
            <a:endParaRPr lang="en-US" sz="1467" dirty="0"/>
          </a:p>
          <a:p>
            <a:pPr lvl="1"/>
            <a:r>
              <a:rPr lang="en-US" sz="1467" dirty="0" err="1">
                <a:solidFill>
                  <a:srgbClr val="0000FF"/>
                </a:solidFill>
              </a:rPr>
              <a:t>x.signal</a:t>
            </a:r>
            <a:r>
              <a:rPr lang="en-US" sz="1467" dirty="0">
                <a:solidFill>
                  <a:srgbClr val="0000FF"/>
                </a:solidFill>
              </a:rPr>
              <a:t> () </a:t>
            </a:r>
            <a:r>
              <a:rPr lang="en-US" sz="1467" dirty="0"/>
              <a:t>–</a:t>
            </a:r>
            <a:r>
              <a:rPr lang="en-US" sz="1467" dirty="0">
                <a:solidFill>
                  <a:srgbClr val="0000FF"/>
                </a:solidFill>
              </a:rPr>
              <a:t> </a:t>
            </a:r>
            <a:r>
              <a:rPr lang="en-US" sz="1467" dirty="0"/>
              <a:t>resumes one of processes</a:t>
            </a:r>
            <a:r>
              <a:rPr lang="en-US" sz="1467" dirty="0">
                <a:solidFill>
                  <a:srgbClr val="0000FF"/>
                </a:solidFill>
              </a:rPr>
              <a:t> </a:t>
            </a:r>
            <a:r>
              <a:rPr lang="en-US" sz="1467" dirty="0"/>
              <a:t>(if any)</a:t>
            </a:r>
            <a:r>
              <a:rPr lang="en-US" sz="1467" dirty="0">
                <a:solidFill>
                  <a:srgbClr val="0000FF"/>
                </a:solidFill>
              </a:rPr>
              <a:t> </a:t>
            </a:r>
            <a:r>
              <a:rPr lang="en-US" sz="1467" dirty="0"/>
              <a:t>that</a:t>
            </a:r>
            <a:r>
              <a:rPr lang="en-US" sz="1467" dirty="0">
                <a:solidFill>
                  <a:srgbClr val="0000FF"/>
                </a:solidFill>
              </a:rPr>
              <a:t> </a:t>
            </a:r>
            <a:r>
              <a:rPr lang="en-US" sz="1467" dirty="0"/>
              <a:t> invoked</a:t>
            </a:r>
            <a:r>
              <a:rPr lang="en-US" sz="1467" dirty="0">
                <a:solidFill>
                  <a:srgbClr val="0000FF"/>
                </a:solidFill>
              </a:rPr>
              <a:t> </a:t>
            </a:r>
            <a:r>
              <a:rPr lang="en-US" sz="1467" dirty="0" err="1">
                <a:solidFill>
                  <a:srgbClr val="0000FF"/>
                </a:solidFill>
              </a:rPr>
              <a:t>x.wait</a:t>
            </a:r>
            <a:r>
              <a:rPr lang="en-US" sz="1467" dirty="0">
                <a:solidFill>
                  <a:srgbClr val="0000FF"/>
                </a:solidFill>
              </a:rPr>
              <a:t> ()</a:t>
            </a:r>
          </a:p>
          <a:p>
            <a:pPr marL="434997" lvl="1" indent="0">
              <a:buNone/>
            </a:pPr>
            <a:r>
              <a:rPr lang="en-IN" sz="1600" dirty="0"/>
              <a:t>When a procedure calls signal, </a:t>
            </a:r>
            <a:r>
              <a:rPr lang="en-IN" sz="1600" dirty="0"/>
              <a:t>then the lock </a:t>
            </a:r>
            <a:r>
              <a:rPr lang="en-IN" sz="1600" dirty="0"/>
              <a:t>on the monitor is also released, and another program that previously called wait </a:t>
            </a:r>
            <a:r>
              <a:rPr lang="en-IN" sz="1600" dirty="0"/>
              <a:t>will </a:t>
            </a:r>
            <a:r>
              <a:rPr lang="en-IN" sz="1600" dirty="0"/>
              <a:t>run immediately.</a:t>
            </a:r>
            <a:endParaRPr lang="en-US" sz="1467" dirty="0">
              <a:solidFill>
                <a:srgbClr val="0000FF"/>
              </a:solidFill>
            </a:endParaRPr>
          </a:p>
          <a:p>
            <a:pPr lvl="2"/>
            <a:r>
              <a:rPr lang="en-US" sz="1467" dirty="0"/>
              <a:t>If no </a:t>
            </a:r>
            <a:r>
              <a:rPr lang="en-US" sz="1467" dirty="0" err="1">
                <a:solidFill>
                  <a:srgbClr val="0000FF"/>
                </a:solidFill>
              </a:rPr>
              <a:t>x.wait</a:t>
            </a:r>
            <a:r>
              <a:rPr lang="en-US" sz="1467" dirty="0">
                <a:solidFill>
                  <a:srgbClr val="0000FF"/>
                </a:solidFill>
              </a:rPr>
              <a:t> () </a:t>
            </a:r>
            <a:r>
              <a:rPr lang="en-US" sz="1467" dirty="0"/>
              <a:t>on the variable, then it has no effect on the variable.</a:t>
            </a:r>
          </a:p>
        </p:txBody>
      </p:sp>
    </p:spTree>
    <p:extLst>
      <p:ext uri="{BB962C8B-B14F-4D97-AF65-F5344CB8AC3E}">
        <p14:creationId xmlns:p14="http://schemas.microsoft.com/office/powerpoint/2010/main" val="197247675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840317" y="627592"/>
            <a:ext cx="7846483" cy="512233"/>
          </a:xfrm>
        </p:spPr>
        <p:txBody>
          <a:bodyPr>
            <a:normAutofit/>
          </a:bodyPr>
          <a:lstStyle/>
          <a:p>
            <a:pPr eaLnBrk="1" hangingPunct="1"/>
            <a:r>
              <a:rPr lang="en-US" smtClean="0"/>
              <a:t> Monitor with Condition Variables</a:t>
            </a:r>
          </a:p>
        </p:txBody>
      </p:sp>
      <p:pic>
        <p:nvPicPr>
          <p:cNvPr id="43011" name="Picture 4" descr="6"/>
          <p:cNvPicPr>
            <a:picLocks noChangeAspect="1" noChangeArrowheads="1"/>
          </p:cNvPicPr>
          <p:nvPr/>
        </p:nvPicPr>
        <p:blipFill>
          <a:blip r:embed="rId3"/>
          <a:srcRect/>
          <a:stretch>
            <a:fillRect/>
          </a:stretch>
        </p:blipFill>
        <p:spPr bwMode="auto">
          <a:xfrm>
            <a:off x="1129242" y="1594909"/>
            <a:ext cx="6903508" cy="4241800"/>
          </a:xfrm>
          <a:prstGeom prst="rect">
            <a:avLst/>
          </a:prstGeom>
          <a:noFill/>
          <a:ln w="9525">
            <a:noFill/>
            <a:miter lim="800000"/>
            <a:headEnd/>
            <a:tailEnd/>
          </a:ln>
        </p:spPr>
      </p:pic>
    </p:spTree>
    <p:extLst>
      <p:ext uri="{BB962C8B-B14F-4D97-AF65-F5344CB8AC3E}">
        <p14:creationId xmlns:p14="http://schemas.microsoft.com/office/powerpoint/2010/main" val="42852638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a:xfrm>
            <a:off x="1027642" y="627592"/>
            <a:ext cx="7659158" cy="512233"/>
          </a:xfrm>
        </p:spPr>
        <p:txBody>
          <a:bodyPr>
            <a:normAutofit/>
          </a:bodyPr>
          <a:lstStyle/>
          <a:p>
            <a:pPr eaLnBrk="1" hangingPunct="1"/>
            <a:r>
              <a:rPr lang="en-US" smtClean="0"/>
              <a:t>Condition Variables Choices</a:t>
            </a:r>
          </a:p>
        </p:txBody>
      </p:sp>
      <p:sp>
        <p:nvSpPr>
          <p:cNvPr id="44035" name="Rectangle 5"/>
          <p:cNvSpPr>
            <a:spLocks noGrp="1" noChangeArrowheads="1"/>
          </p:cNvSpPr>
          <p:nvPr>
            <p:ph idx="1"/>
          </p:nvPr>
        </p:nvSpPr>
        <p:spPr>
          <a:xfrm>
            <a:off x="827617" y="1609725"/>
            <a:ext cx="7665509" cy="3906308"/>
          </a:xfrm>
        </p:spPr>
        <p:txBody>
          <a:bodyPr>
            <a:normAutofit/>
          </a:bodyPr>
          <a:lstStyle/>
          <a:p>
            <a:r>
              <a:rPr lang="en-US" sz="1600" dirty="0"/>
              <a:t>If process P invokes </a:t>
            </a:r>
            <a:r>
              <a:rPr lang="en-US" sz="1600" dirty="0" err="1">
                <a:solidFill>
                  <a:srgbClr val="0000FF"/>
                </a:solidFill>
              </a:rPr>
              <a:t>x.signal</a:t>
            </a:r>
            <a:r>
              <a:rPr lang="en-US" sz="1600" dirty="0">
                <a:solidFill>
                  <a:srgbClr val="0000FF"/>
                </a:solidFill>
              </a:rPr>
              <a:t> ()</a:t>
            </a:r>
            <a:r>
              <a:rPr lang="en-US" sz="1600" dirty="0"/>
              <a:t>, with Q in </a:t>
            </a:r>
            <a:r>
              <a:rPr lang="en-US" sz="1600" dirty="0" err="1">
                <a:solidFill>
                  <a:srgbClr val="0000FF"/>
                </a:solidFill>
              </a:rPr>
              <a:t>x.wait</a:t>
            </a:r>
            <a:r>
              <a:rPr lang="en-US" sz="1600" dirty="0">
                <a:solidFill>
                  <a:srgbClr val="0000FF"/>
                </a:solidFill>
              </a:rPr>
              <a:t> ()</a:t>
            </a:r>
            <a:r>
              <a:rPr lang="en-US" sz="1600" dirty="0"/>
              <a:t> state, what should happen next?</a:t>
            </a:r>
          </a:p>
          <a:p>
            <a:pPr lvl="1"/>
            <a:r>
              <a:rPr lang="en-US" sz="1600" dirty="0"/>
              <a:t>If Q is resumed, then P must wait</a:t>
            </a:r>
          </a:p>
          <a:p>
            <a:pPr lvl="1"/>
            <a:endParaRPr lang="en-US" sz="1600" dirty="0"/>
          </a:p>
          <a:p>
            <a:r>
              <a:rPr lang="en-US" sz="1600" dirty="0"/>
              <a:t>Options include</a:t>
            </a:r>
          </a:p>
          <a:p>
            <a:pPr lvl="1"/>
            <a:r>
              <a:rPr lang="en-US" sz="1600" b="1" dirty="0"/>
              <a:t>Signal and wait </a:t>
            </a:r>
            <a:r>
              <a:rPr lang="en-US" sz="1600" dirty="0"/>
              <a:t>– P waits until Q leaves monitor or waits for another condition</a:t>
            </a:r>
          </a:p>
          <a:p>
            <a:pPr lvl="1"/>
            <a:r>
              <a:rPr lang="en-US" sz="1600" b="1" dirty="0"/>
              <a:t>Signal and continue </a:t>
            </a:r>
            <a:r>
              <a:rPr lang="en-US" sz="1600" dirty="0"/>
              <a:t>– Q waits until P leaves the monitor or waits for another condition</a:t>
            </a:r>
          </a:p>
          <a:p>
            <a:pPr lvl="1"/>
            <a:r>
              <a:rPr lang="en-US" sz="1600" dirty="0"/>
              <a:t>Both have pros and cons – language implementer can decide</a:t>
            </a:r>
          </a:p>
          <a:p>
            <a:pPr lvl="1"/>
            <a:r>
              <a:rPr lang="en-US" sz="1600" dirty="0"/>
              <a:t>Monitors implemented in Concurrent Pascal compromise</a:t>
            </a:r>
          </a:p>
          <a:p>
            <a:pPr lvl="2"/>
            <a:r>
              <a:rPr lang="en-US" sz="1600" dirty="0"/>
              <a:t>P executing signal immediately leaves the monitor, Q is resumed</a:t>
            </a:r>
          </a:p>
          <a:p>
            <a:pPr lvl="1"/>
            <a:r>
              <a:rPr lang="en-US" sz="1600" dirty="0"/>
              <a:t>Implemented in other languages including Mesa, C#, Java</a:t>
            </a:r>
          </a:p>
          <a:p>
            <a:endParaRPr lang="en-US" dirty="0" smtClean="0"/>
          </a:p>
        </p:txBody>
      </p:sp>
    </p:spTree>
    <p:extLst>
      <p:ext uri="{BB962C8B-B14F-4D97-AF65-F5344CB8AC3E}">
        <p14:creationId xmlns:p14="http://schemas.microsoft.com/office/powerpoint/2010/main" val="552676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857250" y="589492"/>
            <a:ext cx="8077200" cy="541867"/>
          </a:xfrm>
        </p:spPr>
        <p:txBody>
          <a:bodyPr>
            <a:normAutofit/>
          </a:bodyPr>
          <a:lstStyle/>
          <a:p>
            <a:pPr eaLnBrk="1" hangingPunct="1"/>
            <a:r>
              <a:rPr lang="en-US" smtClean="0"/>
              <a:t>Solution to Dining Philosophers</a:t>
            </a:r>
          </a:p>
        </p:txBody>
      </p:sp>
      <p:sp>
        <p:nvSpPr>
          <p:cNvPr id="45059" name="Rectangle 3"/>
          <p:cNvSpPr>
            <a:spLocks noGrp="1" noChangeArrowheads="1"/>
          </p:cNvSpPr>
          <p:nvPr>
            <p:ph idx="1"/>
          </p:nvPr>
        </p:nvSpPr>
        <p:spPr>
          <a:xfrm>
            <a:off x="827617" y="1518709"/>
            <a:ext cx="7122583" cy="4785783"/>
          </a:xfrm>
        </p:spPr>
        <p:txBody>
          <a:bodyPr>
            <a:normAutofit/>
          </a:bodyPr>
          <a:lstStyle/>
          <a:p>
            <a:pPr>
              <a:lnSpc>
                <a:spcPct val="80000"/>
              </a:lnSpc>
              <a:buFont typeface="Monotype Sorts" charset="2"/>
              <a:buNone/>
            </a:pPr>
            <a:r>
              <a:rPr lang="en-US" sz="1533" dirty="0">
                <a:solidFill>
                  <a:srgbClr val="0000FF"/>
                </a:solidFill>
              </a:rPr>
              <a:t>monitor </a:t>
            </a:r>
            <a:r>
              <a:rPr lang="en-US" sz="1533" dirty="0" err="1">
                <a:solidFill>
                  <a:srgbClr val="0000FF"/>
                </a:solidFill>
              </a:rPr>
              <a:t>DiningPhilosophers</a:t>
            </a:r>
            <a:endParaRPr lang="en-US" sz="1533" dirty="0">
              <a:solidFill>
                <a:srgbClr val="0000FF"/>
              </a:solidFill>
            </a:endParaRPr>
          </a:p>
          <a:p>
            <a:pPr>
              <a:lnSpc>
                <a:spcPct val="80000"/>
              </a:lnSpc>
              <a:buFont typeface="Monotype Sorts" charset="2"/>
              <a:buNone/>
            </a:pPr>
            <a:r>
              <a:rPr lang="en-US" sz="1533" dirty="0">
                <a:solidFill>
                  <a:srgbClr val="0000FF"/>
                </a:solidFill>
              </a:rPr>
              <a:t>   { </a:t>
            </a:r>
          </a:p>
          <a:p>
            <a:pPr>
              <a:lnSpc>
                <a:spcPct val="80000"/>
              </a:lnSpc>
              <a:buFont typeface="Monotype Sorts" charset="2"/>
              <a:buNone/>
            </a:pPr>
            <a:r>
              <a:rPr lang="en-US" sz="1533" dirty="0">
                <a:solidFill>
                  <a:srgbClr val="0000FF"/>
                </a:solidFill>
              </a:rPr>
              <a:t>	</a:t>
            </a:r>
            <a:r>
              <a:rPr lang="en-US" sz="1533" dirty="0" err="1">
                <a:solidFill>
                  <a:srgbClr val="0000FF"/>
                </a:solidFill>
              </a:rPr>
              <a:t>enum</a:t>
            </a:r>
            <a:r>
              <a:rPr lang="en-US" sz="1533" dirty="0">
                <a:solidFill>
                  <a:srgbClr val="0000FF"/>
                </a:solidFill>
              </a:rPr>
              <a:t> { THINKING; HUNGRY, EATING) state [5] ;</a:t>
            </a:r>
          </a:p>
          <a:p>
            <a:pPr>
              <a:lnSpc>
                <a:spcPct val="80000"/>
              </a:lnSpc>
              <a:buFont typeface="Monotype Sorts" charset="2"/>
              <a:buNone/>
            </a:pPr>
            <a:r>
              <a:rPr lang="en-US" sz="1533" dirty="0">
                <a:solidFill>
                  <a:srgbClr val="0000FF"/>
                </a:solidFill>
              </a:rPr>
              <a:t>	condition self [5];</a:t>
            </a:r>
          </a:p>
          <a:p>
            <a:pPr>
              <a:lnSpc>
                <a:spcPct val="80000"/>
              </a:lnSpc>
              <a:buFont typeface="Monotype Sorts" charset="2"/>
              <a:buNone/>
            </a:pPr>
            <a:endParaRPr lang="en-US" sz="1533" dirty="0">
              <a:solidFill>
                <a:srgbClr val="0000FF"/>
              </a:solidFill>
            </a:endParaRPr>
          </a:p>
          <a:p>
            <a:pPr>
              <a:lnSpc>
                <a:spcPct val="80000"/>
              </a:lnSpc>
              <a:buFont typeface="Monotype Sorts" charset="2"/>
              <a:buNone/>
            </a:pPr>
            <a:r>
              <a:rPr lang="en-US" sz="1533" dirty="0">
                <a:solidFill>
                  <a:srgbClr val="0000FF"/>
                </a:solidFill>
              </a:rPr>
              <a:t>	void pickup (</a:t>
            </a:r>
            <a:r>
              <a:rPr lang="en-US" sz="1533" dirty="0" err="1">
                <a:solidFill>
                  <a:srgbClr val="0000FF"/>
                </a:solidFill>
              </a:rPr>
              <a:t>int</a:t>
            </a:r>
            <a:r>
              <a:rPr lang="en-US" sz="1533" dirty="0">
                <a:solidFill>
                  <a:srgbClr val="0000FF"/>
                </a:solidFill>
              </a:rPr>
              <a:t> i) { </a:t>
            </a:r>
          </a:p>
          <a:p>
            <a:pPr>
              <a:lnSpc>
                <a:spcPct val="80000"/>
              </a:lnSpc>
              <a:buFont typeface="Monotype Sorts" charset="2"/>
              <a:buNone/>
            </a:pPr>
            <a:r>
              <a:rPr lang="en-US" sz="1533" dirty="0">
                <a:solidFill>
                  <a:srgbClr val="0000FF"/>
                </a:solidFill>
              </a:rPr>
              <a:t>	       state[i] = HUNGRY;</a:t>
            </a:r>
          </a:p>
          <a:p>
            <a:pPr>
              <a:lnSpc>
                <a:spcPct val="80000"/>
              </a:lnSpc>
              <a:buFont typeface="Monotype Sorts" charset="2"/>
              <a:buNone/>
            </a:pPr>
            <a:r>
              <a:rPr lang="en-US" sz="1533" dirty="0">
                <a:solidFill>
                  <a:srgbClr val="0000FF"/>
                </a:solidFill>
              </a:rPr>
              <a:t>	       test(i);</a:t>
            </a:r>
          </a:p>
          <a:p>
            <a:pPr>
              <a:lnSpc>
                <a:spcPct val="80000"/>
              </a:lnSpc>
              <a:buFont typeface="Monotype Sorts" charset="2"/>
              <a:buNone/>
            </a:pPr>
            <a:r>
              <a:rPr lang="en-US" sz="1533" dirty="0">
                <a:solidFill>
                  <a:srgbClr val="0000FF"/>
                </a:solidFill>
              </a:rPr>
              <a:t>	       if (state[i] != EATING) self [i].wait;</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r>
              <a:rPr lang="en-US" sz="1533" dirty="0">
                <a:solidFill>
                  <a:srgbClr val="0000FF"/>
                </a:solidFill>
              </a:rPr>
              <a:t>       void putdown (</a:t>
            </a:r>
            <a:r>
              <a:rPr lang="en-US" sz="1533" dirty="0" err="1">
                <a:solidFill>
                  <a:srgbClr val="0000FF"/>
                </a:solidFill>
              </a:rPr>
              <a:t>int</a:t>
            </a:r>
            <a:r>
              <a:rPr lang="en-US" sz="1533" dirty="0">
                <a:solidFill>
                  <a:srgbClr val="0000FF"/>
                </a:solidFill>
              </a:rPr>
              <a:t> i) { </a:t>
            </a:r>
          </a:p>
          <a:p>
            <a:pPr>
              <a:lnSpc>
                <a:spcPct val="80000"/>
              </a:lnSpc>
              <a:buFont typeface="Monotype Sorts" charset="2"/>
              <a:buNone/>
            </a:pPr>
            <a:r>
              <a:rPr lang="en-US" sz="1533" dirty="0">
                <a:solidFill>
                  <a:srgbClr val="0000FF"/>
                </a:solidFill>
              </a:rPr>
              <a:t>	       state[i] = THINKING;</a:t>
            </a:r>
          </a:p>
          <a:p>
            <a:pPr>
              <a:lnSpc>
                <a:spcPct val="80000"/>
              </a:lnSpc>
              <a:buFont typeface="Monotype Sorts" charset="2"/>
              <a:buNone/>
            </a:pPr>
            <a:r>
              <a:rPr lang="en-US" sz="1533" dirty="0">
                <a:solidFill>
                  <a:srgbClr val="0000FF"/>
                </a:solidFill>
              </a:rPr>
              <a:t>                   // test left and right neighbors</a:t>
            </a:r>
          </a:p>
          <a:p>
            <a:pPr>
              <a:lnSpc>
                <a:spcPct val="80000"/>
              </a:lnSpc>
              <a:buFont typeface="Monotype Sorts" charset="2"/>
              <a:buNone/>
            </a:pPr>
            <a:r>
              <a:rPr lang="en-US" sz="1533" dirty="0">
                <a:solidFill>
                  <a:srgbClr val="0000FF"/>
                </a:solidFill>
              </a:rPr>
              <a:t>	        test((i + 4) % 5);</a:t>
            </a:r>
          </a:p>
          <a:p>
            <a:pPr>
              <a:lnSpc>
                <a:spcPct val="80000"/>
              </a:lnSpc>
              <a:buFont typeface="Monotype Sorts" charset="2"/>
              <a:buNone/>
            </a:pPr>
            <a:r>
              <a:rPr lang="en-US" sz="1533" dirty="0">
                <a:solidFill>
                  <a:srgbClr val="0000FF"/>
                </a:solidFill>
              </a:rPr>
              <a:t>	        test((i + 1) % 5);</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r>
              <a:rPr lang="en-US" sz="1533" dirty="0">
                <a:solidFill>
                  <a:srgbClr val="0000FF"/>
                </a:solidFill>
              </a:rPr>
              <a:t>	</a:t>
            </a:r>
          </a:p>
        </p:txBody>
      </p:sp>
    </p:spTree>
    <p:extLst>
      <p:ext uri="{BB962C8B-B14F-4D97-AF65-F5344CB8AC3E}">
        <p14:creationId xmlns:p14="http://schemas.microsoft.com/office/powerpoint/2010/main" val="337719122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035050" y="568325"/>
            <a:ext cx="7917392" cy="567267"/>
          </a:xfrm>
        </p:spPr>
        <p:txBody>
          <a:bodyPr>
            <a:normAutofit/>
          </a:bodyPr>
          <a:lstStyle/>
          <a:p>
            <a:pPr eaLnBrk="1" hangingPunct="1"/>
            <a:r>
              <a:rPr lang="en-US" smtClean="0"/>
              <a:t>Solution to Dining Philosophers (Cont.)</a:t>
            </a:r>
          </a:p>
        </p:txBody>
      </p:sp>
      <p:sp>
        <p:nvSpPr>
          <p:cNvPr id="46083" name="Rectangle 3"/>
          <p:cNvSpPr>
            <a:spLocks noGrp="1" noChangeArrowheads="1"/>
          </p:cNvSpPr>
          <p:nvPr>
            <p:ph idx="1"/>
          </p:nvPr>
        </p:nvSpPr>
        <p:spPr>
          <a:xfrm>
            <a:off x="827617" y="1518709"/>
            <a:ext cx="7805209" cy="4683125"/>
          </a:xfrm>
        </p:spPr>
        <p:txBody>
          <a:bodyPr>
            <a:normAutofit/>
          </a:bodyPr>
          <a:lstStyle/>
          <a:p>
            <a:pPr>
              <a:lnSpc>
                <a:spcPct val="80000"/>
              </a:lnSpc>
              <a:buFont typeface="Monotype Sorts" charset="2"/>
              <a:buNone/>
            </a:pPr>
            <a:endParaRPr lang="en-US" sz="1533" dirty="0">
              <a:solidFill>
                <a:srgbClr val="0000FF"/>
              </a:solidFill>
            </a:endParaRPr>
          </a:p>
          <a:p>
            <a:pPr>
              <a:lnSpc>
                <a:spcPct val="80000"/>
              </a:lnSpc>
              <a:buFont typeface="Monotype Sorts" charset="2"/>
              <a:buNone/>
            </a:pPr>
            <a:r>
              <a:rPr lang="en-US" sz="1533" dirty="0">
                <a:solidFill>
                  <a:srgbClr val="0000FF"/>
                </a:solidFill>
              </a:rPr>
              <a:t>	void test (</a:t>
            </a:r>
            <a:r>
              <a:rPr lang="en-US" sz="1533" dirty="0" err="1">
                <a:solidFill>
                  <a:srgbClr val="0000FF"/>
                </a:solidFill>
              </a:rPr>
              <a:t>int</a:t>
            </a:r>
            <a:r>
              <a:rPr lang="en-US" sz="1533" dirty="0">
                <a:solidFill>
                  <a:srgbClr val="0000FF"/>
                </a:solidFill>
              </a:rPr>
              <a:t> i) { </a:t>
            </a:r>
          </a:p>
          <a:p>
            <a:pPr>
              <a:lnSpc>
                <a:spcPct val="80000"/>
              </a:lnSpc>
              <a:buFont typeface="Monotype Sorts" charset="2"/>
              <a:buNone/>
            </a:pPr>
            <a:r>
              <a:rPr lang="en-US" sz="1533" dirty="0">
                <a:solidFill>
                  <a:srgbClr val="0000FF"/>
                </a:solidFill>
              </a:rPr>
              <a:t>	        if ( (state[(i + 4) % 5] != EATING) &amp;&amp;</a:t>
            </a:r>
          </a:p>
          <a:p>
            <a:pPr>
              <a:lnSpc>
                <a:spcPct val="80000"/>
              </a:lnSpc>
              <a:buFont typeface="Monotype Sorts" charset="2"/>
              <a:buNone/>
            </a:pPr>
            <a:r>
              <a:rPr lang="en-US" sz="1533" dirty="0">
                <a:solidFill>
                  <a:srgbClr val="0000FF"/>
                </a:solidFill>
              </a:rPr>
              <a:t>	        (state[i] == HUNGRY) &amp;&amp;</a:t>
            </a:r>
          </a:p>
          <a:p>
            <a:pPr>
              <a:lnSpc>
                <a:spcPct val="80000"/>
              </a:lnSpc>
              <a:buFont typeface="Monotype Sorts" charset="2"/>
              <a:buNone/>
            </a:pPr>
            <a:r>
              <a:rPr lang="en-US" sz="1533" dirty="0">
                <a:solidFill>
                  <a:srgbClr val="0000FF"/>
                </a:solidFill>
              </a:rPr>
              <a:t>	        (state[(i + 1) % 5] != EATING) ) { </a:t>
            </a:r>
          </a:p>
          <a:p>
            <a:pPr>
              <a:lnSpc>
                <a:spcPct val="80000"/>
              </a:lnSpc>
              <a:buFont typeface="Monotype Sorts" charset="2"/>
              <a:buNone/>
            </a:pPr>
            <a:r>
              <a:rPr lang="en-US" sz="1533" dirty="0">
                <a:solidFill>
                  <a:srgbClr val="0000FF"/>
                </a:solidFill>
              </a:rPr>
              <a:t>	             state[i] = EATING ;</a:t>
            </a:r>
          </a:p>
          <a:p>
            <a:pPr>
              <a:lnSpc>
                <a:spcPct val="80000"/>
              </a:lnSpc>
              <a:buFont typeface="Monotype Sorts" charset="2"/>
              <a:buNone/>
            </a:pPr>
            <a:r>
              <a:rPr lang="en-US" sz="1533" dirty="0">
                <a:solidFill>
                  <a:srgbClr val="0000FF"/>
                </a:solidFill>
              </a:rPr>
              <a:t>		    self[i].signal () ;</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r>
              <a:rPr lang="en-US" sz="1533" dirty="0">
                <a:solidFill>
                  <a:srgbClr val="0000FF"/>
                </a:solidFill>
              </a:rPr>
              <a:t>	 }</a:t>
            </a:r>
          </a:p>
          <a:p>
            <a:pPr>
              <a:lnSpc>
                <a:spcPct val="80000"/>
              </a:lnSpc>
              <a:buFont typeface="Monotype Sorts" charset="2"/>
              <a:buNone/>
            </a:pPr>
            <a:endParaRPr lang="en-US" sz="1533" dirty="0">
              <a:solidFill>
                <a:srgbClr val="0000FF"/>
              </a:solidFill>
            </a:endParaRPr>
          </a:p>
          <a:p>
            <a:pPr>
              <a:lnSpc>
                <a:spcPct val="80000"/>
              </a:lnSpc>
              <a:buFont typeface="Monotype Sorts" charset="2"/>
              <a:buNone/>
            </a:pPr>
            <a:r>
              <a:rPr lang="en-US" sz="1533" dirty="0">
                <a:solidFill>
                  <a:srgbClr val="0000FF"/>
                </a:solidFill>
              </a:rPr>
              <a:t>       </a:t>
            </a:r>
            <a:r>
              <a:rPr lang="en-US" sz="1533" dirty="0" err="1">
                <a:solidFill>
                  <a:srgbClr val="0000FF"/>
                </a:solidFill>
              </a:rPr>
              <a:t>initialization_code</a:t>
            </a:r>
            <a:r>
              <a:rPr lang="en-US" sz="1533" dirty="0">
                <a:solidFill>
                  <a:srgbClr val="0000FF"/>
                </a:solidFill>
              </a:rPr>
              <a:t>() { </a:t>
            </a:r>
          </a:p>
          <a:p>
            <a:pPr>
              <a:lnSpc>
                <a:spcPct val="80000"/>
              </a:lnSpc>
              <a:buFont typeface="Monotype Sorts" charset="2"/>
              <a:buNone/>
            </a:pPr>
            <a:r>
              <a:rPr lang="en-US" sz="1533" dirty="0">
                <a:solidFill>
                  <a:srgbClr val="0000FF"/>
                </a:solidFill>
              </a:rPr>
              <a:t>	       for (</a:t>
            </a:r>
            <a:r>
              <a:rPr lang="en-US" sz="1533" dirty="0" err="1">
                <a:solidFill>
                  <a:srgbClr val="0000FF"/>
                </a:solidFill>
              </a:rPr>
              <a:t>int</a:t>
            </a:r>
            <a:r>
              <a:rPr lang="en-US" sz="1533" dirty="0">
                <a:solidFill>
                  <a:srgbClr val="0000FF"/>
                </a:solidFill>
              </a:rPr>
              <a:t> i = 0; i &lt; 5; i++)</a:t>
            </a:r>
          </a:p>
          <a:p>
            <a:pPr>
              <a:lnSpc>
                <a:spcPct val="80000"/>
              </a:lnSpc>
              <a:buFont typeface="Monotype Sorts" charset="2"/>
              <a:buNone/>
            </a:pPr>
            <a:r>
              <a:rPr lang="en-US" sz="1533" dirty="0">
                <a:solidFill>
                  <a:srgbClr val="0000FF"/>
                </a:solidFill>
              </a:rPr>
              <a:t>	       state[i] = THINKING;</a:t>
            </a:r>
          </a:p>
          <a:p>
            <a:pPr>
              <a:lnSpc>
                <a:spcPct val="80000"/>
              </a:lnSpc>
              <a:buFont typeface="Monotype Sorts" charset="2"/>
              <a:buNone/>
            </a:pPr>
            <a:r>
              <a:rPr lang="en-US" sz="1533" i="1" dirty="0">
                <a:solidFill>
                  <a:srgbClr val="0000FF"/>
                </a:solidFill>
              </a:rPr>
              <a:t>	</a:t>
            </a:r>
            <a:r>
              <a:rPr lang="en-US" sz="1533" dirty="0">
                <a:solidFill>
                  <a:srgbClr val="0000FF"/>
                </a:solidFill>
              </a:rPr>
              <a:t>}</a:t>
            </a:r>
          </a:p>
          <a:p>
            <a:pPr>
              <a:lnSpc>
                <a:spcPct val="80000"/>
              </a:lnSpc>
              <a:buFont typeface="Monotype Sorts" charset="2"/>
              <a:buNone/>
            </a:pPr>
            <a:r>
              <a:rPr lang="en-US" sz="1533" dirty="0">
                <a:solidFill>
                  <a:srgbClr val="0000FF"/>
                </a:solidFill>
              </a:rPr>
              <a:t>}</a:t>
            </a:r>
          </a:p>
        </p:txBody>
      </p:sp>
    </p:spTree>
    <p:extLst>
      <p:ext uri="{BB962C8B-B14F-4D97-AF65-F5344CB8AC3E}">
        <p14:creationId xmlns:p14="http://schemas.microsoft.com/office/powerpoint/2010/main" val="320124629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a:xfrm>
            <a:off x="827617" y="1518709"/>
            <a:ext cx="7805209" cy="4683125"/>
          </a:xfrm>
        </p:spPr>
        <p:txBody>
          <a:bodyPr>
            <a:normAutofit/>
          </a:bodyPr>
          <a:lstStyle/>
          <a:p>
            <a:pPr>
              <a:lnSpc>
                <a:spcPct val="80000"/>
              </a:lnSpc>
              <a:buFont typeface="Monotype Sorts" charset="2"/>
              <a:buNone/>
            </a:pPr>
            <a:endParaRPr lang="en-US" sz="1533" dirty="0">
              <a:solidFill>
                <a:srgbClr val="0000FF"/>
              </a:solidFill>
            </a:endParaRPr>
          </a:p>
          <a:p>
            <a:pPr>
              <a:lnSpc>
                <a:spcPct val="80000"/>
              </a:lnSpc>
            </a:pPr>
            <a:r>
              <a:rPr lang="en-US" dirty="0" smtClean="0"/>
              <a:t>Each philosopher </a:t>
            </a:r>
            <a:r>
              <a:rPr lang="en-US" i="1" dirty="0" smtClean="0"/>
              <a:t>i </a:t>
            </a:r>
            <a:r>
              <a:rPr lang="en-US" dirty="0" smtClean="0"/>
              <a:t>invokes the</a:t>
            </a:r>
            <a:r>
              <a:rPr lang="en-US" i="1" dirty="0" smtClean="0"/>
              <a:t> </a:t>
            </a:r>
            <a:r>
              <a:rPr lang="en-US" dirty="0" smtClean="0"/>
              <a:t>operations </a:t>
            </a:r>
            <a:r>
              <a:rPr lang="en-US" dirty="0" smtClean="0">
                <a:solidFill>
                  <a:srgbClr val="0000FF"/>
                </a:solidFill>
              </a:rPr>
              <a:t>pickup()</a:t>
            </a:r>
            <a:r>
              <a:rPr lang="en-US" i="1" dirty="0" smtClean="0"/>
              <a:t> </a:t>
            </a:r>
            <a:r>
              <a:rPr lang="en-US" dirty="0" smtClean="0"/>
              <a:t>and </a:t>
            </a:r>
            <a:r>
              <a:rPr lang="en-US" dirty="0" smtClean="0">
                <a:solidFill>
                  <a:srgbClr val="0000FF"/>
                </a:solidFill>
              </a:rPr>
              <a:t>putdown()</a:t>
            </a:r>
            <a:r>
              <a:rPr lang="en-US" dirty="0" smtClean="0"/>
              <a:t> in the following sequence:</a:t>
            </a:r>
          </a:p>
          <a:p>
            <a:pPr>
              <a:lnSpc>
                <a:spcPct val="80000"/>
              </a:lnSpc>
              <a:buFont typeface="Monotype Sorts" charset="2"/>
              <a:buNone/>
            </a:pPr>
            <a:endParaRPr lang="en-US" dirty="0" smtClean="0"/>
          </a:p>
          <a:p>
            <a:pPr>
              <a:lnSpc>
                <a:spcPct val="80000"/>
              </a:lnSpc>
              <a:buFont typeface="Monotype Sorts" charset="2"/>
              <a:buNone/>
            </a:pPr>
            <a:r>
              <a:rPr lang="en-US" dirty="0" smtClean="0">
                <a:solidFill>
                  <a:srgbClr val="0000FF"/>
                </a:solidFill>
              </a:rPr>
              <a:t>              </a:t>
            </a:r>
            <a:r>
              <a:rPr lang="en-US" dirty="0" err="1" smtClean="0">
                <a:solidFill>
                  <a:srgbClr val="0000FF"/>
                </a:solidFill>
              </a:rPr>
              <a:t>DiningPhilosophers.pickup</a:t>
            </a:r>
            <a:r>
              <a:rPr lang="en-US" dirty="0" smtClean="0">
                <a:solidFill>
                  <a:srgbClr val="0000FF"/>
                </a:solidFill>
              </a:rPr>
              <a:t> (i);</a:t>
            </a:r>
          </a:p>
          <a:p>
            <a:pPr>
              <a:lnSpc>
                <a:spcPct val="80000"/>
              </a:lnSpc>
              <a:buFont typeface="Monotype Sorts" charset="2"/>
              <a:buNone/>
            </a:pPr>
            <a:endParaRPr lang="en-US" dirty="0" smtClean="0">
              <a:solidFill>
                <a:srgbClr val="0000FF"/>
              </a:solidFill>
            </a:endParaRPr>
          </a:p>
          <a:p>
            <a:pPr>
              <a:lnSpc>
                <a:spcPct val="80000"/>
              </a:lnSpc>
              <a:buFont typeface="Monotype Sorts" charset="2"/>
              <a:buNone/>
            </a:pPr>
            <a:r>
              <a:rPr lang="en-US" dirty="0" smtClean="0">
                <a:solidFill>
                  <a:srgbClr val="0000FF"/>
                </a:solidFill>
              </a:rPr>
              <a:t>                   EAT</a:t>
            </a:r>
          </a:p>
          <a:p>
            <a:pPr>
              <a:lnSpc>
                <a:spcPct val="80000"/>
              </a:lnSpc>
              <a:buFont typeface="Monotype Sorts" charset="2"/>
              <a:buNone/>
            </a:pPr>
            <a:endParaRPr lang="en-US" dirty="0" smtClean="0">
              <a:solidFill>
                <a:srgbClr val="0000FF"/>
              </a:solidFill>
            </a:endParaRPr>
          </a:p>
          <a:p>
            <a:pPr>
              <a:lnSpc>
                <a:spcPct val="80000"/>
              </a:lnSpc>
              <a:buFont typeface="Monotype Sorts" charset="2"/>
              <a:buNone/>
            </a:pPr>
            <a:r>
              <a:rPr lang="en-US" dirty="0" smtClean="0">
                <a:solidFill>
                  <a:srgbClr val="0000FF"/>
                </a:solidFill>
              </a:rPr>
              <a:t>               </a:t>
            </a:r>
            <a:r>
              <a:rPr lang="en-US" dirty="0" err="1" smtClean="0">
                <a:solidFill>
                  <a:srgbClr val="0000FF"/>
                </a:solidFill>
              </a:rPr>
              <a:t>DiningPhilosophers.putdown</a:t>
            </a:r>
            <a:r>
              <a:rPr lang="en-US" dirty="0" smtClean="0">
                <a:solidFill>
                  <a:srgbClr val="0000FF"/>
                </a:solidFill>
              </a:rPr>
              <a:t> (i);</a:t>
            </a:r>
          </a:p>
          <a:p>
            <a:pPr>
              <a:lnSpc>
                <a:spcPct val="80000"/>
              </a:lnSpc>
              <a:buFont typeface="Monotype Sorts" charset="2"/>
              <a:buNone/>
            </a:pPr>
            <a:endParaRPr lang="en-US" dirty="0" smtClean="0">
              <a:solidFill>
                <a:srgbClr val="0000FF"/>
              </a:solidFill>
            </a:endParaRPr>
          </a:p>
          <a:p>
            <a:pPr>
              <a:lnSpc>
                <a:spcPct val="80000"/>
              </a:lnSpc>
            </a:pPr>
            <a:r>
              <a:rPr lang="en-US" dirty="0" smtClean="0"/>
              <a:t>No deadlock, but starvation is possible</a:t>
            </a:r>
          </a:p>
          <a:p>
            <a:pPr>
              <a:lnSpc>
                <a:spcPct val="80000"/>
              </a:lnSpc>
              <a:buFont typeface="Monotype Sorts" charset="2"/>
              <a:buNone/>
            </a:pPr>
            <a:endParaRPr lang="en-US" dirty="0" smtClean="0">
              <a:solidFill>
                <a:srgbClr val="0000FF"/>
              </a:solidFill>
            </a:endParaRPr>
          </a:p>
          <a:p>
            <a:pPr>
              <a:lnSpc>
                <a:spcPct val="80000"/>
              </a:lnSpc>
              <a:buFont typeface="Monotype Sorts" charset="2"/>
              <a:buNone/>
            </a:pPr>
            <a:endParaRPr lang="en-US" dirty="0" smtClean="0">
              <a:solidFill>
                <a:srgbClr val="0000FF"/>
              </a:solidFill>
            </a:endParaRPr>
          </a:p>
          <a:p>
            <a:pPr>
              <a:lnSpc>
                <a:spcPct val="80000"/>
              </a:lnSpc>
              <a:buFont typeface="Monotype Sorts" charset="2"/>
              <a:buNone/>
            </a:pPr>
            <a:r>
              <a:rPr lang="en-US" i="1" dirty="0" smtClean="0">
                <a:solidFill>
                  <a:srgbClr val="0000FF"/>
                </a:solidFill>
              </a:rPr>
              <a:t>       </a:t>
            </a:r>
          </a:p>
        </p:txBody>
      </p:sp>
      <p:sp>
        <p:nvSpPr>
          <p:cNvPr id="47107" name="Rectangle 2"/>
          <p:cNvSpPr>
            <a:spLocks noChangeArrowheads="1"/>
          </p:cNvSpPr>
          <p:nvPr/>
        </p:nvSpPr>
        <p:spPr bwMode="auto">
          <a:xfrm>
            <a:off x="1035050" y="568325"/>
            <a:ext cx="7917392" cy="567267"/>
          </a:xfrm>
          <a:prstGeom prst="rect">
            <a:avLst/>
          </a:prstGeom>
          <a:noFill/>
          <a:ln w="9525">
            <a:noFill/>
            <a:miter lim="800000"/>
            <a:headEnd/>
            <a:tailEnd/>
          </a:ln>
        </p:spPr>
        <p:txBody>
          <a:bodyPr lIns="87077" tIns="43539" rIns="87077" bIns="43539" anchor="b"/>
          <a:lstStyle/>
          <a:p>
            <a:pPr algn="ctr" eaLnBrk="1" hangingPunct="1"/>
            <a:r>
              <a:rPr lang="en-US" sz="3067" b="1">
                <a:solidFill>
                  <a:srgbClr val="006699"/>
                </a:solidFill>
                <a:latin typeface="Arial" charset="0"/>
              </a:rPr>
              <a:t>Solution to Dining Philosophers (Cont.)</a:t>
            </a:r>
          </a:p>
        </p:txBody>
      </p:sp>
    </p:spTree>
    <p:extLst>
      <p:ext uri="{BB962C8B-B14F-4D97-AF65-F5344CB8AC3E}">
        <p14:creationId xmlns:p14="http://schemas.microsoft.com/office/powerpoint/2010/main" val="208041547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038226" y="372533"/>
            <a:ext cx="7715250" cy="750359"/>
          </a:xfrm>
        </p:spPr>
        <p:txBody>
          <a:bodyPr>
            <a:normAutofit/>
          </a:bodyPr>
          <a:lstStyle/>
          <a:p>
            <a:pPr eaLnBrk="1" hangingPunct="1"/>
            <a:r>
              <a:rPr lang="en-US" sz="2667"/>
              <a:t>Monitor Implementation Using Semaphores</a:t>
            </a:r>
          </a:p>
        </p:txBody>
      </p:sp>
      <p:sp>
        <p:nvSpPr>
          <p:cNvPr id="48131" name="Rectangle 3"/>
          <p:cNvSpPr>
            <a:spLocks noGrp="1" noChangeArrowheads="1"/>
          </p:cNvSpPr>
          <p:nvPr>
            <p:ph idx="1"/>
          </p:nvPr>
        </p:nvSpPr>
        <p:spPr>
          <a:xfrm>
            <a:off x="1053042" y="1617134"/>
            <a:ext cx="7043208" cy="3966633"/>
          </a:xfrm>
        </p:spPr>
        <p:txBody>
          <a:bodyPr>
            <a:normAutofit lnSpcReduction="10000"/>
          </a:bodyPr>
          <a:lstStyle/>
          <a:p>
            <a:pPr>
              <a:lnSpc>
                <a:spcPct val="80000"/>
              </a:lnSpc>
              <a:tabLst>
                <a:tab pos="1799257" algn="l"/>
                <a:tab pos="2225787" algn="l"/>
                <a:tab pos="2389836" algn="l"/>
              </a:tabLst>
            </a:pPr>
            <a:r>
              <a:rPr lang="en-US" sz="1533" dirty="0"/>
              <a:t>Variables </a:t>
            </a:r>
          </a:p>
          <a:p>
            <a:pPr>
              <a:lnSpc>
                <a:spcPct val="80000"/>
              </a:lnSpc>
              <a:spcBef>
                <a:spcPct val="15000"/>
              </a:spcBef>
              <a:buNone/>
              <a:tabLst>
                <a:tab pos="1799257" algn="l"/>
                <a:tab pos="2225787" algn="l"/>
                <a:tab pos="2389836" algn="l"/>
              </a:tabLst>
            </a:pPr>
            <a:r>
              <a:rPr lang="en-US" sz="1533" dirty="0"/>
              <a:t>		</a:t>
            </a:r>
            <a:r>
              <a:rPr lang="en-US" sz="1533" dirty="0">
                <a:solidFill>
                  <a:srgbClr val="0000FF"/>
                </a:solidFill>
              </a:rPr>
              <a:t>semaphore </a:t>
            </a:r>
            <a:r>
              <a:rPr lang="en-US" sz="1533" dirty="0" err="1">
                <a:solidFill>
                  <a:srgbClr val="0000FF"/>
                </a:solidFill>
              </a:rPr>
              <a:t>mutex</a:t>
            </a:r>
            <a:r>
              <a:rPr lang="en-US" sz="1533" dirty="0">
                <a:solidFill>
                  <a:srgbClr val="0000FF"/>
                </a:solidFill>
              </a:rPr>
              <a:t>;  // (initially  = 1)</a:t>
            </a:r>
          </a:p>
          <a:p>
            <a:pPr>
              <a:lnSpc>
                <a:spcPct val="80000"/>
              </a:lnSpc>
              <a:spcBef>
                <a:spcPct val="15000"/>
              </a:spcBef>
              <a:buNone/>
              <a:tabLst>
                <a:tab pos="1799257" algn="l"/>
                <a:tab pos="2225787" algn="l"/>
                <a:tab pos="2389836" algn="l"/>
              </a:tabLst>
            </a:pPr>
            <a:r>
              <a:rPr lang="en-US" sz="1533" dirty="0">
                <a:solidFill>
                  <a:srgbClr val="0000FF"/>
                </a:solidFill>
              </a:rPr>
              <a:t>		semaphore next;     // (initially  = 0)</a:t>
            </a:r>
          </a:p>
          <a:p>
            <a:pPr>
              <a:lnSpc>
                <a:spcPct val="80000"/>
              </a:lnSpc>
              <a:spcBef>
                <a:spcPct val="15000"/>
              </a:spcBef>
              <a:buNone/>
              <a:tabLst>
                <a:tab pos="1799257" algn="l"/>
                <a:tab pos="2225787" algn="l"/>
                <a:tab pos="2389836" algn="l"/>
              </a:tabLst>
            </a:pPr>
            <a:r>
              <a:rPr lang="en-US" sz="1533" dirty="0">
                <a:solidFill>
                  <a:srgbClr val="0000FF"/>
                </a:solidFill>
              </a:rPr>
              <a:t>		</a:t>
            </a:r>
            <a:r>
              <a:rPr lang="en-US" sz="1533" dirty="0" err="1">
                <a:solidFill>
                  <a:srgbClr val="0000FF"/>
                </a:solidFill>
              </a:rPr>
              <a:t>int</a:t>
            </a:r>
            <a:r>
              <a:rPr lang="en-US" sz="1533" dirty="0">
                <a:solidFill>
                  <a:srgbClr val="0000FF"/>
                </a:solidFill>
              </a:rPr>
              <a:t> </a:t>
            </a:r>
            <a:r>
              <a:rPr lang="en-US" sz="1533" dirty="0" err="1">
                <a:solidFill>
                  <a:srgbClr val="0000FF"/>
                </a:solidFill>
              </a:rPr>
              <a:t>next_count</a:t>
            </a:r>
            <a:r>
              <a:rPr lang="en-US" sz="1533" dirty="0">
                <a:solidFill>
                  <a:srgbClr val="0000FF"/>
                </a:solidFill>
              </a:rPr>
              <a:t> = 0;</a:t>
            </a:r>
            <a:br>
              <a:rPr lang="en-US" sz="1533" dirty="0">
                <a:solidFill>
                  <a:srgbClr val="0000FF"/>
                </a:solidFill>
              </a:rPr>
            </a:br>
            <a:endParaRPr lang="en-US" sz="1533" dirty="0">
              <a:solidFill>
                <a:srgbClr val="0000FF"/>
              </a:solidFill>
            </a:endParaRPr>
          </a:p>
          <a:p>
            <a:pPr>
              <a:lnSpc>
                <a:spcPct val="80000"/>
              </a:lnSpc>
              <a:tabLst>
                <a:tab pos="1799257" algn="l"/>
                <a:tab pos="2225787" algn="l"/>
                <a:tab pos="2389836" algn="l"/>
              </a:tabLst>
            </a:pPr>
            <a:r>
              <a:rPr lang="en-US" sz="1533" dirty="0"/>
              <a:t>Each procedure </a:t>
            </a:r>
            <a:r>
              <a:rPr lang="en-US" sz="1533" b="1" i="1" dirty="0"/>
              <a:t>F</a:t>
            </a:r>
            <a:r>
              <a:rPr lang="en-US" sz="1533" dirty="0"/>
              <a:t>  will be replaced by</a:t>
            </a:r>
          </a:p>
          <a:p>
            <a:pPr>
              <a:lnSpc>
                <a:spcPct val="80000"/>
              </a:lnSpc>
              <a:tabLst>
                <a:tab pos="1799257" algn="l"/>
                <a:tab pos="2225787" algn="l"/>
                <a:tab pos="2389836" algn="l"/>
              </a:tabLst>
            </a:pPr>
            <a:endParaRPr lang="en-US" sz="1533" dirty="0"/>
          </a:p>
          <a:p>
            <a:pPr>
              <a:lnSpc>
                <a:spcPct val="80000"/>
              </a:lnSpc>
              <a:spcBef>
                <a:spcPct val="15000"/>
              </a:spcBef>
              <a:buNone/>
              <a:tabLst>
                <a:tab pos="1799257" algn="l"/>
                <a:tab pos="2225787" algn="l"/>
                <a:tab pos="2389836" algn="l"/>
              </a:tabLst>
            </a:pPr>
            <a:r>
              <a:rPr lang="en-US" sz="1533" dirty="0"/>
              <a:t>			</a:t>
            </a:r>
            <a:r>
              <a:rPr lang="en-US" sz="1533" dirty="0">
                <a:solidFill>
                  <a:srgbClr val="0000FF"/>
                </a:solidFill>
              </a:rPr>
              <a:t>wait(</a:t>
            </a:r>
            <a:r>
              <a:rPr lang="en-US" sz="1533" dirty="0" err="1">
                <a:solidFill>
                  <a:srgbClr val="0000FF"/>
                </a:solidFill>
              </a:rPr>
              <a:t>mutex</a:t>
            </a:r>
            <a:r>
              <a:rPr lang="en-US" sz="1533" dirty="0">
                <a:solidFill>
                  <a:srgbClr val="0000FF"/>
                </a:solidFill>
              </a:rPr>
              <a:t>);</a:t>
            </a:r>
          </a:p>
          <a:p>
            <a:pPr>
              <a:lnSpc>
                <a:spcPct val="80000"/>
              </a:lnSpc>
              <a:spcBef>
                <a:spcPct val="15000"/>
              </a:spcBef>
              <a:buNone/>
              <a:tabLst>
                <a:tab pos="1799257" algn="l"/>
                <a:tab pos="2225787" algn="l"/>
                <a:tab pos="2389836" algn="l"/>
              </a:tabLst>
            </a:pPr>
            <a:r>
              <a:rPr lang="en-US" sz="1533" dirty="0">
                <a:solidFill>
                  <a:srgbClr val="0000FF"/>
                </a:solidFill>
              </a:rPr>
              <a:t>			     …			 </a:t>
            </a:r>
          </a:p>
          <a:p>
            <a:pPr>
              <a:lnSpc>
                <a:spcPct val="80000"/>
              </a:lnSpc>
              <a:spcBef>
                <a:spcPct val="15000"/>
              </a:spcBef>
              <a:buNone/>
              <a:tabLst>
                <a:tab pos="1799257" algn="l"/>
                <a:tab pos="2225787" algn="l"/>
                <a:tab pos="2389836" algn="l"/>
              </a:tabLst>
            </a:pPr>
            <a:r>
              <a:rPr lang="en-US" sz="1533" dirty="0">
                <a:solidFill>
                  <a:srgbClr val="0000FF"/>
                </a:solidFill>
              </a:rPr>
              <a:t>                                                        body of </a:t>
            </a:r>
            <a:r>
              <a:rPr lang="en-US" sz="1533" i="1" dirty="0">
                <a:solidFill>
                  <a:srgbClr val="0000FF"/>
                </a:solidFill>
              </a:rPr>
              <a:t>F</a:t>
            </a:r>
            <a:r>
              <a:rPr lang="en-US" sz="1533" dirty="0">
                <a:solidFill>
                  <a:srgbClr val="0000FF"/>
                </a:solidFill>
              </a:rPr>
              <a:t>;</a:t>
            </a:r>
          </a:p>
          <a:p>
            <a:pPr>
              <a:lnSpc>
                <a:spcPct val="80000"/>
              </a:lnSpc>
              <a:spcBef>
                <a:spcPct val="15000"/>
              </a:spcBef>
              <a:buNone/>
              <a:tabLst>
                <a:tab pos="1799257" algn="l"/>
                <a:tab pos="2225787" algn="l"/>
                <a:tab pos="2389836" algn="l"/>
              </a:tabLst>
            </a:pPr>
            <a:endParaRPr lang="en-US" sz="1533" dirty="0">
              <a:solidFill>
                <a:srgbClr val="0000FF"/>
              </a:solidFill>
            </a:endParaRPr>
          </a:p>
          <a:p>
            <a:pPr>
              <a:lnSpc>
                <a:spcPct val="80000"/>
              </a:lnSpc>
              <a:spcBef>
                <a:spcPct val="15000"/>
              </a:spcBef>
              <a:buNone/>
              <a:tabLst>
                <a:tab pos="1799257" algn="l"/>
                <a:tab pos="2225787" algn="l"/>
                <a:tab pos="2389836" algn="l"/>
              </a:tabLst>
            </a:pPr>
            <a:r>
              <a:rPr lang="en-US" sz="1533" dirty="0">
                <a:solidFill>
                  <a:srgbClr val="0000FF"/>
                </a:solidFill>
              </a:rPr>
              <a:t>			     …</a:t>
            </a:r>
          </a:p>
          <a:p>
            <a:pPr>
              <a:lnSpc>
                <a:spcPct val="80000"/>
              </a:lnSpc>
              <a:spcBef>
                <a:spcPct val="15000"/>
              </a:spcBef>
              <a:buNone/>
              <a:tabLst>
                <a:tab pos="1799257" algn="l"/>
                <a:tab pos="2225787" algn="l"/>
                <a:tab pos="2389836" algn="l"/>
              </a:tabLst>
            </a:pPr>
            <a:r>
              <a:rPr lang="en-US" sz="1533" dirty="0">
                <a:solidFill>
                  <a:srgbClr val="0000FF"/>
                </a:solidFill>
              </a:rPr>
              <a:t>			if (</a:t>
            </a:r>
            <a:r>
              <a:rPr lang="en-US" sz="1533" dirty="0" err="1">
                <a:solidFill>
                  <a:srgbClr val="0000FF"/>
                </a:solidFill>
              </a:rPr>
              <a:t>next_count</a:t>
            </a:r>
            <a:r>
              <a:rPr lang="en-US" sz="1533" dirty="0">
                <a:solidFill>
                  <a:srgbClr val="0000FF"/>
                </a:solidFill>
              </a:rPr>
              <a:t> &gt; 0)</a:t>
            </a:r>
          </a:p>
          <a:p>
            <a:pPr>
              <a:lnSpc>
                <a:spcPct val="80000"/>
              </a:lnSpc>
              <a:spcBef>
                <a:spcPct val="15000"/>
              </a:spcBef>
              <a:buNone/>
              <a:tabLst>
                <a:tab pos="1799257" algn="l"/>
                <a:tab pos="2225787" algn="l"/>
                <a:tab pos="2389836" algn="l"/>
              </a:tabLst>
            </a:pPr>
            <a:r>
              <a:rPr lang="en-US" sz="1533" dirty="0">
                <a:solidFill>
                  <a:srgbClr val="0000FF"/>
                </a:solidFill>
              </a:rPr>
              <a:t>				signal(next)</a:t>
            </a:r>
          </a:p>
          <a:p>
            <a:pPr>
              <a:lnSpc>
                <a:spcPct val="80000"/>
              </a:lnSpc>
              <a:spcBef>
                <a:spcPct val="15000"/>
              </a:spcBef>
              <a:buNone/>
              <a:tabLst>
                <a:tab pos="1799257" algn="l"/>
                <a:tab pos="2225787" algn="l"/>
                <a:tab pos="2389836" algn="l"/>
              </a:tabLst>
            </a:pPr>
            <a:r>
              <a:rPr lang="en-US" sz="1533" dirty="0">
                <a:solidFill>
                  <a:srgbClr val="0000FF"/>
                </a:solidFill>
              </a:rPr>
              <a:t>			else </a:t>
            </a:r>
          </a:p>
          <a:p>
            <a:pPr>
              <a:lnSpc>
                <a:spcPct val="80000"/>
              </a:lnSpc>
              <a:spcBef>
                <a:spcPct val="15000"/>
              </a:spcBef>
              <a:buNone/>
              <a:tabLst>
                <a:tab pos="1799257" algn="l"/>
                <a:tab pos="2225787" algn="l"/>
                <a:tab pos="2389836" algn="l"/>
              </a:tabLst>
            </a:pPr>
            <a:r>
              <a:rPr lang="en-US" sz="1533" dirty="0">
                <a:solidFill>
                  <a:srgbClr val="0000FF"/>
                </a:solidFill>
              </a:rPr>
              <a:t>				signal(</a:t>
            </a:r>
            <a:r>
              <a:rPr lang="en-US" sz="1533" dirty="0" err="1">
                <a:solidFill>
                  <a:srgbClr val="0000FF"/>
                </a:solidFill>
              </a:rPr>
              <a:t>mutex</a:t>
            </a:r>
            <a:r>
              <a:rPr lang="en-US" sz="1533" dirty="0">
                <a:solidFill>
                  <a:srgbClr val="0000FF"/>
                </a:solidFill>
              </a:rPr>
              <a:t>);</a:t>
            </a:r>
            <a:br>
              <a:rPr lang="en-US" sz="1533" dirty="0">
                <a:solidFill>
                  <a:srgbClr val="0000FF"/>
                </a:solidFill>
              </a:rPr>
            </a:br>
            <a:endParaRPr lang="en-US" sz="1533" dirty="0">
              <a:solidFill>
                <a:srgbClr val="0000FF"/>
              </a:solidFill>
            </a:endParaRPr>
          </a:p>
          <a:p>
            <a:pPr>
              <a:lnSpc>
                <a:spcPct val="80000"/>
              </a:lnSpc>
              <a:tabLst>
                <a:tab pos="1799257" algn="l"/>
                <a:tab pos="2225787" algn="l"/>
                <a:tab pos="2389836" algn="l"/>
              </a:tabLst>
            </a:pPr>
            <a:r>
              <a:rPr lang="en-US" sz="1533" dirty="0"/>
              <a:t>Mutual exclusion within a monitor is ensured</a:t>
            </a:r>
          </a:p>
        </p:txBody>
      </p:sp>
    </p:spTree>
    <p:extLst>
      <p:ext uri="{BB962C8B-B14F-4D97-AF65-F5344CB8AC3E}">
        <p14:creationId xmlns:p14="http://schemas.microsoft.com/office/powerpoint/2010/main" val="100996762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914400" y="627592"/>
            <a:ext cx="7772400" cy="512233"/>
          </a:xfrm>
        </p:spPr>
        <p:txBody>
          <a:bodyPr>
            <a:normAutofit fontScale="90000"/>
          </a:bodyPr>
          <a:lstStyle/>
          <a:p>
            <a:pPr eaLnBrk="1" hangingPunct="1"/>
            <a:r>
              <a:rPr lang="en-US" sz="2667"/>
              <a:t>Monitor Implementation – Condition Variables</a:t>
            </a:r>
          </a:p>
        </p:txBody>
      </p:sp>
      <p:sp>
        <p:nvSpPr>
          <p:cNvPr id="49155" name="Rectangle 3"/>
          <p:cNvSpPr>
            <a:spLocks noGrp="1" noChangeArrowheads="1"/>
          </p:cNvSpPr>
          <p:nvPr>
            <p:ph idx="1"/>
          </p:nvPr>
        </p:nvSpPr>
        <p:spPr/>
        <p:txBody>
          <a:bodyPr>
            <a:normAutofit/>
          </a:bodyPr>
          <a:lstStyle/>
          <a:p>
            <a:pPr>
              <a:lnSpc>
                <a:spcPct val="90000"/>
              </a:lnSpc>
              <a:spcBef>
                <a:spcPct val="15000"/>
              </a:spcBef>
              <a:tabLst>
                <a:tab pos="1744221" algn="l"/>
                <a:tab pos="2114656" algn="l"/>
              </a:tabLst>
            </a:pPr>
            <a:r>
              <a:rPr lang="en-US" sz="1533" dirty="0"/>
              <a:t>For each condition variable </a:t>
            </a:r>
            <a:r>
              <a:rPr lang="en-US" sz="1533" b="1" i="1" dirty="0"/>
              <a:t>x</a:t>
            </a:r>
            <a:r>
              <a:rPr lang="en-US" sz="1533" dirty="0"/>
              <a:t>, we  have:</a:t>
            </a:r>
          </a:p>
          <a:p>
            <a:pPr>
              <a:lnSpc>
                <a:spcPct val="90000"/>
              </a:lnSpc>
              <a:spcBef>
                <a:spcPct val="15000"/>
              </a:spcBef>
              <a:buNone/>
              <a:tabLst>
                <a:tab pos="1744221" algn="l"/>
                <a:tab pos="2114656" algn="l"/>
              </a:tabLst>
            </a:pPr>
            <a:endParaRPr lang="en-US" sz="1533" dirty="0"/>
          </a:p>
          <a:p>
            <a:pPr>
              <a:lnSpc>
                <a:spcPct val="90000"/>
              </a:lnSpc>
              <a:spcBef>
                <a:spcPct val="15000"/>
              </a:spcBef>
              <a:buNone/>
              <a:tabLst>
                <a:tab pos="1744221" algn="l"/>
                <a:tab pos="2114656" algn="l"/>
              </a:tabLst>
            </a:pPr>
            <a:r>
              <a:rPr lang="en-US" sz="1533" dirty="0"/>
              <a:t>		</a:t>
            </a:r>
            <a:r>
              <a:rPr lang="en-US" sz="1533" dirty="0">
                <a:solidFill>
                  <a:srgbClr val="0000FF"/>
                </a:solidFill>
              </a:rPr>
              <a:t>semaphore </a:t>
            </a:r>
            <a:r>
              <a:rPr lang="en-US" sz="1533" dirty="0" err="1">
                <a:solidFill>
                  <a:srgbClr val="0000FF"/>
                </a:solidFill>
              </a:rPr>
              <a:t>x_sem</a:t>
            </a:r>
            <a:r>
              <a:rPr lang="en-US" sz="1533" dirty="0">
                <a:solidFill>
                  <a:srgbClr val="0000FF"/>
                </a:solidFill>
              </a:rPr>
              <a:t>; // (initially  = 0)</a:t>
            </a:r>
          </a:p>
          <a:p>
            <a:pPr>
              <a:lnSpc>
                <a:spcPct val="90000"/>
              </a:lnSpc>
              <a:spcBef>
                <a:spcPct val="15000"/>
              </a:spcBef>
              <a:buNone/>
              <a:tabLst>
                <a:tab pos="1744221" algn="l"/>
                <a:tab pos="2114656" algn="l"/>
              </a:tabLst>
            </a:pPr>
            <a:r>
              <a:rPr lang="en-US" sz="1533" dirty="0">
                <a:solidFill>
                  <a:srgbClr val="0000FF"/>
                </a:solidFill>
              </a:rPr>
              <a:t>		</a:t>
            </a:r>
            <a:r>
              <a:rPr lang="en-US" sz="1533" dirty="0" err="1">
                <a:solidFill>
                  <a:srgbClr val="0000FF"/>
                </a:solidFill>
              </a:rPr>
              <a:t>int</a:t>
            </a:r>
            <a:r>
              <a:rPr lang="en-US" sz="1533" dirty="0">
                <a:solidFill>
                  <a:srgbClr val="0000FF"/>
                </a:solidFill>
              </a:rPr>
              <a:t> </a:t>
            </a:r>
            <a:r>
              <a:rPr lang="en-US" sz="1533" dirty="0" err="1">
                <a:solidFill>
                  <a:srgbClr val="0000FF"/>
                </a:solidFill>
              </a:rPr>
              <a:t>x_count</a:t>
            </a:r>
            <a:r>
              <a:rPr lang="en-US" sz="1533" dirty="0">
                <a:solidFill>
                  <a:srgbClr val="0000FF"/>
                </a:solidFill>
              </a:rPr>
              <a:t> = 0;</a:t>
            </a:r>
            <a:br>
              <a:rPr lang="en-US" sz="1533" dirty="0">
                <a:solidFill>
                  <a:srgbClr val="0000FF"/>
                </a:solidFill>
              </a:rPr>
            </a:br>
            <a:endParaRPr lang="en-US" sz="1533" dirty="0">
              <a:solidFill>
                <a:srgbClr val="0000FF"/>
              </a:solidFill>
            </a:endParaRPr>
          </a:p>
          <a:p>
            <a:pPr>
              <a:lnSpc>
                <a:spcPct val="90000"/>
              </a:lnSpc>
              <a:spcBef>
                <a:spcPct val="15000"/>
              </a:spcBef>
              <a:tabLst>
                <a:tab pos="1744221" algn="l"/>
                <a:tab pos="2114656" algn="l"/>
              </a:tabLst>
            </a:pPr>
            <a:r>
              <a:rPr lang="en-US" sz="1533" dirty="0"/>
              <a:t>The operation </a:t>
            </a:r>
            <a:r>
              <a:rPr lang="en-US" sz="1533" dirty="0" err="1">
                <a:solidFill>
                  <a:srgbClr val="0000FF"/>
                </a:solidFill>
              </a:rPr>
              <a:t>x.wait</a:t>
            </a:r>
            <a:r>
              <a:rPr lang="en-US" sz="1533" b="1" dirty="0"/>
              <a:t> </a:t>
            </a:r>
            <a:r>
              <a:rPr lang="en-US" sz="1533" dirty="0"/>
              <a:t>can be implemented as:</a:t>
            </a:r>
          </a:p>
          <a:p>
            <a:pPr>
              <a:lnSpc>
                <a:spcPct val="90000"/>
              </a:lnSpc>
              <a:spcBef>
                <a:spcPct val="15000"/>
              </a:spcBef>
              <a:buNone/>
              <a:tabLst>
                <a:tab pos="1744221" algn="l"/>
                <a:tab pos="2114656" algn="l"/>
              </a:tabLst>
            </a:pPr>
            <a:r>
              <a:rPr lang="en-US" sz="1533" dirty="0"/>
              <a:t>		</a:t>
            </a:r>
          </a:p>
          <a:p>
            <a:pPr>
              <a:lnSpc>
                <a:spcPct val="90000"/>
              </a:lnSpc>
              <a:spcBef>
                <a:spcPct val="15000"/>
              </a:spcBef>
              <a:buNone/>
              <a:tabLst>
                <a:tab pos="1744221" algn="l"/>
                <a:tab pos="2114656" algn="l"/>
              </a:tabLst>
            </a:pPr>
            <a:r>
              <a:rPr lang="en-US" sz="1533" dirty="0"/>
              <a:t>		</a:t>
            </a:r>
            <a:r>
              <a:rPr lang="en-US" sz="1533" dirty="0">
                <a:solidFill>
                  <a:srgbClr val="0000FF"/>
                </a:solidFill>
              </a:rPr>
              <a:t>x-count++;</a:t>
            </a:r>
          </a:p>
          <a:p>
            <a:pPr>
              <a:lnSpc>
                <a:spcPct val="90000"/>
              </a:lnSpc>
              <a:spcBef>
                <a:spcPct val="15000"/>
              </a:spcBef>
              <a:buNone/>
              <a:tabLst>
                <a:tab pos="1744221" algn="l"/>
                <a:tab pos="2114656" algn="l"/>
              </a:tabLst>
            </a:pPr>
            <a:r>
              <a:rPr lang="en-US" sz="1533" dirty="0">
                <a:solidFill>
                  <a:srgbClr val="0000FF"/>
                </a:solidFill>
              </a:rPr>
              <a:t>		if (</a:t>
            </a:r>
            <a:r>
              <a:rPr lang="en-US" sz="1533" dirty="0" err="1">
                <a:solidFill>
                  <a:srgbClr val="0000FF"/>
                </a:solidFill>
              </a:rPr>
              <a:t>next_count</a:t>
            </a:r>
            <a:r>
              <a:rPr lang="en-US" sz="1533" dirty="0">
                <a:solidFill>
                  <a:srgbClr val="0000FF"/>
                </a:solidFill>
              </a:rPr>
              <a:t> &gt; 0)</a:t>
            </a:r>
          </a:p>
          <a:p>
            <a:pPr>
              <a:lnSpc>
                <a:spcPct val="90000"/>
              </a:lnSpc>
              <a:spcBef>
                <a:spcPct val="15000"/>
              </a:spcBef>
              <a:buNone/>
              <a:tabLst>
                <a:tab pos="1744221" algn="l"/>
                <a:tab pos="2114656" algn="l"/>
              </a:tabLst>
            </a:pPr>
            <a:r>
              <a:rPr lang="en-US" sz="1533" dirty="0">
                <a:solidFill>
                  <a:srgbClr val="0000FF"/>
                </a:solidFill>
              </a:rPr>
              <a:t>			signal(next);</a:t>
            </a:r>
          </a:p>
          <a:p>
            <a:pPr>
              <a:lnSpc>
                <a:spcPct val="90000"/>
              </a:lnSpc>
              <a:spcBef>
                <a:spcPct val="15000"/>
              </a:spcBef>
              <a:buNone/>
              <a:tabLst>
                <a:tab pos="1744221" algn="l"/>
                <a:tab pos="2114656" algn="l"/>
              </a:tabLst>
            </a:pPr>
            <a:r>
              <a:rPr lang="en-US" sz="1533" dirty="0">
                <a:solidFill>
                  <a:srgbClr val="0000FF"/>
                </a:solidFill>
              </a:rPr>
              <a:t>		else</a:t>
            </a:r>
          </a:p>
          <a:p>
            <a:pPr>
              <a:lnSpc>
                <a:spcPct val="90000"/>
              </a:lnSpc>
              <a:spcBef>
                <a:spcPct val="15000"/>
              </a:spcBef>
              <a:buNone/>
              <a:tabLst>
                <a:tab pos="1744221" algn="l"/>
                <a:tab pos="2114656" algn="l"/>
              </a:tabLst>
            </a:pPr>
            <a:r>
              <a:rPr lang="en-US" sz="1533" dirty="0">
                <a:solidFill>
                  <a:srgbClr val="0000FF"/>
                </a:solidFill>
              </a:rPr>
              <a:t>			signal(</a:t>
            </a:r>
            <a:r>
              <a:rPr lang="en-US" sz="1533" dirty="0" err="1">
                <a:solidFill>
                  <a:srgbClr val="0000FF"/>
                </a:solidFill>
              </a:rPr>
              <a:t>mutex</a:t>
            </a:r>
            <a:r>
              <a:rPr lang="en-US" sz="1533" dirty="0">
                <a:solidFill>
                  <a:srgbClr val="0000FF"/>
                </a:solidFill>
              </a:rPr>
              <a:t>);</a:t>
            </a:r>
          </a:p>
          <a:p>
            <a:pPr>
              <a:lnSpc>
                <a:spcPct val="90000"/>
              </a:lnSpc>
              <a:spcBef>
                <a:spcPct val="15000"/>
              </a:spcBef>
              <a:buNone/>
              <a:tabLst>
                <a:tab pos="1744221" algn="l"/>
                <a:tab pos="2114656" algn="l"/>
              </a:tabLst>
            </a:pPr>
            <a:r>
              <a:rPr lang="en-US" sz="1533" dirty="0">
                <a:solidFill>
                  <a:srgbClr val="0000FF"/>
                </a:solidFill>
              </a:rPr>
              <a:t>		wait(</a:t>
            </a:r>
            <a:r>
              <a:rPr lang="en-US" sz="1533" dirty="0" err="1">
                <a:solidFill>
                  <a:srgbClr val="0000FF"/>
                </a:solidFill>
              </a:rPr>
              <a:t>x_sem</a:t>
            </a:r>
            <a:r>
              <a:rPr lang="en-US" sz="1533" dirty="0">
                <a:solidFill>
                  <a:srgbClr val="0000FF"/>
                </a:solidFill>
              </a:rPr>
              <a:t>);</a:t>
            </a:r>
          </a:p>
          <a:p>
            <a:pPr>
              <a:lnSpc>
                <a:spcPct val="90000"/>
              </a:lnSpc>
              <a:spcBef>
                <a:spcPct val="15000"/>
              </a:spcBef>
              <a:buNone/>
              <a:tabLst>
                <a:tab pos="1744221" algn="l"/>
                <a:tab pos="2114656" algn="l"/>
              </a:tabLst>
            </a:pPr>
            <a:r>
              <a:rPr lang="en-US" sz="1533" dirty="0">
                <a:solidFill>
                  <a:srgbClr val="0000FF"/>
                </a:solidFill>
              </a:rPr>
              <a:t>		x-count--;</a:t>
            </a:r>
          </a:p>
          <a:p>
            <a:pPr>
              <a:lnSpc>
                <a:spcPct val="90000"/>
              </a:lnSpc>
              <a:spcBef>
                <a:spcPct val="15000"/>
              </a:spcBef>
              <a:buNone/>
              <a:tabLst>
                <a:tab pos="1744221" algn="l"/>
                <a:tab pos="2114656" algn="l"/>
              </a:tabLst>
            </a:pPr>
            <a:r>
              <a:rPr lang="en-US" sz="1533" b="1" dirty="0"/>
              <a:t>		</a:t>
            </a:r>
          </a:p>
        </p:txBody>
      </p:sp>
    </p:spTree>
    <p:extLst>
      <p:ext uri="{BB962C8B-B14F-4D97-AF65-F5344CB8AC3E}">
        <p14:creationId xmlns:p14="http://schemas.microsoft.com/office/powerpoint/2010/main" val="3039875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933450" y="627592"/>
            <a:ext cx="7753350" cy="512233"/>
          </a:xfrm>
        </p:spPr>
        <p:txBody>
          <a:bodyPr>
            <a:normAutofit/>
          </a:bodyPr>
          <a:lstStyle/>
          <a:p>
            <a:pPr eaLnBrk="1" hangingPunct="1"/>
            <a:r>
              <a:rPr lang="en-US" smtClean="0"/>
              <a:t>Monitor Implementation (Cont.)</a:t>
            </a:r>
          </a:p>
        </p:txBody>
      </p:sp>
      <p:sp>
        <p:nvSpPr>
          <p:cNvPr id="50179" name="Rectangle 3"/>
          <p:cNvSpPr>
            <a:spLocks noGrp="1" noChangeArrowheads="1"/>
          </p:cNvSpPr>
          <p:nvPr>
            <p:ph idx="1"/>
          </p:nvPr>
        </p:nvSpPr>
        <p:spPr/>
        <p:txBody>
          <a:bodyPr/>
          <a:lstStyle/>
          <a:p>
            <a:pPr>
              <a:tabLst>
                <a:tab pos="1304991" algn="l"/>
                <a:tab pos="1634148" algn="l"/>
                <a:tab pos="2225787" algn="l"/>
              </a:tabLst>
            </a:pPr>
            <a:r>
              <a:rPr lang="en-US" smtClean="0"/>
              <a:t>The operation </a:t>
            </a:r>
            <a:r>
              <a:rPr lang="en-US" smtClean="0">
                <a:solidFill>
                  <a:srgbClr val="0000FF"/>
                </a:solidFill>
              </a:rPr>
              <a:t>x.signal </a:t>
            </a:r>
            <a:r>
              <a:rPr lang="en-US" smtClean="0"/>
              <a:t>can be implemented as:</a:t>
            </a:r>
            <a:br>
              <a:rPr lang="en-US" smtClean="0"/>
            </a:br>
            <a:endParaRPr lang="en-US" smtClean="0"/>
          </a:p>
          <a:p>
            <a:pPr>
              <a:spcBef>
                <a:spcPct val="15000"/>
              </a:spcBef>
              <a:buNone/>
              <a:tabLst>
                <a:tab pos="1304991" algn="l"/>
                <a:tab pos="1634148" algn="l"/>
                <a:tab pos="2225787" algn="l"/>
              </a:tabLst>
            </a:pPr>
            <a:r>
              <a:rPr lang="en-US" sz="1600"/>
              <a:t>		</a:t>
            </a:r>
            <a:r>
              <a:rPr lang="en-US" sz="1600">
                <a:solidFill>
                  <a:srgbClr val="0000FF"/>
                </a:solidFill>
              </a:rPr>
              <a:t>if (x-count &gt; 0) {</a:t>
            </a:r>
          </a:p>
          <a:p>
            <a:pPr>
              <a:spcBef>
                <a:spcPct val="15000"/>
              </a:spcBef>
              <a:buNone/>
              <a:tabLst>
                <a:tab pos="1304991" algn="l"/>
                <a:tab pos="1634148" algn="l"/>
                <a:tab pos="2225787" algn="l"/>
              </a:tabLst>
            </a:pPr>
            <a:r>
              <a:rPr lang="en-US" sz="1600">
                <a:solidFill>
                  <a:srgbClr val="0000FF"/>
                </a:solidFill>
              </a:rPr>
              <a:t>			next_count++;</a:t>
            </a:r>
          </a:p>
          <a:p>
            <a:pPr>
              <a:spcBef>
                <a:spcPct val="15000"/>
              </a:spcBef>
              <a:buNone/>
              <a:tabLst>
                <a:tab pos="1304991" algn="l"/>
                <a:tab pos="1634148" algn="l"/>
                <a:tab pos="2225787" algn="l"/>
              </a:tabLst>
            </a:pPr>
            <a:r>
              <a:rPr lang="en-US" sz="1600">
                <a:solidFill>
                  <a:srgbClr val="0000FF"/>
                </a:solidFill>
              </a:rPr>
              <a:t>			signal(x_sem);</a:t>
            </a:r>
          </a:p>
          <a:p>
            <a:pPr>
              <a:spcBef>
                <a:spcPct val="15000"/>
              </a:spcBef>
              <a:buNone/>
              <a:tabLst>
                <a:tab pos="1304991" algn="l"/>
                <a:tab pos="1634148" algn="l"/>
                <a:tab pos="2225787" algn="l"/>
              </a:tabLst>
            </a:pPr>
            <a:r>
              <a:rPr lang="en-US" sz="1600">
                <a:solidFill>
                  <a:srgbClr val="0000FF"/>
                </a:solidFill>
              </a:rPr>
              <a:t>			wait(next);</a:t>
            </a:r>
          </a:p>
          <a:p>
            <a:pPr>
              <a:spcBef>
                <a:spcPct val="15000"/>
              </a:spcBef>
              <a:buNone/>
              <a:tabLst>
                <a:tab pos="1304991" algn="l"/>
                <a:tab pos="1634148" algn="l"/>
                <a:tab pos="2225787" algn="l"/>
              </a:tabLst>
            </a:pPr>
            <a:r>
              <a:rPr lang="en-US" sz="1600">
                <a:solidFill>
                  <a:srgbClr val="0000FF"/>
                </a:solidFill>
              </a:rPr>
              <a:t>			next_count--;</a:t>
            </a:r>
          </a:p>
          <a:p>
            <a:pPr>
              <a:spcBef>
                <a:spcPct val="15000"/>
              </a:spcBef>
              <a:buNone/>
              <a:tabLst>
                <a:tab pos="1304991" algn="l"/>
                <a:tab pos="1634148" algn="l"/>
                <a:tab pos="2225787" algn="l"/>
              </a:tabLst>
            </a:pPr>
            <a:r>
              <a:rPr lang="en-US" sz="1600">
                <a:solidFill>
                  <a:srgbClr val="0000FF"/>
                </a:solidFill>
              </a:rPr>
              <a:t>		}</a:t>
            </a:r>
          </a:p>
          <a:p>
            <a:pPr>
              <a:spcBef>
                <a:spcPct val="15000"/>
              </a:spcBef>
              <a:buNone/>
              <a:tabLst>
                <a:tab pos="1304991" algn="l"/>
                <a:tab pos="1634148" algn="l"/>
                <a:tab pos="2225787" algn="l"/>
              </a:tabLst>
            </a:pPr>
            <a:r>
              <a:rPr lang="en-US" b="1" smtClean="0"/>
              <a:t>		</a:t>
            </a:r>
            <a:r>
              <a:rPr lang="en-US" smtClean="0"/>
              <a:t>	</a:t>
            </a:r>
          </a:p>
        </p:txBody>
      </p:sp>
    </p:spTree>
    <p:extLst>
      <p:ext uri="{BB962C8B-B14F-4D97-AF65-F5344CB8AC3E}">
        <p14:creationId xmlns:p14="http://schemas.microsoft.com/office/powerpoint/2010/main" val="322362600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891117" y="627592"/>
            <a:ext cx="8229600" cy="512233"/>
          </a:xfrm>
        </p:spPr>
        <p:txBody>
          <a:bodyPr>
            <a:normAutofit/>
          </a:bodyPr>
          <a:lstStyle/>
          <a:p>
            <a:r>
              <a:rPr lang="en-US" smtClean="0"/>
              <a:t>Resuming Processes within a Monitor</a:t>
            </a:r>
          </a:p>
        </p:txBody>
      </p:sp>
      <p:sp>
        <p:nvSpPr>
          <p:cNvPr id="51203" name="Content Placeholder 2"/>
          <p:cNvSpPr>
            <a:spLocks noGrp="1"/>
          </p:cNvSpPr>
          <p:nvPr>
            <p:ph idx="1"/>
          </p:nvPr>
        </p:nvSpPr>
        <p:spPr/>
        <p:txBody>
          <a:bodyPr/>
          <a:lstStyle/>
          <a:p>
            <a:r>
              <a:rPr lang="en-US" smtClean="0"/>
              <a:t>If several processes queued on condition x, and x.signal() executed, which should be resumed?</a:t>
            </a:r>
          </a:p>
          <a:p>
            <a:endParaRPr lang="en-US" smtClean="0"/>
          </a:p>
          <a:p>
            <a:r>
              <a:rPr lang="en-US" smtClean="0"/>
              <a:t>FCFS frequently not adequate </a:t>
            </a:r>
          </a:p>
          <a:p>
            <a:endParaRPr lang="en-US" smtClean="0"/>
          </a:p>
          <a:p>
            <a:r>
              <a:rPr lang="en-US" b="1" smtClean="0">
                <a:solidFill>
                  <a:srgbClr val="0000FF"/>
                </a:solidFill>
              </a:rPr>
              <a:t>conditional-wait </a:t>
            </a:r>
            <a:r>
              <a:rPr lang="en-US" smtClean="0"/>
              <a:t>construct of the form x.wait(c)</a:t>
            </a:r>
          </a:p>
          <a:p>
            <a:pPr lvl="1"/>
            <a:r>
              <a:rPr lang="en-US" smtClean="0"/>
              <a:t>Where c is </a:t>
            </a:r>
            <a:r>
              <a:rPr lang="en-US" b="1" smtClean="0">
                <a:solidFill>
                  <a:srgbClr val="0000FF"/>
                </a:solidFill>
              </a:rPr>
              <a:t>priority number</a:t>
            </a:r>
          </a:p>
          <a:p>
            <a:pPr lvl="1"/>
            <a:r>
              <a:rPr lang="en-US" smtClean="0"/>
              <a:t>Process with lowest number (highest priority) is scheduled next</a:t>
            </a:r>
          </a:p>
        </p:txBody>
      </p:sp>
    </p:spTree>
    <p:extLst>
      <p:ext uri="{BB962C8B-B14F-4D97-AF65-F5344CB8AC3E}">
        <p14:creationId xmlns:p14="http://schemas.microsoft.com/office/powerpoint/2010/main" val="298275619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999067" y="627592"/>
            <a:ext cx="7687733" cy="512233"/>
          </a:xfrm>
        </p:spPr>
        <p:txBody>
          <a:bodyPr>
            <a:normAutofit/>
          </a:bodyPr>
          <a:lstStyle/>
          <a:p>
            <a:pPr eaLnBrk="1" hangingPunct="1"/>
            <a:r>
              <a:rPr lang="en-US" smtClean="0"/>
              <a:t>A Monitor to Allocate Single Resource</a:t>
            </a:r>
          </a:p>
        </p:txBody>
      </p:sp>
      <p:sp>
        <p:nvSpPr>
          <p:cNvPr id="52227" name="Rectangle 3"/>
          <p:cNvSpPr>
            <a:spLocks noGrp="1" noChangeArrowheads="1"/>
          </p:cNvSpPr>
          <p:nvPr>
            <p:ph idx="1"/>
          </p:nvPr>
        </p:nvSpPr>
        <p:spPr>
          <a:xfrm>
            <a:off x="1646767" y="1477433"/>
            <a:ext cx="7389283" cy="4026959"/>
          </a:xfrm>
        </p:spPr>
        <p:txBody>
          <a:bodyPr>
            <a:normAutofit lnSpcReduction="10000"/>
          </a:bodyPr>
          <a:lstStyle/>
          <a:p>
            <a:pPr>
              <a:buNone/>
              <a:tabLst>
                <a:tab pos="1304991" algn="l"/>
                <a:tab pos="1634148" algn="l"/>
                <a:tab pos="2225787" algn="l"/>
              </a:tabLst>
            </a:pPr>
            <a:endParaRPr lang="en-US" sz="1333"/>
          </a:p>
          <a:p>
            <a:pPr>
              <a:spcBef>
                <a:spcPct val="15000"/>
              </a:spcBef>
              <a:buNone/>
              <a:tabLst>
                <a:tab pos="1304991" algn="l"/>
                <a:tab pos="1634148" algn="l"/>
                <a:tab pos="2225787" algn="l"/>
              </a:tabLst>
            </a:pPr>
            <a:r>
              <a:rPr lang="en-US" sz="1333">
                <a:solidFill>
                  <a:srgbClr val="0000FF"/>
                </a:solidFill>
              </a:rPr>
              <a:t>monitor ResourceAllocator </a:t>
            </a:r>
          </a:p>
          <a:p>
            <a:pPr>
              <a:spcBef>
                <a:spcPct val="15000"/>
              </a:spcBef>
              <a:buNone/>
              <a:tabLst>
                <a:tab pos="1304991" algn="l"/>
                <a:tab pos="1634148" algn="l"/>
                <a:tab pos="2225787" algn="l"/>
              </a:tabLst>
            </a:pPr>
            <a:r>
              <a:rPr lang="en-US" sz="1333">
                <a:solidFill>
                  <a:srgbClr val="0000FF"/>
                </a:solidFill>
              </a:rPr>
              <a:t>{ </a:t>
            </a:r>
          </a:p>
          <a:p>
            <a:pPr>
              <a:spcBef>
                <a:spcPct val="15000"/>
              </a:spcBef>
              <a:buNone/>
              <a:tabLst>
                <a:tab pos="1304991" algn="l"/>
                <a:tab pos="1634148" algn="l"/>
                <a:tab pos="2225787" algn="l"/>
              </a:tabLst>
            </a:pPr>
            <a:r>
              <a:rPr lang="en-US" sz="1333">
                <a:solidFill>
                  <a:srgbClr val="0000FF"/>
                </a:solidFill>
              </a:rPr>
              <a:t>	boolean busy; </a:t>
            </a:r>
          </a:p>
          <a:p>
            <a:pPr>
              <a:spcBef>
                <a:spcPct val="15000"/>
              </a:spcBef>
              <a:buNone/>
              <a:tabLst>
                <a:tab pos="1304991" algn="l"/>
                <a:tab pos="1634148" algn="l"/>
                <a:tab pos="2225787" algn="l"/>
              </a:tabLst>
            </a:pPr>
            <a:r>
              <a:rPr lang="en-US" sz="1333">
                <a:solidFill>
                  <a:srgbClr val="0000FF"/>
                </a:solidFill>
              </a:rPr>
              <a:t>	condition x; </a:t>
            </a:r>
          </a:p>
          <a:p>
            <a:pPr>
              <a:spcBef>
                <a:spcPct val="15000"/>
              </a:spcBef>
              <a:buNone/>
              <a:tabLst>
                <a:tab pos="1304991" algn="l"/>
                <a:tab pos="1634148" algn="l"/>
                <a:tab pos="2225787" algn="l"/>
              </a:tabLst>
            </a:pPr>
            <a:r>
              <a:rPr lang="en-US" sz="1333">
                <a:solidFill>
                  <a:srgbClr val="0000FF"/>
                </a:solidFill>
              </a:rPr>
              <a:t>	void acquire(int time) { </a:t>
            </a:r>
          </a:p>
          <a:p>
            <a:pPr>
              <a:spcBef>
                <a:spcPct val="15000"/>
              </a:spcBef>
              <a:buNone/>
              <a:tabLst>
                <a:tab pos="1304991" algn="l"/>
                <a:tab pos="1634148" algn="l"/>
                <a:tab pos="2225787" algn="l"/>
              </a:tabLst>
            </a:pPr>
            <a:r>
              <a:rPr lang="en-US" sz="1333">
                <a:solidFill>
                  <a:srgbClr val="0000FF"/>
                </a:solidFill>
              </a:rPr>
              <a:t>		if (busy) </a:t>
            </a:r>
          </a:p>
          <a:p>
            <a:pPr>
              <a:spcBef>
                <a:spcPct val="15000"/>
              </a:spcBef>
              <a:buNone/>
              <a:tabLst>
                <a:tab pos="1304991" algn="l"/>
                <a:tab pos="1634148" algn="l"/>
                <a:tab pos="2225787" algn="l"/>
              </a:tabLst>
            </a:pPr>
            <a:r>
              <a:rPr lang="en-US" sz="1333">
                <a:solidFill>
                  <a:srgbClr val="0000FF"/>
                </a:solidFill>
              </a:rPr>
              <a:t>			x.wait(time); </a:t>
            </a:r>
          </a:p>
          <a:p>
            <a:pPr>
              <a:spcBef>
                <a:spcPct val="15000"/>
              </a:spcBef>
              <a:buNone/>
              <a:tabLst>
                <a:tab pos="1304991" algn="l"/>
                <a:tab pos="1634148" algn="l"/>
                <a:tab pos="2225787" algn="l"/>
              </a:tabLst>
            </a:pPr>
            <a:r>
              <a:rPr lang="en-US" sz="1333">
                <a:solidFill>
                  <a:srgbClr val="0000FF"/>
                </a:solidFill>
              </a:rPr>
              <a:t>		busy = TRUE; </a:t>
            </a:r>
          </a:p>
          <a:p>
            <a:pPr>
              <a:spcBef>
                <a:spcPct val="15000"/>
              </a:spcBef>
              <a:buNone/>
              <a:tabLst>
                <a:tab pos="1304991" algn="l"/>
                <a:tab pos="1634148" algn="l"/>
                <a:tab pos="2225787" algn="l"/>
              </a:tabLst>
            </a:pPr>
            <a:r>
              <a:rPr lang="en-US" sz="1333">
                <a:solidFill>
                  <a:srgbClr val="0000FF"/>
                </a:solidFill>
              </a:rPr>
              <a:t>	} </a:t>
            </a:r>
          </a:p>
          <a:p>
            <a:pPr>
              <a:spcBef>
                <a:spcPct val="15000"/>
              </a:spcBef>
              <a:buNone/>
              <a:tabLst>
                <a:tab pos="1304991" algn="l"/>
                <a:tab pos="1634148" algn="l"/>
                <a:tab pos="2225787" algn="l"/>
              </a:tabLst>
            </a:pPr>
            <a:r>
              <a:rPr lang="en-US" sz="1333">
                <a:solidFill>
                  <a:srgbClr val="0000FF"/>
                </a:solidFill>
              </a:rPr>
              <a:t>	void release() { </a:t>
            </a:r>
          </a:p>
          <a:p>
            <a:pPr>
              <a:spcBef>
                <a:spcPct val="15000"/>
              </a:spcBef>
              <a:buNone/>
              <a:tabLst>
                <a:tab pos="1304991" algn="l"/>
                <a:tab pos="1634148" algn="l"/>
                <a:tab pos="2225787" algn="l"/>
              </a:tabLst>
            </a:pPr>
            <a:r>
              <a:rPr lang="en-US" sz="1333">
                <a:solidFill>
                  <a:srgbClr val="0000FF"/>
                </a:solidFill>
              </a:rPr>
              <a:t>		busy = FALSE; </a:t>
            </a:r>
          </a:p>
          <a:p>
            <a:pPr>
              <a:spcBef>
                <a:spcPct val="15000"/>
              </a:spcBef>
              <a:buNone/>
              <a:tabLst>
                <a:tab pos="1304991" algn="l"/>
                <a:tab pos="1634148" algn="l"/>
                <a:tab pos="2225787" algn="l"/>
              </a:tabLst>
            </a:pPr>
            <a:r>
              <a:rPr lang="en-US" sz="1333">
                <a:solidFill>
                  <a:srgbClr val="0000FF"/>
                </a:solidFill>
              </a:rPr>
              <a:t>		x.signal(); </a:t>
            </a:r>
          </a:p>
          <a:p>
            <a:pPr>
              <a:spcBef>
                <a:spcPct val="15000"/>
              </a:spcBef>
              <a:buNone/>
              <a:tabLst>
                <a:tab pos="1304991" algn="l"/>
                <a:tab pos="1634148" algn="l"/>
                <a:tab pos="2225787" algn="l"/>
              </a:tabLst>
            </a:pPr>
            <a:r>
              <a:rPr lang="en-US" sz="1333">
                <a:solidFill>
                  <a:srgbClr val="0000FF"/>
                </a:solidFill>
              </a:rPr>
              <a:t>	} </a:t>
            </a:r>
          </a:p>
          <a:p>
            <a:pPr>
              <a:spcBef>
                <a:spcPct val="15000"/>
              </a:spcBef>
              <a:buNone/>
              <a:tabLst>
                <a:tab pos="1304991" algn="l"/>
                <a:tab pos="1634148" algn="l"/>
                <a:tab pos="2225787" algn="l"/>
              </a:tabLst>
            </a:pPr>
            <a:r>
              <a:rPr lang="en-US" sz="1333">
                <a:solidFill>
                  <a:srgbClr val="0000FF"/>
                </a:solidFill>
              </a:rPr>
              <a:t>initialization code() {</a:t>
            </a:r>
          </a:p>
          <a:p>
            <a:pPr>
              <a:spcBef>
                <a:spcPct val="15000"/>
              </a:spcBef>
              <a:buNone/>
              <a:tabLst>
                <a:tab pos="1304991" algn="l"/>
                <a:tab pos="1634148" algn="l"/>
                <a:tab pos="2225787" algn="l"/>
              </a:tabLst>
            </a:pPr>
            <a:r>
              <a:rPr lang="en-US" sz="1333">
                <a:solidFill>
                  <a:srgbClr val="0000FF"/>
                </a:solidFill>
              </a:rPr>
              <a:t>	 busy = FALSE; </a:t>
            </a:r>
          </a:p>
          <a:p>
            <a:pPr>
              <a:spcBef>
                <a:spcPct val="15000"/>
              </a:spcBef>
              <a:buNone/>
              <a:tabLst>
                <a:tab pos="1304991" algn="l"/>
                <a:tab pos="1634148" algn="l"/>
                <a:tab pos="2225787" algn="l"/>
              </a:tabLst>
            </a:pPr>
            <a:r>
              <a:rPr lang="en-US" sz="1333">
                <a:solidFill>
                  <a:srgbClr val="0000FF"/>
                </a:solidFill>
              </a:rPr>
              <a:t>	}</a:t>
            </a:r>
          </a:p>
          <a:p>
            <a:pPr>
              <a:spcBef>
                <a:spcPct val="15000"/>
              </a:spcBef>
              <a:buNone/>
              <a:tabLst>
                <a:tab pos="1304991" algn="l"/>
                <a:tab pos="1634148" algn="l"/>
                <a:tab pos="2225787" algn="l"/>
              </a:tabLst>
            </a:pPr>
            <a:r>
              <a:rPr lang="en-US" sz="1333">
                <a:solidFill>
                  <a:srgbClr val="0000FF"/>
                </a:solidFill>
              </a:rPr>
              <a:t>}</a:t>
            </a:r>
            <a:r>
              <a:rPr lang="en-US" sz="1333" b="1"/>
              <a:t>		</a:t>
            </a:r>
            <a:r>
              <a:rPr lang="en-US" sz="1333"/>
              <a:t>	</a:t>
            </a:r>
          </a:p>
        </p:txBody>
      </p:sp>
    </p:spTree>
    <p:extLst>
      <p:ext uri="{BB962C8B-B14F-4D97-AF65-F5344CB8AC3E}">
        <p14:creationId xmlns:p14="http://schemas.microsoft.com/office/powerpoint/2010/main" val="41085517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157817" y="627592"/>
            <a:ext cx="7528983" cy="512233"/>
          </a:xfrm>
        </p:spPr>
        <p:txBody>
          <a:bodyPr>
            <a:normAutofit/>
          </a:bodyPr>
          <a:lstStyle/>
          <a:p>
            <a:pPr eaLnBrk="1" hangingPunct="1"/>
            <a:r>
              <a:rPr lang="en-US" smtClean="0"/>
              <a:t>Synchronization Examples</a:t>
            </a:r>
          </a:p>
        </p:txBody>
      </p:sp>
      <p:sp>
        <p:nvSpPr>
          <p:cNvPr id="53251" name="Rectangle 3"/>
          <p:cNvSpPr>
            <a:spLocks noGrp="1" noChangeArrowheads="1"/>
          </p:cNvSpPr>
          <p:nvPr>
            <p:ph idx="1"/>
          </p:nvPr>
        </p:nvSpPr>
        <p:spPr/>
        <p:txBody>
          <a:bodyPr/>
          <a:lstStyle/>
          <a:p>
            <a:r>
              <a:rPr lang="en-US" smtClean="0"/>
              <a:t>Solaris</a:t>
            </a:r>
          </a:p>
          <a:p>
            <a:endParaRPr lang="en-US" smtClean="0"/>
          </a:p>
          <a:p>
            <a:r>
              <a:rPr lang="en-US" smtClean="0"/>
              <a:t>Windows XP</a:t>
            </a:r>
          </a:p>
          <a:p>
            <a:endParaRPr lang="en-US" smtClean="0"/>
          </a:p>
          <a:p>
            <a:r>
              <a:rPr lang="en-US" smtClean="0"/>
              <a:t>Linux</a:t>
            </a:r>
          </a:p>
          <a:p>
            <a:endParaRPr lang="en-US" smtClean="0"/>
          </a:p>
          <a:p>
            <a:r>
              <a:rPr lang="en-US" smtClean="0"/>
              <a:t>Pthreads</a:t>
            </a:r>
          </a:p>
        </p:txBody>
      </p:sp>
    </p:spTree>
    <p:extLst>
      <p:ext uri="{BB962C8B-B14F-4D97-AF65-F5344CB8AC3E}">
        <p14:creationId xmlns:p14="http://schemas.microsoft.com/office/powerpoint/2010/main" val="287196074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111250" y="627592"/>
            <a:ext cx="7575550" cy="512233"/>
          </a:xfrm>
        </p:spPr>
        <p:txBody>
          <a:bodyPr>
            <a:normAutofit/>
          </a:bodyPr>
          <a:lstStyle/>
          <a:p>
            <a:pPr eaLnBrk="1" hangingPunct="1"/>
            <a:r>
              <a:rPr lang="en-US" smtClean="0"/>
              <a:t>Solaris Synchronization</a:t>
            </a:r>
          </a:p>
        </p:txBody>
      </p:sp>
      <p:sp>
        <p:nvSpPr>
          <p:cNvPr id="54275" name="Rectangle 3"/>
          <p:cNvSpPr>
            <a:spLocks noGrp="1" noChangeArrowheads="1"/>
          </p:cNvSpPr>
          <p:nvPr>
            <p:ph idx="1"/>
          </p:nvPr>
        </p:nvSpPr>
        <p:spPr>
          <a:xfrm>
            <a:off x="806450" y="1477433"/>
            <a:ext cx="7679267" cy="4026959"/>
          </a:xfrm>
        </p:spPr>
        <p:txBody>
          <a:bodyPr>
            <a:normAutofit fontScale="77500" lnSpcReduction="20000"/>
          </a:bodyPr>
          <a:lstStyle/>
          <a:p>
            <a:r>
              <a:rPr lang="en-US" smtClean="0"/>
              <a:t>Implements a variety of locks to support multitasking, multithreading (including real-time threads), and multiprocessing</a:t>
            </a:r>
          </a:p>
          <a:p>
            <a:endParaRPr lang="en-US" smtClean="0"/>
          </a:p>
          <a:p>
            <a:r>
              <a:rPr lang="en-US" smtClean="0"/>
              <a:t>Uses </a:t>
            </a:r>
            <a:r>
              <a:rPr lang="en-US" b="1" smtClean="0">
                <a:solidFill>
                  <a:srgbClr val="3366FF"/>
                </a:solidFill>
              </a:rPr>
              <a:t>adaptive mutexes</a:t>
            </a:r>
            <a:r>
              <a:rPr lang="en-US" smtClean="0">
                <a:solidFill>
                  <a:srgbClr val="3366FF"/>
                </a:solidFill>
              </a:rPr>
              <a:t> </a:t>
            </a:r>
            <a:r>
              <a:rPr lang="en-US" smtClean="0"/>
              <a:t>for efficiency when protecting data from short code segments</a:t>
            </a:r>
          </a:p>
          <a:p>
            <a:pPr lvl="1"/>
            <a:r>
              <a:rPr lang="en-US" smtClean="0"/>
              <a:t>Starts as a standard semaphore spin-lock</a:t>
            </a:r>
          </a:p>
          <a:p>
            <a:pPr lvl="1"/>
            <a:r>
              <a:rPr lang="en-US" smtClean="0"/>
              <a:t>If lock held, and by a thread running on another CPU, spins</a:t>
            </a:r>
          </a:p>
          <a:p>
            <a:pPr lvl="1"/>
            <a:r>
              <a:rPr lang="en-US" smtClean="0"/>
              <a:t>If lock held by non-run-state thread, block and sleep waiting for signal of lock being released</a:t>
            </a:r>
          </a:p>
          <a:p>
            <a:endParaRPr lang="en-US" smtClean="0"/>
          </a:p>
          <a:p>
            <a:r>
              <a:rPr lang="en-US" smtClean="0"/>
              <a:t>Uses </a:t>
            </a:r>
            <a:r>
              <a:rPr lang="en-US" b="1" smtClean="0">
                <a:solidFill>
                  <a:srgbClr val="3366FF"/>
                </a:solidFill>
              </a:rPr>
              <a:t>condition variables</a:t>
            </a:r>
            <a:r>
              <a:rPr lang="en-US" smtClean="0">
                <a:solidFill>
                  <a:srgbClr val="3366FF"/>
                </a:solidFill>
              </a:rPr>
              <a:t> </a:t>
            </a:r>
          </a:p>
          <a:p>
            <a:pPr>
              <a:buFont typeface="Monotype Sorts" charset="2"/>
              <a:buNone/>
            </a:pPr>
            <a:endParaRPr lang="en-US" smtClean="0"/>
          </a:p>
          <a:p>
            <a:r>
              <a:rPr lang="en-US" smtClean="0"/>
              <a:t>Uses </a:t>
            </a:r>
            <a:r>
              <a:rPr lang="en-US" b="1" smtClean="0">
                <a:solidFill>
                  <a:srgbClr val="3366FF"/>
                </a:solidFill>
              </a:rPr>
              <a:t>readers-writers</a:t>
            </a:r>
            <a:r>
              <a:rPr lang="en-US" smtClean="0">
                <a:solidFill>
                  <a:srgbClr val="3366FF"/>
                </a:solidFill>
              </a:rPr>
              <a:t> </a:t>
            </a:r>
            <a:r>
              <a:rPr lang="en-US" smtClean="0"/>
              <a:t>locks when longer sections of code need access to data</a:t>
            </a:r>
          </a:p>
          <a:p>
            <a:endParaRPr lang="en-US" smtClean="0"/>
          </a:p>
          <a:p>
            <a:r>
              <a:rPr lang="en-US" smtClean="0"/>
              <a:t>Uses </a:t>
            </a:r>
            <a:r>
              <a:rPr lang="en-US" b="1" smtClean="0">
                <a:solidFill>
                  <a:srgbClr val="3366FF"/>
                </a:solidFill>
              </a:rPr>
              <a:t>turnstiles</a:t>
            </a:r>
            <a:r>
              <a:rPr lang="en-US" smtClean="0"/>
              <a:t> to order the list of threads waiting to acquire either an adaptive mutex or reader-writer lock</a:t>
            </a:r>
          </a:p>
          <a:p>
            <a:pPr lvl="1"/>
            <a:r>
              <a:rPr lang="en-US" smtClean="0"/>
              <a:t>Turnstiles are per-lock-holding-thread, not per-object</a:t>
            </a:r>
          </a:p>
          <a:p>
            <a:pPr lvl="1"/>
            <a:endParaRPr lang="en-US" smtClean="0"/>
          </a:p>
          <a:p>
            <a:r>
              <a:rPr lang="en-US" smtClean="0"/>
              <a:t>Priority-inheritance per-turnstile gives the running thread the highest of the priorities of the threads in its turnstile</a:t>
            </a:r>
          </a:p>
        </p:txBody>
      </p:sp>
    </p:spTree>
    <p:extLst>
      <p:ext uri="{BB962C8B-B14F-4D97-AF65-F5344CB8AC3E}">
        <p14:creationId xmlns:p14="http://schemas.microsoft.com/office/powerpoint/2010/main" val="217932876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82676" y="627592"/>
            <a:ext cx="7604125" cy="512233"/>
          </a:xfrm>
        </p:spPr>
        <p:txBody>
          <a:bodyPr>
            <a:normAutofit/>
          </a:bodyPr>
          <a:lstStyle/>
          <a:p>
            <a:pPr eaLnBrk="1" hangingPunct="1"/>
            <a:r>
              <a:rPr lang="en-US" smtClean="0"/>
              <a:t>Windows XP Synchronization</a:t>
            </a:r>
          </a:p>
        </p:txBody>
      </p:sp>
      <p:sp>
        <p:nvSpPr>
          <p:cNvPr id="55299" name="Rectangle 3"/>
          <p:cNvSpPr>
            <a:spLocks noGrp="1" noChangeArrowheads="1"/>
          </p:cNvSpPr>
          <p:nvPr>
            <p:ph idx="1"/>
          </p:nvPr>
        </p:nvSpPr>
        <p:spPr>
          <a:xfrm>
            <a:off x="806450" y="1477433"/>
            <a:ext cx="7613650" cy="4026959"/>
          </a:xfrm>
        </p:spPr>
        <p:txBody>
          <a:bodyPr>
            <a:normAutofit lnSpcReduction="10000"/>
          </a:bodyPr>
          <a:lstStyle/>
          <a:p>
            <a:r>
              <a:rPr lang="en-US" smtClean="0"/>
              <a:t>Uses interrupt masks to protect access to global resources on uniprocessor systems</a:t>
            </a:r>
          </a:p>
          <a:p>
            <a:endParaRPr lang="en-US" smtClean="0"/>
          </a:p>
          <a:p>
            <a:r>
              <a:rPr lang="en-US" smtClean="0"/>
              <a:t>Uses </a:t>
            </a:r>
            <a:r>
              <a:rPr lang="en-US" b="1" smtClean="0">
                <a:solidFill>
                  <a:srgbClr val="3366FF"/>
                </a:solidFill>
              </a:rPr>
              <a:t>spinlocks </a:t>
            </a:r>
            <a:r>
              <a:rPr lang="en-US" smtClean="0"/>
              <a:t>on multiprocessor systems</a:t>
            </a:r>
          </a:p>
          <a:p>
            <a:pPr lvl="1"/>
            <a:r>
              <a:rPr lang="en-US" smtClean="0"/>
              <a:t>Spinlocking-thread will never be preempted</a:t>
            </a:r>
          </a:p>
          <a:p>
            <a:endParaRPr lang="en-US" smtClean="0"/>
          </a:p>
          <a:p>
            <a:r>
              <a:rPr lang="en-US" smtClean="0"/>
              <a:t>Also provides </a:t>
            </a:r>
            <a:r>
              <a:rPr lang="en-US" b="1" smtClean="0">
                <a:solidFill>
                  <a:srgbClr val="3366FF"/>
                </a:solidFill>
              </a:rPr>
              <a:t>dispatcher objects </a:t>
            </a:r>
            <a:r>
              <a:rPr lang="en-US" smtClean="0">
                <a:solidFill>
                  <a:srgbClr val="000000"/>
                </a:solidFill>
              </a:rPr>
              <a:t>user-land </a:t>
            </a:r>
            <a:r>
              <a:rPr lang="en-US" smtClean="0"/>
              <a:t>which may act mutexes, semaphores, events, and timers</a:t>
            </a:r>
          </a:p>
          <a:p>
            <a:endParaRPr lang="en-US" smtClean="0"/>
          </a:p>
          <a:p>
            <a:pPr lvl="1"/>
            <a:r>
              <a:rPr lang="en-US" b="1" smtClean="0">
                <a:solidFill>
                  <a:srgbClr val="3366FF"/>
                </a:solidFill>
              </a:rPr>
              <a:t>Events</a:t>
            </a:r>
          </a:p>
          <a:p>
            <a:pPr lvl="2"/>
            <a:r>
              <a:rPr lang="en-US" smtClean="0"/>
              <a:t>An event acts much like a condition variable</a:t>
            </a:r>
          </a:p>
          <a:p>
            <a:pPr lvl="1"/>
            <a:r>
              <a:rPr lang="en-US" smtClean="0"/>
              <a:t>Timers notify one or more thread when time expired</a:t>
            </a:r>
          </a:p>
          <a:p>
            <a:pPr lvl="1"/>
            <a:r>
              <a:rPr lang="en-US" smtClean="0"/>
              <a:t>Dispatcher objects either </a:t>
            </a:r>
            <a:r>
              <a:rPr lang="en-US" b="1" smtClean="0">
                <a:solidFill>
                  <a:srgbClr val="3366FF"/>
                </a:solidFill>
              </a:rPr>
              <a:t>signaled-state </a:t>
            </a:r>
            <a:r>
              <a:rPr lang="en-US" smtClean="0"/>
              <a:t>(object available) or </a:t>
            </a:r>
            <a:r>
              <a:rPr lang="en-US" b="1" smtClean="0">
                <a:solidFill>
                  <a:srgbClr val="3366FF"/>
                </a:solidFill>
              </a:rPr>
              <a:t>non-signaled state </a:t>
            </a:r>
            <a:r>
              <a:rPr lang="en-US" smtClean="0"/>
              <a:t>(thread will block)</a:t>
            </a:r>
          </a:p>
        </p:txBody>
      </p:sp>
    </p:spTree>
    <p:extLst>
      <p:ext uri="{BB962C8B-B14F-4D97-AF65-F5344CB8AC3E}">
        <p14:creationId xmlns:p14="http://schemas.microsoft.com/office/powerpoint/2010/main" val="319724833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99067" y="627592"/>
            <a:ext cx="7687733" cy="512233"/>
          </a:xfrm>
        </p:spPr>
        <p:txBody>
          <a:bodyPr>
            <a:normAutofit/>
          </a:bodyPr>
          <a:lstStyle/>
          <a:p>
            <a:pPr eaLnBrk="1" hangingPunct="1"/>
            <a:r>
              <a:rPr lang="en-US" smtClean="0"/>
              <a:t>Linux Synchronization</a:t>
            </a:r>
          </a:p>
        </p:txBody>
      </p:sp>
      <p:sp>
        <p:nvSpPr>
          <p:cNvPr id="56323" name="Rectangle 3"/>
          <p:cNvSpPr>
            <a:spLocks noGrp="1" noChangeArrowheads="1"/>
          </p:cNvSpPr>
          <p:nvPr>
            <p:ph idx="1"/>
          </p:nvPr>
        </p:nvSpPr>
        <p:spPr>
          <a:xfrm>
            <a:off x="806450" y="1477433"/>
            <a:ext cx="7679267" cy="4026959"/>
          </a:xfrm>
        </p:spPr>
        <p:txBody>
          <a:bodyPr/>
          <a:lstStyle/>
          <a:p>
            <a:r>
              <a:rPr lang="en-US" smtClean="0"/>
              <a:t>Linux:</a:t>
            </a:r>
          </a:p>
          <a:p>
            <a:pPr lvl="1"/>
            <a:r>
              <a:rPr lang="en-US" smtClean="0"/>
              <a:t>Prior to kernel Version 2.6, disables interrupts to implement short critical sections</a:t>
            </a:r>
          </a:p>
          <a:p>
            <a:pPr lvl="1"/>
            <a:r>
              <a:rPr lang="en-US" smtClean="0"/>
              <a:t>Version 2.6 and later, fully preemptive</a:t>
            </a:r>
          </a:p>
          <a:p>
            <a:endParaRPr lang="en-US" smtClean="0"/>
          </a:p>
          <a:p>
            <a:r>
              <a:rPr lang="en-US" smtClean="0"/>
              <a:t>Linux provides:</a:t>
            </a:r>
          </a:p>
          <a:p>
            <a:pPr lvl="1"/>
            <a:r>
              <a:rPr lang="en-US" smtClean="0"/>
              <a:t>semaphores</a:t>
            </a:r>
          </a:p>
          <a:p>
            <a:pPr lvl="1"/>
            <a:r>
              <a:rPr lang="en-US" smtClean="0"/>
              <a:t>spinlocks</a:t>
            </a:r>
          </a:p>
          <a:p>
            <a:pPr lvl="1"/>
            <a:r>
              <a:rPr lang="en-US" smtClean="0"/>
              <a:t>reader-writer versions of both</a:t>
            </a:r>
          </a:p>
          <a:p>
            <a:pPr lvl="1"/>
            <a:endParaRPr lang="en-US" smtClean="0"/>
          </a:p>
          <a:p>
            <a:r>
              <a:rPr lang="en-US" smtClean="0"/>
              <a:t>On single-cpu system, spinlocks replaced by enabling and disabling kernel preemption</a:t>
            </a:r>
          </a:p>
        </p:txBody>
      </p:sp>
    </p:spTree>
    <p:extLst>
      <p:ext uri="{BB962C8B-B14F-4D97-AF65-F5344CB8AC3E}">
        <p14:creationId xmlns:p14="http://schemas.microsoft.com/office/powerpoint/2010/main" val="417385380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203325" y="627592"/>
            <a:ext cx="7483475" cy="512233"/>
          </a:xfrm>
        </p:spPr>
        <p:txBody>
          <a:bodyPr>
            <a:normAutofit/>
          </a:bodyPr>
          <a:lstStyle/>
          <a:p>
            <a:pPr eaLnBrk="1" hangingPunct="1"/>
            <a:r>
              <a:rPr lang="en-US" smtClean="0"/>
              <a:t>Pthreads Synchronization</a:t>
            </a:r>
          </a:p>
        </p:txBody>
      </p:sp>
      <p:sp>
        <p:nvSpPr>
          <p:cNvPr id="57347" name="Rectangle 3"/>
          <p:cNvSpPr>
            <a:spLocks noGrp="1" noChangeArrowheads="1"/>
          </p:cNvSpPr>
          <p:nvPr>
            <p:ph type="body" sz="half" idx="1"/>
          </p:nvPr>
        </p:nvSpPr>
        <p:spPr>
          <a:xfrm>
            <a:off x="1050925" y="1649943"/>
            <a:ext cx="7429500" cy="4099983"/>
          </a:xfrm>
        </p:spPr>
        <p:txBody>
          <a:bodyPr/>
          <a:lstStyle/>
          <a:p>
            <a:r>
              <a:rPr lang="en-US" smtClean="0"/>
              <a:t>Pthreads API is OS-independent</a:t>
            </a:r>
          </a:p>
          <a:p>
            <a:endParaRPr lang="en-US" smtClean="0"/>
          </a:p>
          <a:p>
            <a:r>
              <a:rPr lang="en-US" smtClean="0"/>
              <a:t>It provides:</a:t>
            </a:r>
          </a:p>
          <a:p>
            <a:pPr lvl="1"/>
            <a:r>
              <a:rPr lang="en-US" smtClean="0"/>
              <a:t>mutex locks</a:t>
            </a:r>
          </a:p>
          <a:p>
            <a:pPr lvl="1"/>
            <a:r>
              <a:rPr lang="en-US" smtClean="0"/>
              <a:t>condition variables</a:t>
            </a:r>
            <a:br>
              <a:rPr lang="en-US" smtClean="0"/>
            </a:br>
            <a:endParaRPr lang="en-US" smtClean="0"/>
          </a:p>
          <a:p>
            <a:r>
              <a:rPr lang="en-US" smtClean="0"/>
              <a:t>Non-portable extensions include:</a:t>
            </a:r>
          </a:p>
          <a:p>
            <a:pPr lvl="1"/>
            <a:r>
              <a:rPr lang="en-US" smtClean="0"/>
              <a:t>read-write locks</a:t>
            </a:r>
          </a:p>
          <a:p>
            <a:pPr lvl="1"/>
            <a:r>
              <a:rPr lang="en-US" smtClean="0"/>
              <a:t>spinlocks</a:t>
            </a:r>
          </a:p>
        </p:txBody>
      </p:sp>
    </p:spTree>
    <p:extLst>
      <p:ext uri="{BB962C8B-B14F-4D97-AF65-F5344CB8AC3E}">
        <p14:creationId xmlns:p14="http://schemas.microsoft.com/office/powerpoint/2010/main" val="292432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7148</TotalTime>
  <Words>3465</Words>
  <Application>Microsoft Office PowerPoint</Application>
  <PresentationFormat>On-screen Show (4:3)</PresentationFormat>
  <Paragraphs>851</Paragraphs>
  <Slides>75</Slides>
  <Notes>58</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75</vt:i4>
      </vt:variant>
    </vt:vector>
  </HeadingPairs>
  <TitlesOfParts>
    <vt:vector size="92" baseType="lpstr">
      <vt:lpstr>ＭＳ Ｐゴシック</vt:lpstr>
      <vt:lpstr>Arial</vt:lpstr>
      <vt:lpstr>Calibri</vt:lpstr>
      <vt:lpstr>Century Schoolbook</vt:lpstr>
      <vt:lpstr>Comic Sans MS</vt:lpstr>
      <vt:lpstr>Courier</vt:lpstr>
      <vt:lpstr>Helvetica</vt:lpstr>
      <vt:lpstr>Monaco</vt:lpstr>
      <vt:lpstr>Monotype Sorts</vt:lpstr>
      <vt:lpstr>MT Extra</vt:lpstr>
      <vt:lpstr>Symbol</vt:lpstr>
      <vt:lpstr>Times New Roman</vt:lpstr>
      <vt:lpstr>Verdana</vt:lpstr>
      <vt:lpstr>Webdings</vt:lpstr>
      <vt:lpstr>Wingdings</vt:lpstr>
      <vt:lpstr>Wingdings 2</vt:lpstr>
      <vt:lpstr>Oriel</vt:lpstr>
      <vt:lpstr>PowerPoint Presentation</vt:lpstr>
      <vt:lpstr>Module 3: Process Synchronization</vt:lpstr>
      <vt:lpstr>Objectives</vt:lpstr>
      <vt:lpstr>Interprocess Communication</vt:lpstr>
      <vt:lpstr>Communications Models </vt:lpstr>
      <vt:lpstr>Cooperating Processes</vt:lpstr>
      <vt:lpstr>Producer-Consumer Problem</vt:lpstr>
      <vt:lpstr>Bounded-Buffer –  Shared-Memory Solution</vt:lpstr>
      <vt:lpstr>Bounded-Buffer – Producer</vt:lpstr>
      <vt:lpstr>Bounded Buffer – Consumer</vt:lpstr>
      <vt:lpstr>Interprocess Communication –  Message Passing</vt:lpstr>
      <vt:lpstr>Synchronization</vt:lpstr>
      <vt:lpstr>Buffering</vt:lpstr>
      <vt:lpstr>Concurrent Execution</vt:lpstr>
      <vt:lpstr>PowerPoint Presentation</vt:lpstr>
      <vt:lpstr>Producer Consumer Problem</vt:lpstr>
      <vt:lpstr>Producer </vt:lpstr>
      <vt:lpstr>Consumer</vt:lpstr>
      <vt:lpstr>Race Condition</vt:lpstr>
      <vt:lpstr>PowerPoint Presentation</vt:lpstr>
      <vt:lpstr>Critical Section Problem</vt:lpstr>
      <vt:lpstr>Critical Section</vt:lpstr>
      <vt:lpstr>Solution to Critical-Section Problem</vt:lpstr>
      <vt:lpstr>Peterson’s solutions: Algorithm 1</vt:lpstr>
      <vt:lpstr>Algorithm 1 (cont.)</vt:lpstr>
      <vt:lpstr>Algorithm 2</vt:lpstr>
      <vt:lpstr>PowerPoint Presentation</vt:lpstr>
      <vt:lpstr>Algorithm 3 (Peterson’s algorithm)</vt:lpstr>
      <vt:lpstr>PowerPoint Presentation</vt:lpstr>
      <vt:lpstr>Synchronization Hardware</vt:lpstr>
      <vt:lpstr>Hardware solutions: interrupt disabling/enabling</vt:lpstr>
      <vt:lpstr>Solution to Critical-section  Problem Using Locks</vt:lpstr>
      <vt:lpstr>TestAndSet Instruction </vt:lpstr>
      <vt:lpstr>Solution using TestAndSet</vt:lpstr>
      <vt:lpstr>Swap Instruction</vt:lpstr>
      <vt:lpstr>Solution using Swap</vt:lpstr>
      <vt:lpstr>Bounded-waiting Mutual Exclusion  with TestandSet()</vt:lpstr>
      <vt:lpstr>Semaphore</vt:lpstr>
      <vt:lpstr>PowerPoint Presentation</vt:lpstr>
      <vt:lpstr>Semaphore as  General Synchronization Tool</vt:lpstr>
      <vt:lpstr>Semaphore Implementation</vt:lpstr>
      <vt:lpstr>Semaphore Implementation  with no Busy waiting </vt:lpstr>
      <vt:lpstr>Semaphore Implementation with  no Busy waiting (Cont.)</vt:lpstr>
      <vt:lpstr>Deadlock and Starvation</vt:lpstr>
      <vt:lpstr>Classical Problems of Synchronization</vt:lpstr>
      <vt:lpstr>Bounded-Buffer Problem</vt:lpstr>
      <vt:lpstr>Bounded Buffer Problem (Cont.)</vt:lpstr>
      <vt:lpstr>Bounded Buffer Problem (Cont.)</vt:lpstr>
      <vt:lpstr>Readers/Writers Problem</vt:lpstr>
      <vt:lpstr>Readers/Writers Problem</vt:lpstr>
      <vt:lpstr>Readers/Writers Problem</vt:lpstr>
      <vt:lpstr>Readers-Writers Problem (Cont.)</vt:lpstr>
      <vt:lpstr>Readers-Writers Problem (Cont.)</vt:lpstr>
      <vt:lpstr>Dining-Philosophers Problem</vt:lpstr>
      <vt:lpstr>  Dining-Philosophers Problem Algorithm</vt:lpstr>
      <vt:lpstr>Problems with Semaphores</vt:lpstr>
      <vt:lpstr>Monitors</vt:lpstr>
      <vt:lpstr>PowerPoint Presentation</vt:lpstr>
      <vt:lpstr>Schematic view of a Monitor</vt:lpstr>
      <vt:lpstr>Condition Variables</vt:lpstr>
      <vt:lpstr> Monitor with Condition Variables</vt:lpstr>
      <vt:lpstr>Condition Variables Choices</vt:lpstr>
      <vt:lpstr>Solution to Dining Philosophers</vt:lpstr>
      <vt:lpstr>Solution to Dining Philosophers (Cont.)</vt:lpstr>
      <vt:lpstr>PowerPoint Presentation</vt:lpstr>
      <vt:lpstr>Monitor Implementation Using Semaphores</vt:lpstr>
      <vt:lpstr>Monitor Implementation – Condition Variables</vt:lpstr>
      <vt:lpstr>Monitor Implementation (Cont.)</vt:lpstr>
      <vt:lpstr>Resuming Processes within a Monitor</vt:lpstr>
      <vt:lpstr>A Monitor to Allocate Single Resource</vt:lpstr>
      <vt:lpstr>Synchronization Examples</vt:lpstr>
      <vt:lpstr>Solaris Synchronization</vt:lpstr>
      <vt:lpstr>Windows XP Synchronization</vt:lpstr>
      <vt:lpstr>Linux Synchronization</vt:lpstr>
      <vt:lpstr>Pthreads Synchronization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FUNDAMENTALS (LEC 1)  -introduction  -course objectives  -expected course outcome  -syllabus</dc:title>
  <dc:creator>amuth</dc:creator>
  <cp:lastModifiedBy>dell</cp:lastModifiedBy>
  <cp:revision>273</cp:revision>
  <dcterms:created xsi:type="dcterms:W3CDTF">2006-08-16T00:00:00Z</dcterms:created>
  <dcterms:modified xsi:type="dcterms:W3CDTF">2025-12-10T08:45:28Z</dcterms:modified>
</cp:coreProperties>
</file>